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77" r:id="rId2"/>
    <p:sldId id="257" r:id="rId3"/>
    <p:sldId id="258" r:id="rId4"/>
    <p:sldId id="259" r:id="rId5"/>
    <p:sldId id="283" r:id="rId6"/>
    <p:sldId id="284" r:id="rId7"/>
    <p:sldId id="285" r:id="rId8"/>
    <p:sldId id="278" r:id="rId9"/>
    <p:sldId id="280" r:id="rId10"/>
    <p:sldId id="286" r:id="rId11"/>
    <p:sldId id="287" r:id="rId12"/>
    <p:sldId id="288" r:id="rId13"/>
    <p:sldId id="290" r:id="rId14"/>
    <p:sldId id="260" r:id="rId15"/>
    <p:sldId id="289" r:id="rId16"/>
    <p:sldId id="291" r:id="rId17"/>
    <p:sldId id="292" r:id="rId18"/>
    <p:sldId id="261" r:id="rId19"/>
    <p:sldId id="293" r:id="rId20"/>
    <p:sldId id="294" r:id="rId21"/>
    <p:sldId id="295" r:id="rId22"/>
    <p:sldId id="296" r:id="rId23"/>
    <p:sldId id="297" r:id="rId24"/>
    <p:sldId id="298" r:id="rId25"/>
    <p:sldId id="299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7"/>
    <p:restoredTop sz="94595"/>
  </p:normalViewPr>
  <p:slideViewPr>
    <p:cSldViewPr>
      <p:cViewPr varScale="1">
        <p:scale>
          <a:sx n="72" d="100"/>
          <a:sy n="72" d="100"/>
        </p:scale>
        <p:origin x="111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83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1BAC27-EEC3-404A-A70A-A8A0CC746335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E7412-0485-4A7A-A0BB-62B4BFEB83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48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BEF531-C897-436A-B537-9C644E63C2FD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504113-8563-4A01-BD5D-A3D6556A6E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9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9B22457-58A4-4EC0-9EAA-3B675A53E045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1740872-7F27-4C17-862D-222D348A150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077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600200"/>
            <a:ext cx="8077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533400" y="6248400"/>
            <a:ext cx="80772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533400" y="6248400"/>
            <a:ext cx="6858000" cy="335476"/>
          </a:xfrm>
          <a:prstGeom prst="rect">
            <a:avLst/>
          </a:prstGeom>
          <a:noFill/>
        </p:spPr>
        <p:txBody>
          <a:bodyPr wrap="square" lIns="0" tIns="73152" rIns="9144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/>
              <a:t>Lecture 11: </a:t>
            </a:r>
            <a:r>
              <a:rPr lang="en-US" sz="1400" baseline="0" dirty="0">
                <a:solidFill>
                  <a:schemeClr val="tx1"/>
                </a:solidFill>
              </a:rPr>
              <a:t>Phase space file analysis with </a:t>
            </a:r>
            <a:r>
              <a:rPr lang="en-US" sz="1400" baseline="0" dirty="0" err="1">
                <a:solidFill>
                  <a:schemeClr val="tx1"/>
                </a:solidFill>
              </a:rPr>
              <a:t>beamdp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7772400" y="6248400"/>
            <a:ext cx="838200" cy="335476"/>
          </a:xfrm>
          <a:prstGeom prst="rect">
            <a:avLst/>
          </a:prstGeom>
          <a:noFill/>
        </p:spPr>
        <p:txBody>
          <a:bodyPr wrap="square" lIns="0" tIns="73152" rIns="0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2AF190-42A4-4592-A5BF-521A194C472B}" type="slidenum">
              <a:rPr lang="en-US" sz="1400" smtClean="0"/>
              <a:t>‹#›</a:t>
            </a:fld>
            <a:r>
              <a:rPr lang="en-US" sz="1400" dirty="0"/>
              <a:t> / 25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ctr" defTabSz="914400" rtl="0" eaLnBrk="1" latinLnBrk="0" hangingPunct="1">
        <a:spcBef>
          <a:spcPct val="0"/>
        </a:spcBef>
        <a:buNone/>
        <a:defRPr lang="en-US" sz="2800" b="1" kern="120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41232D-4ACF-4088-B31B-5888A8D9B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50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70C0"/>
                </a:solidFill>
              </a:rPr>
              <a:t>beamdp</a:t>
            </a:r>
            <a:r>
              <a:rPr lang="en-US" dirty="0"/>
              <a:t> analyzes data stored in (2D) phase space 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657600"/>
            <a:ext cx="7432431" cy="762000"/>
          </a:xfrm>
          <a:custGeom>
            <a:avLst/>
            <a:gdLst>
              <a:gd name="connsiteX0" fmla="*/ 0 w 6400800"/>
              <a:gd name="connsiteY0" fmla="*/ 0 h 762000"/>
              <a:gd name="connsiteX1" fmla="*/ 6400800 w 6400800"/>
              <a:gd name="connsiteY1" fmla="*/ 0 h 762000"/>
              <a:gd name="connsiteX2" fmla="*/ 6400800 w 6400800"/>
              <a:gd name="connsiteY2" fmla="*/ 762000 h 762000"/>
              <a:gd name="connsiteX3" fmla="*/ 0 w 6400800"/>
              <a:gd name="connsiteY3" fmla="*/ 762000 h 762000"/>
              <a:gd name="connsiteX4" fmla="*/ 0 w 6400800"/>
              <a:gd name="connsiteY4" fmla="*/ 0 h 762000"/>
              <a:gd name="connsiteX0" fmla="*/ 1219200 w 6400800"/>
              <a:gd name="connsiteY0" fmla="*/ 0 h 762000"/>
              <a:gd name="connsiteX1" fmla="*/ 6400800 w 6400800"/>
              <a:gd name="connsiteY1" fmla="*/ 0 h 762000"/>
              <a:gd name="connsiteX2" fmla="*/ 6400800 w 6400800"/>
              <a:gd name="connsiteY2" fmla="*/ 762000 h 762000"/>
              <a:gd name="connsiteX3" fmla="*/ 0 w 6400800"/>
              <a:gd name="connsiteY3" fmla="*/ 762000 h 762000"/>
              <a:gd name="connsiteX4" fmla="*/ 1219200 w 6400800"/>
              <a:gd name="connsiteY4" fmla="*/ 0 h 762000"/>
              <a:gd name="connsiteX0" fmla="*/ 1219200 w 7432431"/>
              <a:gd name="connsiteY0" fmla="*/ 0 h 762000"/>
              <a:gd name="connsiteX1" fmla="*/ 7432431 w 7432431"/>
              <a:gd name="connsiteY1" fmla="*/ 0 h 762000"/>
              <a:gd name="connsiteX2" fmla="*/ 6400800 w 7432431"/>
              <a:gd name="connsiteY2" fmla="*/ 762000 h 762000"/>
              <a:gd name="connsiteX3" fmla="*/ 0 w 7432431"/>
              <a:gd name="connsiteY3" fmla="*/ 762000 h 762000"/>
              <a:gd name="connsiteX4" fmla="*/ 1219200 w 7432431"/>
              <a:gd name="connsiteY4" fmla="*/ 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32431" h="762000">
                <a:moveTo>
                  <a:pt x="1219200" y="0"/>
                </a:moveTo>
                <a:lnTo>
                  <a:pt x="7432431" y="0"/>
                </a:lnTo>
                <a:lnTo>
                  <a:pt x="6400800" y="762000"/>
                </a:lnTo>
                <a:lnTo>
                  <a:pt x="0" y="762000"/>
                </a:lnTo>
                <a:lnTo>
                  <a:pt x="1219200" y="0"/>
                </a:lnTo>
                <a:close/>
              </a:path>
            </a:pathLst>
          </a:cu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267200" y="990600"/>
            <a:ext cx="0" cy="2895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267200" y="3886200"/>
            <a:ext cx="4267200" cy="0"/>
          </a:xfrm>
          <a:prstGeom prst="line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3047999" y="3886200"/>
            <a:ext cx="1219200" cy="1143000"/>
          </a:xfrm>
          <a:prstGeom prst="line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90384" y="4803504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7877" y="3956511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267199" y="1828800"/>
            <a:ext cx="30480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71999" y="1676400"/>
            <a:ext cx="30480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876800" y="1524000"/>
            <a:ext cx="30480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181601" y="1511808"/>
            <a:ext cx="30480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486402" y="1511808"/>
            <a:ext cx="30480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791203" y="1484376"/>
            <a:ext cx="30480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095999" y="1636776"/>
            <a:ext cx="30480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6400800" y="2514600"/>
            <a:ext cx="30480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702553" y="3212592"/>
            <a:ext cx="30480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572000" y="1676400"/>
            <a:ext cx="0" cy="1524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4876800" y="1524000"/>
            <a:ext cx="0" cy="1524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6096004" y="1484376"/>
            <a:ext cx="0" cy="1524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6400800" y="1636776"/>
            <a:ext cx="6096" cy="87782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 flipV="1">
            <a:off x="6702553" y="2514600"/>
            <a:ext cx="3048" cy="6858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 flipV="1">
            <a:off x="7004306" y="3212592"/>
            <a:ext cx="3048" cy="67360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4415029" y="1795996"/>
            <a:ext cx="1" cy="762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4719829" y="1633358"/>
            <a:ext cx="1" cy="762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045596" y="1485900"/>
            <a:ext cx="1" cy="762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5350396" y="1473708"/>
            <a:ext cx="1" cy="762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5622405" y="1473708"/>
            <a:ext cx="1" cy="762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5943600" y="1447800"/>
            <a:ext cx="1" cy="762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6243828" y="1595258"/>
            <a:ext cx="1" cy="762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6559875" y="2471087"/>
            <a:ext cx="1" cy="762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6848277" y="3174492"/>
            <a:ext cx="1" cy="762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 rot="16200000">
            <a:off x="2784931" y="2113165"/>
            <a:ext cx="2490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fluence</a:t>
            </a:r>
            <a:r>
              <a:rPr lang="en-US" dirty="0"/>
              <a:t>/</a:t>
            </a:r>
            <a:r>
              <a:rPr lang="en-US" dirty="0" err="1"/>
              <a:t>inicdent</a:t>
            </a:r>
            <a:r>
              <a:rPr lang="en-US" dirty="0"/>
              <a:t> particle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1676400"/>
            <a:ext cx="304800" cy="2209800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4274712" y="1828800"/>
            <a:ext cx="304800" cy="2057400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4872810" y="1548383"/>
            <a:ext cx="304800" cy="2337816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5165202" y="1491234"/>
            <a:ext cx="304800" cy="2394965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5464852" y="1511807"/>
            <a:ext cx="304800" cy="2391917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5757243" y="1490013"/>
            <a:ext cx="338755" cy="2396186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6074451" y="1633358"/>
            <a:ext cx="327512" cy="2252841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6392778" y="2518019"/>
            <a:ext cx="327512" cy="1385706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6691197" y="3210872"/>
            <a:ext cx="327512" cy="692852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Spatial</a:t>
            </a:r>
            <a:r>
              <a:rPr lang="en-US" dirty="0"/>
              <a:t> vs </a:t>
            </a:r>
            <a:r>
              <a:rPr lang="en-US" dirty="0">
                <a:solidFill>
                  <a:srgbClr val="FF0000"/>
                </a:solidFill>
              </a:rPr>
              <a:t>Spectral </a:t>
            </a:r>
            <a:r>
              <a:rPr lang="en-US" dirty="0"/>
              <a:t>quantities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" y="780288"/>
            <a:ext cx="8458200" cy="31763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2197384"/>
            <a:ext cx="5105400" cy="374708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733800" y="2732532"/>
            <a:ext cx="4343400" cy="266700"/>
          </a:xfrm>
          <a:prstGeom prst="rect">
            <a:avLst/>
          </a:prstGeom>
          <a:solidFill>
            <a:srgbClr val="00B05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733800" y="2999232"/>
            <a:ext cx="4343400" cy="277368"/>
          </a:xfrm>
          <a:prstGeom prst="rect">
            <a:avLst/>
          </a:prstGeom>
          <a:solidFill>
            <a:srgbClr val="00B05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733800" y="3788664"/>
            <a:ext cx="4343400" cy="249936"/>
          </a:xfrm>
          <a:prstGeom prst="rect">
            <a:avLst/>
          </a:prstGeom>
          <a:solidFill>
            <a:srgbClr val="00B05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733800" y="3276600"/>
            <a:ext cx="4343400" cy="256032"/>
          </a:xfrm>
          <a:prstGeom prst="rect">
            <a:avLst/>
          </a:prstGeom>
          <a:solidFill>
            <a:srgbClr val="FF0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733800" y="3532632"/>
            <a:ext cx="4343400" cy="249618"/>
          </a:xfrm>
          <a:prstGeom prst="rect">
            <a:avLst/>
          </a:prstGeom>
          <a:solidFill>
            <a:srgbClr val="FF0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730752" y="4038600"/>
            <a:ext cx="4343400" cy="228600"/>
          </a:xfrm>
          <a:prstGeom prst="rect">
            <a:avLst/>
          </a:prstGeom>
          <a:solidFill>
            <a:srgbClr val="FF0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730752" y="4271887"/>
            <a:ext cx="4343400" cy="219886"/>
          </a:xfrm>
          <a:prstGeom prst="rect">
            <a:avLst/>
          </a:prstGeom>
          <a:solidFill>
            <a:srgbClr val="FF0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733800" y="4491773"/>
            <a:ext cx="4343400" cy="308827"/>
          </a:xfrm>
          <a:prstGeom prst="rect">
            <a:avLst/>
          </a:prstGeom>
          <a:solidFill>
            <a:srgbClr val="FF0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/>
          <p:cNvSpPr/>
          <p:nvPr/>
        </p:nvSpPr>
        <p:spPr>
          <a:xfrm>
            <a:off x="795457" y="3750789"/>
            <a:ext cx="2209800" cy="218808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28600" y="210312"/>
            <a:ext cx="82296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B050"/>
                </a:solidFill>
              </a:rPr>
              <a:t>Spatial </a:t>
            </a:r>
            <a:r>
              <a:rPr lang="en-US" dirty="0"/>
              <a:t>fields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57800" y="3719251"/>
            <a:ext cx="2095501" cy="209550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203214"/>
            <a:ext cx="4953000" cy="19933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0019" y="781971"/>
            <a:ext cx="7124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4938" indent="-134938">
              <a:buFont typeface="Arial" charset="0"/>
              <a:buChar char="•"/>
            </a:pPr>
            <a:r>
              <a:rPr lang="en-US" dirty="0"/>
              <a:t>circular or square fields centered at origin divided into bins of equal area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1905000" y="3429000"/>
            <a:ext cx="4683" cy="1447800"/>
          </a:xfrm>
          <a:prstGeom prst="line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909683" y="4876800"/>
            <a:ext cx="1366917" cy="0"/>
          </a:xfrm>
          <a:prstGeom prst="line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586845" y="3152785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2093" y="4702927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8" name="Oval 17"/>
          <p:cNvSpPr/>
          <p:nvPr/>
        </p:nvSpPr>
        <p:spPr>
          <a:xfrm>
            <a:off x="905142" y="3842469"/>
            <a:ext cx="1999715" cy="1999715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066800" y="3971666"/>
            <a:ext cx="1670516" cy="1729743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1290082" y="4203264"/>
            <a:ext cx="1239201" cy="1283136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552082" y="4472680"/>
            <a:ext cx="710520" cy="735711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6310630" y="3343855"/>
            <a:ext cx="4683" cy="1447800"/>
          </a:xfrm>
          <a:prstGeom prst="line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315313" y="4791655"/>
            <a:ext cx="1366917" cy="0"/>
          </a:xfrm>
          <a:prstGeom prst="line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92475" y="306764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77723" y="4617782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49959" y="3825959"/>
            <a:ext cx="1889041" cy="1889041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5522405" y="4003430"/>
            <a:ext cx="1576449" cy="157644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5760899" y="4221987"/>
            <a:ext cx="1139337" cy="113933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007554" y="4440671"/>
            <a:ext cx="646028" cy="65265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28600" y="210312"/>
            <a:ext cx="82296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B050"/>
                </a:solidFill>
              </a:rPr>
              <a:t>Spatial </a:t>
            </a:r>
            <a:r>
              <a:rPr lang="en-US" dirty="0"/>
              <a:t>fields</a:t>
            </a:r>
          </a:p>
        </p:txBody>
      </p:sp>
      <p:sp>
        <p:nvSpPr>
          <p:cNvPr id="5" name="Rectangle 4"/>
          <p:cNvSpPr/>
          <p:nvPr/>
        </p:nvSpPr>
        <p:spPr>
          <a:xfrm rot="5400000">
            <a:off x="5492230" y="3348733"/>
            <a:ext cx="1660549" cy="12192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80019" y="781971"/>
            <a:ext cx="66685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4938" indent="-134938">
              <a:buFont typeface="Arial" charset="0"/>
              <a:buChar char="•"/>
            </a:pPr>
            <a:r>
              <a:rPr lang="en-US" dirty="0"/>
              <a:t>rectangular fields anywhere on the phase space plane divided into bins of equal width</a:t>
            </a:r>
          </a:p>
          <a:p>
            <a:pPr marL="134938" indent="-134938">
              <a:buFont typeface="Arial" charset="0"/>
              <a:buChar char="•"/>
            </a:pPr>
            <a:r>
              <a:rPr lang="en-US" dirty="0"/>
              <a:t>bins (plots) oriented in X- or Y-direction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6845" y="3152785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6310630" y="1981200"/>
            <a:ext cx="11875" cy="2810455"/>
          </a:xfrm>
          <a:prstGeom prst="line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315313" y="4791655"/>
            <a:ext cx="2371487" cy="0"/>
          </a:xfrm>
          <a:prstGeom prst="line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68524" y="191272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825409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48" y="1747390"/>
            <a:ext cx="4737056" cy="3180121"/>
          </a:xfrm>
          <a:prstGeom prst="rect">
            <a:avLst/>
          </a:prstGeom>
        </p:spPr>
      </p:pic>
      <p:cxnSp>
        <p:nvCxnSpPr>
          <p:cNvPr id="37" name="Straight Connector 36"/>
          <p:cNvCxnSpPr/>
          <p:nvPr/>
        </p:nvCxnSpPr>
        <p:spPr>
          <a:xfrm>
            <a:off x="5712904" y="4648200"/>
            <a:ext cx="1219201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5712904" y="4495800"/>
            <a:ext cx="1219201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712904" y="4343400"/>
            <a:ext cx="1219201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5701029" y="4191000"/>
            <a:ext cx="1219201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712904" y="4038600"/>
            <a:ext cx="1219201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5712904" y="3886200"/>
            <a:ext cx="1219201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701029" y="3733800"/>
            <a:ext cx="1219201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712904" y="3581400"/>
            <a:ext cx="1219201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712904" y="3429000"/>
            <a:ext cx="1219201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5712904" y="3276600"/>
            <a:ext cx="1219201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526639" y="4769644"/>
            <a:ext cx="645561" cy="335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Ymin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6731147" y="4752484"/>
            <a:ext cx="678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Ymax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5101516" y="4558179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Xmin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5068301" y="2937746"/>
            <a:ext cx="697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Xmax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 rot="10800000">
            <a:off x="6918299" y="1809582"/>
            <a:ext cx="1836776" cy="10767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 flipV="1">
            <a:off x="7086600" y="1809584"/>
            <a:ext cx="0" cy="1076778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7239000" y="1809584"/>
            <a:ext cx="0" cy="1076778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7391400" y="1818822"/>
            <a:ext cx="0" cy="1076778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7543800" y="1818822"/>
            <a:ext cx="0" cy="1076778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V="1">
            <a:off x="7696200" y="1818822"/>
            <a:ext cx="0" cy="1076778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7848600" y="1818822"/>
            <a:ext cx="0" cy="1076778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8001000" y="1809583"/>
            <a:ext cx="0" cy="1076778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V="1">
            <a:off x="8153400" y="1828800"/>
            <a:ext cx="0" cy="1076778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8305800" y="1828800"/>
            <a:ext cx="0" cy="1076778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8458200" y="1828800"/>
            <a:ext cx="0" cy="1076778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8610600" y="1828800"/>
            <a:ext cx="0" cy="1076778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9690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28600" y="210312"/>
            <a:ext cx="82296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Spectral </a:t>
            </a:r>
            <a:r>
              <a:rPr lang="en-US" dirty="0"/>
              <a:t>fields</a:t>
            </a:r>
          </a:p>
        </p:txBody>
      </p:sp>
      <p:sp>
        <p:nvSpPr>
          <p:cNvPr id="5" name="Rectangle 4"/>
          <p:cNvSpPr/>
          <p:nvPr/>
        </p:nvSpPr>
        <p:spPr>
          <a:xfrm rot="5400000">
            <a:off x="1839858" y="4484742"/>
            <a:ext cx="1357261" cy="137937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80019" y="781971"/>
            <a:ext cx="7125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4938" indent="-134938">
              <a:buFont typeface="Arial" charset="0"/>
              <a:buChar char="•"/>
            </a:pPr>
            <a:r>
              <a:rPr lang="en-US" dirty="0"/>
              <a:t>Rectangle anywhere on the plane or annular region centered at origin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08034" y="381385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27" name="Straight Connector 26"/>
          <p:cNvCxnSpPr/>
          <p:nvPr/>
        </p:nvCxnSpPr>
        <p:spPr>
          <a:xfrm flipH="1" flipV="1">
            <a:off x="2531135" y="3979287"/>
            <a:ext cx="1" cy="1185064"/>
          </a:xfrm>
          <a:prstGeom prst="line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2531135" y="5164351"/>
            <a:ext cx="1282827" cy="902"/>
          </a:xfrm>
          <a:prstGeom prst="line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68524" y="191272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65524" y="5199702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963" y="5829916"/>
            <a:ext cx="645561" cy="335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Ymin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3001941" y="5824701"/>
            <a:ext cx="678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Ymax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1175129" y="5585272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Xmin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1256581" y="4170764"/>
            <a:ext cx="697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Xmax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79" y="1101527"/>
            <a:ext cx="6647041" cy="274821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308901" y="388660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391" y="5272453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66" name="Oval 65"/>
          <p:cNvSpPr/>
          <p:nvPr/>
        </p:nvSpPr>
        <p:spPr>
          <a:xfrm>
            <a:off x="4785636" y="4239370"/>
            <a:ext cx="1732282" cy="1672548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5170013" y="4601851"/>
            <a:ext cx="981428" cy="94758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/>
          <p:cNvCxnSpPr/>
          <p:nvPr/>
        </p:nvCxnSpPr>
        <p:spPr>
          <a:xfrm flipH="1" flipV="1">
            <a:off x="5620498" y="3959996"/>
            <a:ext cx="1" cy="1185064"/>
          </a:xfrm>
          <a:prstGeom prst="line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V="1">
            <a:off x="5620498" y="5144609"/>
            <a:ext cx="1282827" cy="902"/>
          </a:xfrm>
          <a:prstGeom prst="line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309883" y="4255940"/>
            <a:ext cx="701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Rmax</a:t>
            </a:r>
            <a:endParaRPr 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5162732" y="5047645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Rmin</a:t>
            </a:r>
            <a:endParaRPr lang="en-US" dirty="0"/>
          </a:p>
        </p:txBody>
      </p:sp>
      <p:cxnSp>
        <p:nvCxnSpPr>
          <p:cNvPr id="70" name="Straight Connector 69"/>
          <p:cNvCxnSpPr/>
          <p:nvPr/>
        </p:nvCxnSpPr>
        <p:spPr>
          <a:xfrm>
            <a:off x="5646175" y="5133448"/>
            <a:ext cx="373625" cy="263566"/>
          </a:xfrm>
          <a:prstGeom prst="line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V="1">
            <a:off x="5636198" y="4598267"/>
            <a:ext cx="686413" cy="535181"/>
          </a:xfrm>
          <a:prstGeom prst="line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052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28600" y="210312"/>
            <a:ext cx="82296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Spectral </a:t>
            </a:r>
            <a:r>
              <a:rPr lang="en-US" dirty="0"/>
              <a:t>quantities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0019" y="781971"/>
            <a:ext cx="7125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4938" indent="-134938">
              <a:buFont typeface="Arial" charset="0"/>
              <a:buChar char="•"/>
            </a:pPr>
            <a:r>
              <a:rPr lang="en-US" dirty="0"/>
              <a:t>Specify range and number of bins</a:t>
            </a:r>
          </a:p>
          <a:p>
            <a:pPr marL="134938" indent="-134938">
              <a:buFont typeface="Arial" charset="0"/>
              <a:buChar char="•"/>
            </a:pPr>
            <a:r>
              <a:rPr lang="en-US" dirty="0"/>
              <a:t>e.g. Angular distribution: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09" y="1524000"/>
            <a:ext cx="8643201" cy="241105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14400" y="4298128"/>
            <a:ext cx="7125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4938" marR="0" lvl="0" indent="-134938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b="1" dirty="0">
                <a:latin typeface="Comic Sans MS" charset="0"/>
                <a:ea typeface="Comic Sans MS" charset="0"/>
                <a:cs typeface="Comic Sans MS" charset="0"/>
              </a:rPr>
              <a:t>For angular distribution only: also specify an energy range</a:t>
            </a:r>
          </a:p>
        </p:txBody>
      </p:sp>
      <p:sp>
        <p:nvSpPr>
          <p:cNvPr id="8" name="Oval 7"/>
          <p:cNvSpPr/>
          <p:nvPr/>
        </p:nvSpPr>
        <p:spPr>
          <a:xfrm>
            <a:off x="762000" y="2819400"/>
            <a:ext cx="2590800" cy="1447800"/>
          </a:xfrm>
          <a:prstGeom prst="ellipse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98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494" y="685800"/>
            <a:ext cx="4302685" cy="45387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LATCH Review I</a:t>
            </a:r>
            <a:endParaRPr lang="en-US" i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73284"/>
            <a:ext cx="4123184" cy="30855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0579" y="811619"/>
            <a:ext cx="2661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From </a:t>
            </a:r>
            <a:r>
              <a:rPr lang="en-US" sz="2400" b="1" dirty="0" err="1"/>
              <a:t>beamnrc_gui</a:t>
            </a:r>
            <a:r>
              <a:rPr lang="en-US" sz="2400" b="1" dirty="0"/>
              <a:t>:</a:t>
            </a:r>
          </a:p>
        </p:txBody>
      </p:sp>
      <p:pic>
        <p:nvPicPr>
          <p:cNvPr id="12" name="Picture 3" descr="Y:\conferences\2011-IAEA-Trieste\week2\L24_BEAMDP_EMH_FT\images\red-marker.pn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>
            <a:off x="1269043" y="2254155"/>
            <a:ext cx="1702756" cy="1123819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566402" y="5266349"/>
            <a:ext cx="71710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9388" indent="-179388">
              <a:buFont typeface="Arial" charset="0"/>
              <a:buChar char="•"/>
            </a:pP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LATCH</a:t>
            </a:r>
            <a:r>
              <a:rPr lang="en-US" b="1" dirty="0"/>
              <a:t> is a 32-bit integer variable that travels with the particle</a:t>
            </a:r>
          </a:p>
          <a:p>
            <a:pPr marL="179388" indent="-179388">
              <a:buFont typeface="Arial" charset="0"/>
              <a:buChar char="•"/>
            </a:pP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LATCH</a:t>
            </a:r>
            <a:r>
              <a:rPr lang="en-US" b="1" dirty="0"/>
              <a:t> bits are associated with regions in </a:t>
            </a:r>
            <a:r>
              <a:rPr lang="en-US" b="1" dirty="0" err="1"/>
              <a:t>BEAMnrc</a:t>
            </a:r>
            <a:r>
              <a:rPr lang="en-US" b="1" dirty="0"/>
              <a:t> or other application</a:t>
            </a:r>
          </a:p>
        </p:txBody>
      </p:sp>
    </p:spTree>
    <p:extLst>
      <p:ext uri="{BB962C8B-B14F-4D97-AF65-F5344CB8AC3E}">
        <p14:creationId xmlns:p14="http://schemas.microsoft.com/office/powerpoint/2010/main" val="2080683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90" y="1357873"/>
            <a:ext cx="8695621" cy="83411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30087" y="2695516"/>
            <a:ext cx="2639037" cy="838200"/>
          </a:xfrm>
          <a:prstGeom prst="rect">
            <a:avLst/>
          </a:prstGeom>
          <a:solidFill>
            <a:srgbClr val="FFFFCC"/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LATCH Review II</a:t>
            </a:r>
            <a:endParaRPr lang="en-US" i="1" dirty="0"/>
          </a:p>
        </p:txBody>
      </p:sp>
      <p:sp>
        <p:nvSpPr>
          <p:cNvPr id="7" name="Rectangle 6"/>
          <p:cNvSpPr/>
          <p:nvPr/>
        </p:nvSpPr>
        <p:spPr>
          <a:xfrm>
            <a:off x="336754" y="1506181"/>
            <a:ext cx="304800" cy="6096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04599" y="2779408"/>
            <a:ext cx="274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Set if </a:t>
            </a:r>
            <a:r>
              <a:rPr lang="en-US" sz="2000" b="1" dirty="0" err="1"/>
              <a:t>brems</a:t>
            </a:r>
            <a:r>
              <a:rPr lang="en-US" sz="2000" b="1" dirty="0"/>
              <a:t> or positron </a:t>
            </a:r>
            <a:r>
              <a:rPr lang="en-US" sz="2000" b="1" dirty="0" err="1"/>
              <a:t>annihiliation</a:t>
            </a:r>
            <a:r>
              <a:rPr lang="en-US" sz="2000" b="1" dirty="0"/>
              <a:t> occurred</a:t>
            </a:r>
          </a:p>
        </p:txBody>
      </p:sp>
      <p:cxnSp>
        <p:nvCxnSpPr>
          <p:cNvPr id="11" name="Straight Arrow Connector 10"/>
          <p:cNvCxnSpPr>
            <a:stCxn id="10" idx="0"/>
            <a:endCxn id="7" idx="2"/>
          </p:cNvCxnSpPr>
          <p:nvPr/>
        </p:nvCxnSpPr>
        <p:spPr>
          <a:xfrm flipH="1" flipV="1">
            <a:off x="489154" y="2115781"/>
            <a:ext cx="1160452" cy="579735"/>
          </a:xfrm>
          <a:prstGeom prst="straightConnector1">
            <a:avLst/>
          </a:prstGeom>
          <a:ln w="254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202522" y="2709310"/>
            <a:ext cx="2639038" cy="143683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41554" y="1523591"/>
            <a:ext cx="6705172" cy="62782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242076" y="2766007"/>
            <a:ext cx="2743200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Set if particle interacted/passed through corresponding region</a:t>
            </a:r>
          </a:p>
        </p:txBody>
      </p:sp>
      <p:cxnSp>
        <p:nvCxnSpPr>
          <p:cNvPr id="16" name="Straight Arrow Connector 15"/>
          <p:cNvCxnSpPr>
            <a:stCxn id="13" idx="0"/>
            <a:endCxn id="14" idx="2"/>
          </p:cNvCxnSpPr>
          <p:nvPr/>
        </p:nvCxnSpPr>
        <p:spPr>
          <a:xfrm flipH="1" flipV="1">
            <a:off x="3994140" y="2151415"/>
            <a:ext cx="527901" cy="557895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36962" y="2610878"/>
            <a:ext cx="2791437" cy="22812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346726" y="1509316"/>
            <a:ext cx="1492474" cy="61897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139681" y="2610878"/>
            <a:ext cx="2743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>
              <a:buFont typeface="Arial" charset="0"/>
              <a:buChar char="•"/>
            </a:pPr>
            <a:r>
              <a:rPr lang="en-US" sz="2000" b="1" dirty="0"/>
              <a:t>For </a:t>
            </a:r>
            <a:r>
              <a:rPr lang="en-US" sz="2000" b="1" dirty="0" err="1"/>
              <a:t>secondaries</a:t>
            </a:r>
            <a:r>
              <a:rPr lang="en-US" sz="2000" b="1" dirty="0"/>
              <a:t>: 24-28, downshifted by 24 bits, store the bit (1-23) associated with the region where they were created</a:t>
            </a:r>
          </a:p>
          <a:p>
            <a:pPr marL="179388" indent="-179388">
              <a:buFont typeface="Arial" charset="0"/>
              <a:buChar char="•"/>
            </a:pPr>
            <a:r>
              <a:rPr lang="en-US" sz="2000" b="1" dirty="0"/>
              <a:t>For primaries: not set</a:t>
            </a:r>
          </a:p>
        </p:txBody>
      </p:sp>
      <p:cxnSp>
        <p:nvCxnSpPr>
          <p:cNvPr id="27" name="Straight Arrow Connector 26"/>
          <p:cNvCxnSpPr>
            <a:stCxn id="24" idx="0"/>
            <a:endCxn id="25" idx="2"/>
          </p:cNvCxnSpPr>
          <p:nvPr/>
        </p:nvCxnSpPr>
        <p:spPr>
          <a:xfrm flipV="1">
            <a:off x="7532681" y="2128289"/>
            <a:ext cx="560282" cy="482589"/>
          </a:xfrm>
          <a:prstGeom prst="straightConnector1">
            <a:avLst/>
          </a:prstGeom>
          <a:ln w="254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118303" y="5105400"/>
            <a:ext cx="4866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9388" indent="-179388">
              <a:buFont typeface="Arial" charset="0"/>
              <a:buChar char="•"/>
            </a:pPr>
            <a:r>
              <a:rPr lang="en-US" sz="2000" b="1" dirty="0"/>
              <a:t>In </a:t>
            </a:r>
            <a:r>
              <a:rPr lang="en-US" sz="2000" b="1" dirty="0" err="1"/>
              <a:t>BEAMnrc</a:t>
            </a:r>
            <a:r>
              <a:rPr lang="en-US" sz="2000" b="1" dirty="0"/>
              <a:t>, AIR regions default to bit 23</a:t>
            </a:r>
          </a:p>
        </p:txBody>
      </p:sp>
    </p:spTree>
    <p:extLst>
      <p:ext uri="{BB962C8B-B14F-4D97-AF65-F5344CB8AC3E}">
        <p14:creationId xmlns:p14="http://schemas.microsoft.com/office/powerpoint/2010/main" val="3968360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990600"/>
            <a:ext cx="7994754" cy="60960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381000" y="228600"/>
            <a:ext cx="82296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BEAMDP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LATCH</a:t>
            </a:r>
            <a:r>
              <a:rPr lang="en-US" dirty="0"/>
              <a:t> filtering: inclusive/exclusive for bits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00" y="1143000"/>
            <a:ext cx="9144000" cy="3314163"/>
          </a:xfrm>
          <a:prstGeom prst="rect">
            <a:avLst/>
          </a:prstGeom>
        </p:spPr>
      </p:pic>
      <p:sp>
        <p:nvSpPr>
          <p:cNvPr id="12" name="Freeform 11"/>
          <p:cNvSpPr/>
          <p:nvPr/>
        </p:nvSpPr>
        <p:spPr>
          <a:xfrm>
            <a:off x="919421" y="2183219"/>
            <a:ext cx="287079" cy="404037"/>
          </a:xfrm>
          <a:custGeom>
            <a:avLst/>
            <a:gdLst>
              <a:gd name="connsiteX0" fmla="*/ 287079 w 287079"/>
              <a:gd name="connsiteY0" fmla="*/ 0 h 404037"/>
              <a:gd name="connsiteX1" fmla="*/ 0 w 287079"/>
              <a:gd name="connsiteY1" fmla="*/ 0 h 404037"/>
              <a:gd name="connsiteX2" fmla="*/ 0 w 287079"/>
              <a:gd name="connsiteY2" fmla="*/ 404037 h 404037"/>
              <a:gd name="connsiteX3" fmla="*/ 287079 w 287079"/>
              <a:gd name="connsiteY3" fmla="*/ 404037 h 40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079" h="404037">
                <a:moveTo>
                  <a:pt x="287079" y="0"/>
                </a:moveTo>
                <a:lnTo>
                  <a:pt x="0" y="0"/>
                </a:lnTo>
                <a:lnTo>
                  <a:pt x="0" y="404037"/>
                </a:lnTo>
                <a:lnTo>
                  <a:pt x="287079" y="404037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993848" y="2745146"/>
            <a:ext cx="287079" cy="404037"/>
          </a:xfrm>
          <a:custGeom>
            <a:avLst/>
            <a:gdLst>
              <a:gd name="connsiteX0" fmla="*/ 287079 w 287079"/>
              <a:gd name="connsiteY0" fmla="*/ 0 h 404037"/>
              <a:gd name="connsiteX1" fmla="*/ 0 w 287079"/>
              <a:gd name="connsiteY1" fmla="*/ 0 h 404037"/>
              <a:gd name="connsiteX2" fmla="*/ 0 w 287079"/>
              <a:gd name="connsiteY2" fmla="*/ 404037 h 404037"/>
              <a:gd name="connsiteX3" fmla="*/ 287079 w 287079"/>
              <a:gd name="connsiteY3" fmla="*/ 404037 h 40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079" h="404037">
                <a:moveTo>
                  <a:pt x="287079" y="0"/>
                </a:moveTo>
                <a:lnTo>
                  <a:pt x="0" y="0"/>
                </a:lnTo>
                <a:lnTo>
                  <a:pt x="0" y="404037"/>
                </a:lnTo>
                <a:lnTo>
                  <a:pt x="287079" y="404037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19421" y="2438400"/>
            <a:ext cx="0" cy="220980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8200" y="4580215"/>
            <a:ext cx="5257593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rgbClr val="00B050"/>
                </a:solidFill>
              </a:rPr>
              <a:t>Include the particle only if any “inclusive bits” are set</a:t>
            </a:r>
          </a:p>
          <a:p>
            <a:pPr>
              <a:spcBef>
                <a:spcPts val="600"/>
              </a:spcBef>
            </a:pPr>
            <a:r>
              <a:rPr lang="en-US" b="1" dirty="0">
                <a:solidFill>
                  <a:srgbClr val="FF0000"/>
                </a:solidFill>
              </a:rPr>
              <a:t>AND none of the “Exclusive bits” are set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991781" y="3016746"/>
            <a:ext cx="2067" cy="163145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184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80" y="880591"/>
            <a:ext cx="8614439" cy="656851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381000" y="228600"/>
            <a:ext cx="82296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Latch filtering: exclusive for bits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056" y="4096067"/>
            <a:ext cx="609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 Include the particle only if none of the “exclusive bits” are set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9623352" cy="2915070"/>
          </a:xfrm>
          <a:prstGeom prst="rect">
            <a:avLst/>
          </a:prstGeom>
        </p:spPr>
      </p:pic>
      <p:sp>
        <p:nvSpPr>
          <p:cNvPr id="14" name="Freeform 13"/>
          <p:cNvSpPr/>
          <p:nvPr/>
        </p:nvSpPr>
        <p:spPr>
          <a:xfrm>
            <a:off x="627321" y="2287947"/>
            <a:ext cx="287079" cy="379053"/>
          </a:xfrm>
          <a:custGeom>
            <a:avLst/>
            <a:gdLst>
              <a:gd name="connsiteX0" fmla="*/ 287079 w 287079"/>
              <a:gd name="connsiteY0" fmla="*/ 0 h 404037"/>
              <a:gd name="connsiteX1" fmla="*/ 0 w 287079"/>
              <a:gd name="connsiteY1" fmla="*/ 0 h 404037"/>
              <a:gd name="connsiteX2" fmla="*/ 0 w 287079"/>
              <a:gd name="connsiteY2" fmla="*/ 404037 h 404037"/>
              <a:gd name="connsiteX3" fmla="*/ 287079 w 287079"/>
              <a:gd name="connsiteY3" fmla="*/ 404037 h 40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079" h="404037">
                <a:moveTo>
                  <a:pt x="287079" y="0"/>
                </a:moveTo>
                <a:lnTo>
                  <a:pt x="0" y="0"/>
                </a:lnTo>
                <a:lnTo>
                  <a:pt x="0" y="404037"/>
                </a:lnTo>
                <a:lnTo>
                  <a:pt x="287079" y="404037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627321" y="2649279"/>
            <a:ext cx="2067" cy="163145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4296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81000" y="228600"/>
            <a:ext cx="82296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Latch filtering: inclusive for regions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056" y="4096067"/>
            <a:ext cx="8439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 Include only secondary particles originating in regions associated with “inclusive bits”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842564"/>
            <a:ext cx="8305800" cy="6125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7" y="1030017"/>
            <a:ext cx="9144000" cy="3203882"/>
          </a:xfrm>
          <a:prstGeom prst="rect">
            <a:avLst/>
          </a:prstGeom>
        </p:spPr>
      </p:pic>
      <p:sp>
        <p:nvSpPr>
          <p:cNvPr id="14" name="Freeform 13"/>
          <p:cNvSpPr/>
          <p:nvPr/>
        </p:nvSpPr>
        <p:spPr>
          <a:xfrm>
            <a:off x="627321" y="2287947"/>
            <a:ext cx="287079" cy="379053"/>
          </a:xfrm>
          <a:custGeom>
            <a:avLst/>
            <a:gdLst>
              <a:gd name="connsiteX0" fmla="*/ 287079 w 287079"/>
              <a:gd name="connsiteY0" fmla="*/ 0 h 404037"/>
              <a:gd name="connsiteX1" fmla="*/ 0 w 287079"/>
              <a:gd name="connsiteY1" fmla="*/ 0 h 404037"/>
              <a:gd name="connsiteX2" fmla="*/ 0 w 287079"/>
              <a:gd name="connsiteY2" fmla="*/ 404037 h 404037"/>
              <a:gd name="connsiteX3" fmla="*/ 287079 w 287079"/>
              <a:gd name="connsiteY3" fmla="*/ 404037 h 40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079" h="404037">
                <a:moveTo>
                  <a:pt x="287079" y="0"/>
                </a:moveTo>
                <a:lnTo>
                  <a:pt x="0" y="0"/>
                </a:lnTo>
                <a:lnTo>
                  <a:pt x="0" y="404037"/>
                </a:lnTo>
                <a:lnTo>
                  <a:pt x="287079" y="404037"/>
                </a:ln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627321" y="2649279"/>
            <a:ext cx="2067" cy="1631454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0860" y="4695625"/>
            <a:ext cx="675082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9388" indent="-179388">
              <a:spcBef>
                <a:spcPts val="600"/>
              </a:spcBef>
              <a:buFont typeface="Arial" charset="0"/>
              <a:buChar char="•"/>
            </a:pP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LATCH</a:t>
            </a:r>
            <a:r>
              <a:rPr lang="en-US" b="1" dirty="0"/>
              <a:t> bits </a:t>
            </a:r>
            <a:r>
              <a:rPr lang="en-US" b="1" dirty="0" err="1"/>
              <a:t>associted</a:t>
            </a:r>
            <a:r>
              <a:rPr lang="en-US" b="1" dirty="0"/>
              <a:t> with regions in </a:t>
            </a:r>
            <a:r>
              <a:rPr lang="en-US" b="1" dirty="0" err="1"/>
              <a:t>BEAMnrc</a:t>
            </a:r>
            <a:r>
              <a:rPr lang="en-US" b="1" dirty="0"/>
              <a:t> or other application</a:t>
            </a:r>
          </a:p>
          <a:p>
            <a:pPr marL="179388" indent="-179388">
              <a:spcBef>
                <a:spcPts val="600"/>
              </a:spcBef>
              <a:buFont typeface="Arial" charset="0"/>
              <a:buChar char="•"/>
            </a:pPr>
            <a:r>
              <a:rPr lang="en-US" b="1" dirty="0"/>
              <a:t>Stored in bits 24-28 of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LATCH</a:t>
            </a:r>
          </a:p>
          <a:p>
            <a:pPr marL="179388" indent="-179388">
              <a:spcBef>
                <a:spcPts val="600"/>
              </a:spcBef>
              <a:buFont typeface="Arial" charset="0"/>
              <a:buChar char="•"/>
            </a:pPr>
            <a:r>
              <a:rPr lang="en-US" b="1" dirty="0"/>
              <a:t>Region 23 is usually reserved for air</a:t>
            </a:r>
          </a:p>
        </p:txBody>
      </p:sp>
    </p:spTree>
    <p:extLst>
      <p:ext uri="{BB962C8B-B14F-4D97-AF65-F5344CB8AC3E}">
        <p14:creationId xmlns:p14="http://schemas.microsoft.com/office/powerpoint/2010/main" val="1153311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2388"/>
            <a:ext cx="9144000" cy="3189998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381000" y="228600"/>
            <a:ext cx="82296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Latch filtering: exclusive for regions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40" y="4246056"/>
            <a:ext cx="8843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Include only secondary particles not originating in regions associated with “exclusive bits” </a:t>
            </a:r>
          </a:p>
        </p:txBody>
      </p:sp>
      <p:sp>
        <p:nvSpPr>
          <p:cNvPr id="14" name="Freeform 13"/>
          <p:cNvSpPr/>
          <p:nvPr/>
        </p:nvSpPr>
        <p:spPr>
          <a:xfrm>
            <a:off x="627321" y="2287947"/>
            <a:ext cx="287079" cy="379053"/>
          </a:xfrm>
          <a:custGeom>
            <a:avLst/>
            <a:gdLst>
              <a:gd name="connsiteX0" fmla="*/ 287079 w 287079"/>
              <a:gd name="connsiteY0" fmla="*/ 0 h 404037"/>
              <a:gd name="connsiteX1" fmla="*/ 0 w 287079"/>
              <a:gd name="connsiteY1" fmla="*/ 0 h 404037"/>
              <a:gd name="connsiteX2" fmla="*/ 0 w 287079"/>
              <a:gd name="connsiteY2" fmla="*/ 404037 h 404037"/>
              <a:gd name="connsiteX3" fmla="*/ 287079 w 287079"/>
              <a:gd name="connsiteY3" fmla="*/ 404037 h 40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079" h="404037">
                <a:moveTo>
                  <a:pt x="287079" y="0"/>
                </a:moveTo>
                <a:lnTo>
                  <a:pt x="0" y="0"/>
                </a:lnTo>
                <a:lnTo>
                  <a:pt x="0" y="404037"/>
                </a:lnTo>
                <a:lnTo>
                  <a:pt x="287079" y="404037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627321" y="2649279"/>
            <a:ext cx="2067" cy="163145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056058"/>
            <a:ext cx="8229600" cy="56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911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Input/Output</a:t>
            </a:r>
            <a:r>
              <a:rPr lang="en-US" dirty="0"/>
              <a:t> files</a:t>
            </a:r>
            <a:endParaRPr lang="en-US" i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0"/>
            <a:ext cx="8153400" cy="9253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9200" y="1192768"/>
            <a:ext cx="2389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Input </a:t>
            </a:r>
            <a:r>
              <a:rPr lang="en-US" b="1">
                <a:solidFill>
                  <a:srgbClr val="FF0000"/>
                </a:solidFill>
              </a:rPr>
              <a:t>phase space data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895600" y="1524000"/>
            <a:ext cx="1066800" cy="914400"/>
          </a:xfrm>
          <a:prstGeom prst="line">
            <a:avLst/>
          </a:prstGeom>
          <a:ln w="254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343400" y="3048000"/>
            <a:ext cx="1143000" cy="868797"/>
          </a:xfrm>
          <a:prstGeom prst="line">
            <a:avLst/>
          </a:prstGeom>
          <a:ln w="25400">
            <a:solidFill>
              <a:srgbClr val="00B05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2856" y="3593631"/>
            <a:ext cx="3089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Output data file optimized for</a:t>
            </a:r>
          </a:p>
          <a:p>
            <a:r>
              <a:rPr lang="en-US" b="1" dirty="0">
                <a:solidFill>
                  <a:srgbClr val="00B050"/>
                </a:solidFill>
              </a:rPr>
              <a:t>plotting with </a:t>
            </a:r>
            <a:r>
              <a:rPr lang="en-US" b="1" dirty="0" err="1">
                <a:solidFill>
                  <a:srgbClr val="00B050"/>
                </a:solidFill>
              </a:rPr>
              <a:t>xmgrace</a:t>
            </a:r>
            <a:r>
              <a:rPr lang="en-US" b="1" dirty="0">
                <a:solidFill>
                  <a:srgbClr val="00B050"/>
                </a:solidFill>
              </a:rPr>
              <a:t>/</a:t>
            </a:r>
            <a:r>
              <a:rPr lang="en-US" b="1" dirty="0" err="1">
                <a:solidFill>
                  <a:srgbClr val="00B050"/>
                </a:solidFill>
              </a:rPr>
              <a:t>qtgrace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239962"/>
            <a:ext cx="2790339" cy="16518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13791" y="4742699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Use the same output file for the option to add data to an existing plot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188309"/>
            <a:ext cx="4953000" cy="398389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2180250"/>
            <a:ext cx="4876800" cy="399194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type</a:t>
            </a:r>
            <a:endParaRPr lang="en-US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066800"/>
            <a:ext cx="8305800" cy="50746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447800"/>
            <a:ext cx="1143000" cy="6214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44467" y="1802861"/>
            <a:ext cx="1125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point plot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5465" y="1810919"/>
            <a:ext cx="1141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histogram</a:t>
            </a:r>
          </a:p>
        </p:txBody>
      </p:sp>
    </p:spTree>
    <p:extLst>
      <p:ext uri="{BB962C8B-B14F-4D97-AF65-F5344CB8AC3E}">
        <p14:creationId xmlns:p14="http://schemas.microsoft.com/office/powerpoint/2010/main" val="201732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96118"/>
            <a:ext cx="8229600" cy="563562"/>
          </a:xfrm>
        </p:spPr>
        <p:txBody>
          <a:bodyPr/>
          <a:lstStyle/>
          <a:p>
            <a:r>
              <a:rPr lang="en-US" dirty="0" err="1"/>
              <a:t>Fluence</a:t>
            </a:r>
            <a:r>
              <a:rPr lang="en-US" dirty="0"/>
              <a:t> type</a:t>
            </a:r>
            <a:endParaRPr lang="en-US" i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869066"/>
            <a:ext cx="8382000" cy="51211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490" y="1217372"/>
            <a:ext cx="2108200" cy="7493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838200" y="4800600"/>
            <a:ext cx="6629400" cy="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3818860" y="3511586"/>
            <a:ext cx="533400" cy="12954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3801140" y="2286000"/>
            <a:ext cx="8860" cy="3746573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45769" y="5572830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19" name="Arc 18"/>
          <p:cNvSpPr/>
          <p:nvPr/>
        </p:nvSpPr>
        <p:spPr>
          <a:xfrm>
            <a:off x="3520753" y="3602095"/>
            <a:ext cx="650031" cy="369332"/>
          </a:xfrm>
          <a:prstGeom prst="arc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319309" y="3426241"/>
            <a:ext cx="4203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latin typeface="Symbol" charset="2"/>
                <a:ea typeface="Symbol" charset="2"/>
                <a:cs typeface="Symbol" charset="2"/>
              </a:rPr>
              <a:t>g</a:t>
            </a:r>
            <a:r>
              <a:rPr lang="en-US" sz="3200" b="1" baseline="-25000" dirty="0" err="1">
                <a:ea typeface="Symbol" charset="2"/>
                <a:cs typeface="Symbol" charset="2"/>
              </a:rPr>
              <a:t>i</a:t>
            </a:r>
            <a:endParaRPr lang="en-US" sz="3200" b="1" dirty="0">
              <a:latin typeface="Symbol" charset="2"/>
              <a:ea typeface="Symbol" charset="2"/>
              <a:cs typeface="Symbol" charset="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90635" y="3288268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w</a:t>
            </a:r>
            <a:r>
              <a:rPr lang="en-US" b="1" baseline="-25000" dirty="0" err="1"/>
              <a:t>i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1134893" y="2980511"/>
            <a:ext cx="2266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 = Z-direction cosine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3820" y="1910159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planar </a:t>
            </a:r>
            <a:r>
              <a:rPr lang="en-US" b="1" dirty="0" err="1"/>
              <a:t>fluence</a:t>
            </a:r>
            <a:r>
              <a:rPr lang="en-US" b="1" dirty="0"/>
              <a:t>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983491" y="1813456"/>
                <a:ext cx="603755" cy="5354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bg-BG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𝐰𝐭</m:t>
                                  </m:r>
                                </m:e>
                                <m:sub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𝐚𝐫𝐞𝐚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491" y="1813456"/>
                <a:ext cx="603755" cy="53546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5471202" y="2593653"/>
            <a:ext cx="1512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estimated real </a:t>
            </a:r>
            <a:r>
              <a:rPr lang="en-US" b="1" dirty="0" err="1"/>
              <a:t>fluence</a:t>
            </a:r>
            <a:r>
              <a:rPr lang="en-US" b="1" dirty="0"/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995011" y="2550437"/>
                <a:ext cx="604333" cy="7327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bg-BG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bg-BG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>
                                <m:fPr>
                                  <m:ctrlPr>
                                    <a:rPr lang="bg-BG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1" i="0" smtClean="0">
                                          <a:latin typeface="Cambria Math" panose="02040503050406030204" pitchFamily="18" charset="0"/>
                                        </a:rPr>
                                        <m:t>𝐰𝐭</m:t>
                                      </m:r>
                                    </m:e>
                                    <m:sub>
                                      <m:r>
                                        <a:rPr lang="en-CA" b="1" i="0" smtClean="0"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1" i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  <m:sub>
                                      <m:r>
                                        <a:rPr lang="en-CA" b="1" i="0" smtClean="0">
                                          <a:latin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num>
                        <m:den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𝐚𝐫𝐞𝐚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011" y="2550437"/>
                <a:ext cx="604333" cy="7327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4640548" y="3602095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(weight = </a:t>
            </a:r>
            <a:r>
              <a:rPr lang="en-US" b="1" dirty="0" err="1"/>
              <a:t>wt</a:t>
            </a:r>
            <a:r>
              <a:rPr lang="en-US" b="1" baseline="-25000" dirty="0" err="1"/>
              <a:t>i</a:t>
            </a:r>
            <a:r>
              <a:rPr lang="en-US" b="1" dirty="0"/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1881" y="272219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764505"/>
            <a:ext cx="1930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phase space plane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8866" y="5119493"/>
            <a:ext cx="2388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min. w = 0.08716 (85</a:t>
            </a:r>
            <a:r>
              <a:rPr lang="en-US" b="1" baseline="30000" dirty="0"/>
              <a:t>o</a:t>
            </a:r>
            <a:r>
              <a:rPr lang="en-US" b="1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92309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96118"/>
            <a:ext cx="8229600" cy="563562"/>
          </a:xfrm>
        </p:spPr>
        <p:txBody>
          <a:bodyPr/>
          <a:lstStyle/>
          <a:p>
            <a:r>
              <a:rPr lang="en-US" dirty="0"/>
              <a:t>Angular distributions</a:t>
            </a:r>
            <a:endParaRPr lang="en-US" i="1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55961" y="5334000"/>
            <a:ext cx="6629400" cy="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3770881" y="2280684"/>
            <a:ext cx="8860" cy="3746573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45769" y="5572830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16" y="968285"/>
            <a:ext cx="8091084" cy="4943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89" y="1399644"/>
            <a:ext cx="2619464" cy="7339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971297" y="2096018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Z=0</a:t>
            </a:r>
          </a:p>
        </p:txBody>
      </p:sp>
      <p:sp>
        <p:nvSpPr>
          <p:cNvPr id="11" name="Oval 10"/>
          <p:cNvSpPr/>
          <p:nvPr/>
        </p:nvSpPr>
        <p:spPr>
          <a:xfrm>
            <a:off x="3733800" y="2242584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2057400" y="5257800"/>
            <a:ext cx="0" cy="152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277256" y="5257800"/>
            <a:ext cx="0" cy="152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2514600" y="5257800"/>
            <a:ext cx="0" cy="152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2743200" y="5257800"/>
            <a:ext cx="0" cy="152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2971800" y="5257800"/>
            <a:ext cx="0" cy="152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3200400" y="5257800"/>
            <a:ext cx="0" cy="152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3429000" y="5257800"/>
            <a:ext cx="0" cy="152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3657600" y="5257800"/>
            <a:ext cx="0" cy="152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886200" y="5257800"/>
            <a:ext cx="0" cy="152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4114800" y="5257800"/>
            <a:ext cx="0" cy="152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4343400" y="5257800"/>
            <a:ext cx="0" cy="152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572000" y="5265295"/>
            <a:ext cx="0" cy="152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4800600" y="5265295"/>
            <a:ext cx="0" cy="152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5029200" y="5265295"/>
            <a:ext cx="0" cy="152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257800" y="5257800"/>
            <a:ext cx="0" cy="152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1923" y="5341495"/>
            <a:ext cx="1930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phase space plane</a:t>
            </a:r>
          </a:p>
        </p:txBody>
      </p:sp>
      <p:sp>
        <p:nvSpPr>
          <p:cNvPr id="51" name="Freeform 50"/>
          <p:cNvSpPr/>
          <p:nvPr/>
        </p:nvSpPr>
        <p:spPr>
          <a:xfrm>
            <a:off x="3785016" y="2278505"/>
            <a:ext cx="1019332" cy="3065488"/>
          </a:xfrm>
          <a:custGeom>
            <a:avLst/>
            <a:gdLst>
              <a:gd name="connsiteX0" fmla="*/ 0 w 1019332"/>
              <a:gd name="connsiteY0" fmla="*/ 0 h 3065488"/>
              <a:gd name="connsiteX1" fmla="*/ 1019332 w 1019332"/>
              <a:gd name="connsiteY1" fmla="*/ 3065488 h 3065488"/>
              <a:gd name="connsiteX2" fmla="*/ 786984 w 1019332"/>
              <a:gd name="connsiteY2" fmla="*/ 3057993 h 3065488"/>
              <a:gd name="connsiteX3" fmla="*/ 0 w 1019332"/>
              <a:gd name="connsiteY3" fmla="*/ 0 h 306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9332" h="3065488">
                <a:moveTo>
                  <a:pt x="0" y="0"/>
                </a:moveTo>
                <a:lnTo>
                  <a:pt x="1019332" y="3065488"/>
                </a:lnTo>
                <a:lnTo>
                  <a:pt x="786984" y="3057993"/>
                </a:lnTo>
                <a:lnTo>
                  <a:pt x="0" y="0"/>
                </a:lnTo>
                <a:close/>
              </a:path>
            </a:pathLst>
          </a:custGeom>
          <a:pattFill prst="dkDnDiag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 51"/>
          <p:cNvSpPr/>
          <p:nvPr/>
        </p:nvSpPr>
        <p:spPr>
          <a:xfrm>
            <a:off x="4575544" y="5473626"/>
            <a:ext cx="233443" cy="89941"/>
          </a:xfrm>
          <a:custGeom>
            <a:avLst/>
            <a:gdLst>
              <a:gd name="connsiteX0" fmla="*/ 0 w 254833"/>
              <a:gd name="connsiteY0" fmla="*/ 0 h 97436"/>
              <a:gd name="connsiteX1" fmla="*/ 7495 w 254833"/>
              <a:gd name="connsiteY1" fmla="*/ 97436 h 97436"/>
              <a:gd name="connsiteX2" fmla="*/ 254833 w 254833"/>
              <a:gd name="connsiteY2" fmla="*/ 97436 h 97436"/>
              <a:gd name="connsiteX3" fmla="*/ 254833 w 254833"/>
              <a:gd name="connsiteY3" fmla="*/ 22485 h 97436"/>
              <a:gd name="connsiteX4" fmla="*/ 254833 w 254833"/>
              <a:gd name="connsiteY4" fmla="*/ 29980 h 97436"/>
              <a:gd name="connsiteX0" fmla="*/ 3770 w 247338"/>
              <a:gd name="connsiteY0" fmla="*/ 0 h 97436"/>
              <a:gd name="connsiteX1" fmla="*/ 0 w 247338"/>
              <a:gd name="connsiteY1" fmla="*/ 97436 h 97436"/>
              <a:gd name="connsiteX2" fmla="*/ 247338 w 247338"/>
              <a:gd name="connsiteY2" fmla="*/ 97436 h 97436"/>
              <a:gd name="connsiteX3" fmla="*/ 247338 w 247338"/>
              <a:gd name="connsiteY3" fmla="*/ 22485 h 97436"/>
              <a:gd name="connsiteX4" fmla="*/ 247338 w 247338"/>
              <a:gd name="connsiteY4" fmla="*/ 29980 h 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338" h="97436">
                <a:moveTo>
                  <a:pt x="3770" y="0"/>
                </a:moveTo>
                <a:lnTo>
                  <a:pt x="0" y="97436"/>
                </a:lnTo>
                <a:lnTo>
                  <a:pt x="247338" y="97436"/>
                </a:lnTo>
                <a:lnTo>
                  <a:pt x="247338" y="22485"/>
                </a:lnTo>
                <a:lnTo>
                  <a:pt x="247338" y="2998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4350221" y="5633379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angular bin </a:t>
            </a:r>
            <a:r>
              <a:rPr lang="en-US" b="1" dirty="0" err="1"/>
              <a:t>i</a:t>
            </a:r>
            <a:endParaRPr lang="en-US" b="1" dirty="0"/>
          </a:p>
        </p:txBody>
      </p:sp>
      <p:cxnSp>
        <p:nvCxnSpPr>
          <p:cNvPr id="55" name="Straight Connector 54"/>
          <p:cNvCxnSpPr/>
          <p:nvPr/>
        </p:nvCxnSpPr>
        <p:spPr>
          <a:xfrm>
            <a:off x="4692265" y="5563567"/>
            <a:ext cx="0" cy="1396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V="1">
            <a:off x="4336458" y="3962400"/>
            <a:ext cx="616542" cy="1915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644729" y="3606330"/>
            <a:ext cx="1830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solid angle </a:t>
            </a:r>
            <a:r>
              <a:rPr lang="en-US" b="1" dirty="0" err="1"/>
              <a:t>i</a:t>
            </a:r>
            <a:r>
              <a:rPr lang="en-US" b="1" dirty="0"/>
              <a:t> (rad)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1289" y="1732622"/>
            <a:ext cx="2619464" cy="3633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/>
          <p:cNvCxnSpPr/>
          <p:nvPr/>
        </p:nvCxnSpPr>
        <p:spPr>
          <a:xfrm>
            <a:off x="2594386" y="2145875"/>
            <a:ext cx="685800" cy="6186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379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</a:t>
            </a:r>
            <a:r>
              <a:rPr lang="en-US" i="1" dirty="0"/>
              <a:t>Derive spectral distribution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914400"/>
            <a:ext cx="7122738" cy="26748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234092"/>
            <a:ext cx="3135204" cy="2209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303" y="457201"/>
            <a:ext cx="6941954" cy="64629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021899" y="1356519"/>
            <a:ext cx="5867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1600200" y="1737518"/>
            <a:ext cx="1808769" cy="199628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4798" y="3665426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Don’t forget to select particle type!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439" y="609600"/>
            <a:ext cx="7428579" cy="57402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</a:t>
            </a:r>
            <a:r>
              <a:rPr lang="en-US" i="1" dirty="0"/>
              <a:t>Derive spectral distribution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2743200" y="2904460"/>
            <a:ext cx="381000" cy="1219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H="1" flipV="1">
            <a:off x="2183844" y="2743200"/>
            <a:ext cx="559356" cy="69466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8709" y="1539441"/>
            <a:ext cx="2209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statistically-independent histories (i.e. e- incident on target)</a:t>
            </a:r>
          </a:p>
        </p:txBody>
      </p:sp>
    </p:spTree>
    <p:extLst>
      <p:ext uri="{BB962C8B-B14F-4D97-AF65-F5344CB8AC3E}">
        <p14:creationId xmlns:p14="http://schemas.microsoft.com/office/powerpoint/2010/main" val="2118986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</a:t>
            </a:r>
            <a:r>
              <a:rPr lang="en-US" i="1" dirty="0"/>
              <a:t>Derive spectral distribution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74" y="531610"/>
            <a:ext cx="6654642" cy="6172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666" y="2286000"/>
            <a:ext cx="6741334" cy="235179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86200" y="3058633"/>
            <a:ext cx="2286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H="1" flipV="1">
            <a:off x="4114800" y="3592034"/>
            <a:ext cx="2708058" cy="108053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28174" y="4343400"/>
            <a:ext cx="2209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LATCH </a:t>
            </a:r>
            <a:r>
              <a:rPr lang="en-US" b="1" dirty="0">
                <a:solidFill>
                  <a:srgbClr val="FF0000"/>
                </a:solidFill>
              </a:rPr>
              <a:t>bit 1 associated with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765" y="1020762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a typeface="Courier New" charset="0"/>
                <a:cs typeface="Courier New" charset="0"/>
              </a:rPr>
              <a:t>Plot secondary photons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35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556419"/>
            <a:ext cx="7525964" cy="58155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</a:t>
            </a:r>
            <a:r>
              <a:rPr lang="en-US" i="1" dirty="0"/>
              <a:t>Derive spectral distribution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185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X-Y Scatter plot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7169" y="897565"/>
            <a:ext cx="7122738" cy="267482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4540657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defaults to plot all photons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378" y="2230326"/>
            <a:ext cx="3239244" cy="2273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934596"/>
            <a:ext cx="6828369" cy="59234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376084" y="5418356"/>
            <a:ext cx="58674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2190378" y="4953000"/>
            <a:ext cx="1185706" cy="65585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391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399"/>
            <a:ext cx="7924799" cy="612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58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parameters for a number of particles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847060"/>
            <a:ext cx="7122738" cy="26748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181595"/>
            <a:ext cx="3479800" cy="24323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286000"/>
            <a:ext cx="5332965" cy="39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083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parameters for a number of particles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34" y="685800"/>
            <a:ext cx="7946065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489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25217</TotalTime>
  <Words>484</Words>
  <Application>Microsoft Office PowerPoint</Application>
  <PresentationFormat>On-screen Show (4:3)</PresentationFormat>
  <Paragraphs>99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Cambria Math</vt:lpstr>
      <vt:lpstr>Comic Sans MS</vt:lpstr>
      <vt:lpstr>Courier New</vt:lpstr>
      <vt:lpstr>Symbol</vt:lpstr>
      <vt:lpstr>Office Theme</vt:lpstr>
      <vt:lpstr>PowerPoint Presentation</vt:lpstr>
      <vt:lpstr>beamdp analyzes data stored in (2D) phase space files</vt:lpstr>
      <vt:lpstr>Spatial vs Spectral quantities</vt:lpstr>
      <vt:lpstr>PowerPoint Presentation</vt:lpstr>
      <vt:lpstr>PowerPoint Presentation</vt:lpstr>
      <vt:lpstr>PowerPoint Presentation</vt:lpstr>
      <vt:lpstr>PowerPoint Presentation</vt:lpstr>
      <vt:lpstr>LATCH Review I</vt:lpstr>
      <vt:lpstr>LATCH Review II</vt:lpstr>
      <vt:lpstr>PowerPoint Presentation</vt:lpstr>
      <vt:lpstr>PowerPoint Presentation</vt:lpstr>
      <vt:lpstr>PowerPoint Presentation</vt:lpstr>
      <vt:lpstr>PowerPoint Presentation</vt:lpstr>
      <vt:lpstr>Input/Output files</vt:lpstr>
      <vt:lpstr>Plot type</vt:lpstr>
      <vt:lpstr>Fluence type</vt:lpstr>
      <vt:lpstr>Angular distributions</vt:lpstr>
      <vt:lpstr>Example:  Derive spectral distribution</vt:lpstr>
      <vt:lpstr>Example:  Derive spectral distribution</vt:lpstr>
      <vt:lpstr>Example:  Derive spectral distribution</vt:lpstr>
      <vt:lpstr>Example:  Derive spectral distribution</vt:lpstr>
      <vt:lpstr>X-Y Scatter plot</vt:lpstr>
      <vt:lpstr>PowerPoint Presentation</vt:lpstr>
      <vt:lpstr>List parameters for a number of particles</vt:lpstr>
      <vt:lpstr>List parameters for a number of particles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tessierf</dc:creator>
  <cp:lastModifiedBy>Townson, Reid</cp:lastModifiedBy>
  <cp:revision>159</cp:revision>
  <dcterms:created xsi:type="dcterms:W3CDTF">2011-10-06T22:37:20Z</dcterms:created>
  <dcterms:modified xsi:type="dcterms:W3CDTF">2026-03-29T15:27:56Z</dcterms:modified>
</cp:coreProperties>
</file>