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CF4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rgbClr val="E8ECF4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11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" name="Shape 6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0" y="381000"/>
            <a:ext cx="9144000" cy="533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SzTx/>
              <a:buFontTx/>
              <a:buNone/>
              <a:defRPr sz="2800" b="1"/>
            </a:lvl1pPr>
            <a:lvl2pPr marL="742950" indent="-285750" algn="ctr">
              <a:spcBef>
                <a:spcPts val="600"/>
              </a:spcBef>
              <a:buFontTx/>
              <a:defRPr sz="2800" b="1"/>
            </a:lvl2pPr>
            <a:lvl3pPr marL="1181100" indent="-266700" algn="ctr">
              <a:spcBef>
                <a:spcPts val="600"/>
              </a:spcBef>
              <a:buFontTx/>
              <a:defRPr sz="2800" b="1"/>
            </a:lvl3pPr>
            <a:lvl4pPr marL="1691639" indent="-320039" algn="ctr">
              <a:spcBef>
                <a:spcPts val="600"/>
              </a:spcBef>
              <a:buFontTx/>
              <a:defRPr sz="2800" b="1"/>
            </a:lvl4pPr>
            <a:lvl5pPr marL="2148839" indent="-320039" algn="ctr">
              <a:spcBef>
                <a:spcPts val="600"/>
              </a:spcBef>
              <a:buFontTx/>
              <a:defRPr sz="28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traight Connector 6"/>
          <p:cNvSpPr/>
          <p:nvPr/>
        </p:nvSpPr>
        <p:spPr>
          <a:xfrm>
            <a:off x="533400" y="6248400"/>
            <a:ext cx="8077201" cy="0"/>
          </a:xfrm>
          <a:prstGeom prst="line">
            <a:avLst/>
          </a:prstGeom>
          <a:ln w="635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" name="TextBox 20"/>
          <p:cNvSpPr txBox="1"/>
          <p:nvPr/>
        </p:nvSpPr>
        <p:spPr>
          <a:xfrm>
            <a:off x="533400" y="6321551"/>
            <a:ext cx="67665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400"/>
            </a:lvl1pPr>
          </a:lstStyle>
          <a:p>
            <a:r>
              <a:t>Lecture 6: BEAMnrc introduction and main inputs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400"/>
            <a:ext cx="192932" cy="189359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14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5" name="Text Placeholder 7"/>
          <p:cNvSpPr>
            <a:spLocks noGrp="1"/>
          </p:cNvSpPr>
          <p:nvPr>
            <p:ph type="body" idx="21"/>
          </p:nvPr>
        </p:nvSpPr>
        <p:spPr>
          <a:xfrm>
            <a:off x="533400" y="914400"/>
            <a:ext cx="8077200" cy="510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indent="0">
              <a:spcBef>
                <a:spcPts val="2400"/>
              </a:spcBef>
              <a:buSzTx/>
              <a:buFontTx/>
              <a:buNone/>
              <a:defRPr sz="2000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0" y="381000"/>
            <a:ext cx="9144000" cy="533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SzTx/>
              <a:buFontTx/>
              <a:buNone/>
              <a:defRPr sz="2800" b="1"/>
            </a:lvl1pPr>
            <a:lvl2pPr marL="742950" indent="-285750" algn="ctr">
              <a:spcBef>
                <a:spcPts val="600"/>
              </a:spcBef>
              <a:buFontTx/>
              <a:defRPr sz="2800" b="1"/>
            </a:lvl2pPr>
            <a:lvl3pPr marL="1181100" indent="-266700" algn="ctr">
              <a:spcBef>
                <a:spcPts val="600"/>
              </a:spcBef>
              <a:buFontTx/>
              <a:defRPr sz="2800" b="1"/>
            </a:lvl3pPr>
            <a:lvl4pPr marL="1691639" indent="-320039" algn="ctr">
              <a:spcBef>
                <a:spcPts val="600"/>
              </a:spcBef>
              <a:buFontTx/>
              <a:defRPr sz="2800" b="1"/>
            </a:lvl4pPr>
            <a:lvl5pPr marL="2148839" indent="-320039" algn="ctr">
              <a:spcBef>
                <a:spcPts val="600"/>
              </a:spcBef>
              <a:buFontTx/>
              <a:defRPr sz="28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traight Connector 6"/>
          <p:cNvSpPr/>
          <p:nvPr/>
        </p:nvSpPr>
        <p:spPr>
          <a:xfrm>
            <a:off x="533400" y="6248400"/>
            <a:ext cx="8077201" cy="0"/>
          </a:xfrm>
          <a:prstGeom prst="line">
            <a:avLst/>
          </a:prstGeom>
          <a:ln w="635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" name="TextBox 20"/>
          <p:cNvSpPr txBox="1"/>
          <p:nvPr/>
        </p:nvSpPr>
        <p:spPr>
          <a:xfrm>
            <a:off x="533400" y="6321551"/>
            <a:ext cx="67665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400"/>
            </a:lvl1pPr>
          </a:lstStyle>
          <a:p>
            <a:r>
              <a:t>Lecture 6: BEAMnrc introduction and main inputs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400"/>
            <a:ext cx="192932" cy="189359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14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3" name="Text Placeholder 7"/>
          <p:cNvSpPr>
            <a:spLocks noGrp="1"/>
          </p:cNvSpPr>
          <p:nvPr>
            <p:ph type="body" idx="21"/>
          </p:nvPr>
        </p:nvSpPr>
        <p:spPr>
          <a:xfrm>
            <a:off x="533400" y="914400"/>
            <a:ext cx="8077200" cy="510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indent="0">
              <a:spcBef>
                <a:spcPts val="2400"/>
              </a:spcBef>
              <a:buSzTx/>
              <a:buFontTx/>
              <a:buNone/>
              <a:defRPr sz="2000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0" y="381000"/>
            <a:ext cx="9144000" cy="533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SzTx/>
              <a:buFontTx/>
              <a:buNone/>
              <a:defRPr sz="2800" b="1"/>
            </a:lvl1pPr>
            <a:lvl2pPr marL="742950" indent="-285750" algn="ctr">
              <a:spcBef>
                <a:spcPts val="600"/>
              </a:spcBef>
              <a:buFontTx/>
              <a:defRPr sz="2800" b="1"/>
            </a:lvl2pPr>
            <a:lvl3pPr marL="1181100" indent="-266700" algn="ctr">
              <a:spcBef>
                <a:spcPts val="600"/>
              </a:spcBef>
              <a:buFontTx/>
              <a:defRPr sz="2800" b="1"/>
            </a:lvl3pPr>
            <a:lvl4pPr marL="1691639" indent="-320039" algn="ctr">
              <a:spcBef>
                <a:spcPts val="600"/>
              </a:spcBef>
              <a:buFontTx/>
              <a:defRPr sz="2800" b="1"/>
            </a:lvl4pPr>
            <a:lvl5pPr marL="2148839" indent="-320039" algn="ctr">
              <a:spcBef>
                <a:spcPts val="600"/>
              </a:spcBef>
              <a:buFontTx/>
              <a:defRPr sz="28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traight Connector 6"/>
          <p:cNvSpPr/>
          <p:nvPr/>
        </p:nvSpPr>
        <p:spPr>
          <a:xfrm>
            <a:off x="533400" y="6248400"/>
            <a:ext cx="8077201" cy="0"/>
          </a:xfrm>
          <a:prstGeom prst="line">
            <a:avLst/>
          </a:prstGeom>
          <a:ln w="635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" name="TextBox 20"/>
          <p:cNvSpPr txBox="1"/>
          <p:nvPr/>
        </p:nvSpPr>
        <p:spPr>
          <a:xfrm>
            <a:off x="533400" y="6321551"/>
            <a:ext cx="67665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400"/>
            </a:lvl1pPr>
          </a:lstStyle>
          <a:p>
            <a:r>
              <a:t>Lecture 6: BEAMnrc introduction and main inputs</a:t>
            </a:r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400"/>
            <a:ext cx="192932" cy="189359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14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1" name="Text Placeholder 7"/>
          <p:cNvSpPr>
            <a:spLocks noGrp="1"/>
          </p:cNvSpPr>
          <p:nvPr>
            <p:ph type="body" idx="21"/>
          </p:nvPr>
        </p:nvSpPr>
        <p:spPr>
          <a:xfrm>
            <a:off x="533400" y="914400"/>
            <a:ext cx="8077200" cy="510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indent="0">
              <a:spcBef>
                <a:spcPts val="2400"/>
              </a:spcBef>
              <a:buSzTx/>
              <a:buFontTx/>
              <a:buNone/>
              <a:defRPr sz="2000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4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5" Type="http://schemas.openxmlformats.org/officeDocument/2006/relationships/image" Target="../media/image3.png"/><Relationship Id="rId4" Type="http://schemas.openxmlformats.org/officeDocument/2006/relationships/image" Target="../media/image5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0CA06E-E876-40C0-9A4E-B0113A736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" y="0"/>
            <a:ext cx="9137968" cy="6858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0" y="-3175"/>
            <a:ext cx="9156700" cy="68643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Picture 3" descr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68892">
            <a:off x="1170208" y="3867415"/>
            <a:ext cx="1678192" cy="9507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83599" y="6248399"/>
            <a:ext cx="12700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  <p:sp>
        <p:nvSpPr>
          <p:cNvPr id="73" name="Straight Connector 47"/>
          <p:cNvSpPr/>
          <p:nvPr/>
        </p:nvSpPr>
        <p:spPr>
          <a:xfrm>
            <a:off x="1943100" y="1371600"/>
            <a:ext cx="5143501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BEAMnrc models a stack of component modules (CM)</a:t>
            </a:r>
          </a:p>
        </p:txBody>
      </p:sp>
      <p:grpSp>
        <p:nvGrpSpPr>
          <p:cNvPr id="77" name="Group 29"/>
          <p:cNvGrpSpPr/>
          <p:nvPr/>
        </p:nvGrpSpPr>
        <p:grpSpPr>
          <a:xfrm>
            <a:off x="2592374" y="1371600"/>
            <a:ext cx="3122626" cy="457200"/>
            <a:chOff x="0" y="0"/>
            <a:chExt cx="3122625" cy="457200"/>
          </a:xfrm>
        </p:grpSpPr>
        <p:sp>
          <p:nvSpPr>
            <p:cNvPr id="75" name="Rectangle 2"/>
            <p:cNvSpPr/>
            <p:nvPr/>
          </p:nvSpPr>
          <p:spPr>
            <a:xfrm>
              <a:off x="722325" y="0"/>
              <a:ext cx="2400301" cy="457200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6" name="TextBox 30"/>
            <p:cNvSpPr txBox="1"/>
            <p:nvPr/>
          </p:nvSpPr>
          <p:spPr>
            <a:xfrm>
              <a:off x="0" y="114299"/>
              <a:ext cx="501043" cy="2416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/>
              </a:lvl1pPr>
            </a:lstStyle>
            <a:p>
              <a:r>
                <a:t>CM 1</a:t>
              </a:r>
            </a:p>
          </p:txBody>
        </p:sp>
      </p:grpSp>
      <p:grpSp>
        <p:nvGrpSpPr>
          <p:cNvPr id="80" name="Group 37"/>
          <p:cNvGrpSpPr/>
          <p:nvPr/>
        </p:nvGrpSpPr>
        <p:grpSpPr>
          <a:xfrm>
            <a:off x="2592374" y="1828799"/>
            <a:ext cx="3122626" cy="241649"/>
            <a:chOff x="0" y="0"/>
            <a:chExt cx="3122625" cy="241647"/>
          </a:xfrm>
        </p:grpSpPr>
        <p:sp>
          <p:nvSpPr>
            <p:cNvPr id="78" name="Rectangle 4"/>
            <p:cNvSpPr/>
            <p:nvPr/>
          </p:nvSpPr>
          <p:spPr>
            <a:xfrm>
              <a:off x="722325" y="0"/>
              <a:ext cx="2400301" cy="228601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9" name="TextBox 31"/>
            <p:cNvSpPr txBox="1"/>
            <p:nvPr/>
          </p:nvSpPr>
          <p:spPr>
            <a:xfrm>
              <a:off x="0" y="0"/>
              <a:ext cx="501043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/>
              </a:lvl1pPr>
            </a:lstStyle>
            <a:p>
              <a:r>
                <a:t>CM 2</a:t>
              </a:r>
            </a:p>
          </p:txBody>
        </p:sp>
      </p:grpSp>
      <p:grpSp>
        <p:nvGrpSpPr>
          <p:cNvPr id="83" name="Group 38"/>
          <p:cNvGrpSpPr/>
          <p:nvPr/>
        </p:nvGrpSpPr>
        <p:grpSpPr>
          <a:xfrm>
            <a:off x="2592374" y="2057400"/>
            <a:ext cx="3122626" cy="1028700"/>
            <a:chOff x="0" y="0"/>
            <a:chExt cx="3122625" cy="1028700"/>
          </a:xfrm>
        </p:grpSpPr>
        <p:sp>
          <p:nvSpPr>
            <p:cNvPr id="81" name="Rectangle 5"/>
            <p:cNvSpPr/>
            <p:nvPr/>
          </p:nvSpPr>
          <p:spPr>
            <a:xfrm>
              <a:off x="722325" y="0"/>
              <a:ext cx="2400301" cy="1028700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2" name="TextBox 32"/>
            <p:cNvSpPr txBox="1"/>
            <p:nvPr/>
          </p:nvSpPr>
          <p:spPr>
            <a:xfrm>
              <a:off x="0" y="342899"/>
              <a:ext cx="501043" cy="2416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/>
              </a:lvl1pPr>
            </a:lstStyle>
            <a:p>
              <a:r>
                <a:t>CM 3</a:t>
              </a:r>
            </a:p>
          </p:txBody>
        </p:sp>
      </p:grpSp>
      <p:grpSp>
        <p:nvGrpSpPr>
          <p:cNvPr id="86" name="Group 39"/>
          <p:cNvGrpSpPr/>
          <p:nvPr/>
        </p:nvGrpSpPr>
        <p:grpSpPr>
          <a:xfrm>
            <a:off x="2592374" y="3086100"/>
            <a:ext cx="3122626" cy="457200"/>
            <a:chOff x="0" y="0"/>
            <a:chExt cx="3122625" cy="457200"/>
          </a:xfrm>
        </p:grpSpPr>
        <p:sp>
          <p:nvSpPr>
            <p:cNvPr id="84" name="Rectangle 6"/>
            <p:cNvSpPr/>
            <p:nvPr/>
          </p:nvSpPr>
          <p:spPr>
            <a:xfrm>
              <a:off x="722325" y="0"/>
              <a:ext cx="2400301" cy="457200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5" name="TextBox 33"/>
            <p:cNvSpPr txBox="1"/>
            <p:nvPr/>
          </p:nvSpPr>
          <p:spPr>
            <a:xfrm>
              <a:off x="0" y="114299"/>
              <a:ext cx="501043" cy="2416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/>
              </a:lvl1pPr>
            </a:lstStyle>
            <a:p>
              <a:r>
                <a:t>CM 4</a:t>
              </a:r>
            </a:p>
          </p:txBody>
        </p:sp>
      </p:grpSp>
      <p:grpSp>
        <p:nvGrpSpPr>
          <p:cNvPr id="89" name="Group 40"/>
          <p:cNvGrpSpPr/>
          <p:nvPr/>
        </p:nvGrpSpPr>
        <p:grpSpPr>
          <a:xfrm>
            <a:off x="2592374" y="3543299"/>
            <a:ext cx="3122626" cy="342901"/>
            <a:chOff x="0" y="0"/>
            <a:chExt cx="3122625" cy="342900"/>
          </a:xfrm>
        </p:grpSpPr>
        <p:sp>
          <p:nvSpPr>
            <p:cNvPr id="87" name="Rectangle 7"/>
            <p:cNvSpPr/>
            <p:nvPr/>
          </p:nvSpPr>
          <p:spPr>
            <a:xfrm>
              <a:off x="722325" y="0"/>
              <a:ext cx="2400301" cy="342900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8" name="TextBox 34"/>
            <p:cNvSpPr txBox="1"/>
            <p:nvPr/>
          </p:nvSpPr>
          <p:spPr>
            <a:xfrm>
              <a:off x="0" y="-1"/>
              <a:ext cx="501043" cy="2416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/>
              </a:lvl1pPr>
            </a:lstStyle>
            <a:p>
              <a:r>
                <a:t>CM 5</a:t>
              </a:r>
            </a:p>
          </p:txBody>
        </p:sp>
      </p:grpSp>
      <p:grpSp>
        <p:nvGrpSpPr>
          <p:cNvPr id="92" name="Group 41"/>
          <p:cNvGrpSpPr/>
          <p:nvPr/>
        </p:nvGrpSpPr>
        <p:grpSpPr>
          <a:xfrm>
            <a:off x="2592374" y="3886200"/>
            <a:ext cx="3122626" cy="457200"/>
            <a:chOff x="0" y="0"/>
            <a:chExt cx="3122625" cy="457200"/>
          </a:xfrm>
        </p:grpSpPr>
        <p:sp>
          <p:nvSpPr>
            <p:cNvPr id="90" name="Rectangle 8"/>
            <p:cNvSpPr/>
            <p:nvPr/>
          </p:nvSpPr>
          <p:spPr>
            <a:xfrm>
              <a:off x="722325" y="0"/>
              <a:ext cx="2400301" cy="457200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1" name="TextBox 35"/>
            <p:cNvSpPr txBox="1"/>
            <p:nvPr/>
          </p:nvSpPr>
          <p:spPr>
            <a:xfrm>
              <a:off x="0" y="114299"/>
              <a:ext cx="501043" cy="2416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/>
              </a:lvl1pPr>
            </a:lstStyle>
            <a:p>
              <a:r>
                <a:t>CM 6</a:t>
              </a:r>
            </a:p>
          </p:txBody>
        </p:sp>
      </p:grpSp>
      <p:grpSp>
        <p:nvGrpSpPr>
          <p:cNvPr id="95" name="Group 42"/>
          <p:cNvGrpSpPr/>
          <p:nvPr/>
        </p:nvGrpSpPr>
        <p:grpSpPr>
          <a:xfrm>
            <a:off x="2592374" y="4343400"/>
            <a:ext cx="3122626" cy="1028700"/>
            <a:chOff x="0" y="0"/>
            <a:chExt cx="3122625" cy="1028700"/>
          </a:xfrm>
        </p:grpSpPr>
        <p:sp>
          <p:nvSpPr>
            <p:cNvPr id="93" name="Rectangle 9"/>
            <p:cNvSpPr/>
            <p:nvPr/>
          </p:nvSpPr>
          <p:spPr>
            <a:xfrm>
              <a:off x="722325" y="0"/>
              <a:ext cx="2400301" cy="1028700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4" name="TextBox 36"/>
            <p:cNvSpPr txBox="1"/>
            <p:nvPr/>
          </p:nvSpPr>
          <p:spPr>
            <a:xfrm>
              <a:off x="0" y="342899"/>
              <a:ext cx="501043" cy="2416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/>
              </a:lvl1pPr>
            </a:lstStyle>
            <a:p>
              <a:r>
                <a:t>CM 7</a:t>
              </a:r>
            </a:p>
          </p:txBody>
        </p:sp>
      </p:grpSp>
      <p:sp>
        <p:nvSpPr>
          <p:cNvPr id="96" name="Oval 44"/>
          <p:cNvSpPr/>
          <p:nvPr/>
        </p:nvSpPr>
        <p:spPr>
          <a:xfrm>
            <a:off x="4457700" y="1314450"/>
            <a:ext cx="114300" cy="114300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" name="Straight Arrow Connector 45"/>
          <p:cNvSpPr/>
          <p:nvPr/>
        </p:nvSpPr>
        <p:spPr>
          <a:xfrm flipH="1">
            <a:off x="4514850" y="1428749"/>
            <a:ext cx="1" cy="4328585"/>
          </a:xfrm>
          <a:prstGeom prst="line">
            <a:avLst/>
          </a:prstGeom>
          <a:ln w="28575">
            <a:solidFill>
              <a:srgbClr val="000000"/>
            </a:solidFill>
            <a:tailEnd type="stealt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8" name="TextBox 46"/>
          <p:cNvSpPr txBox="1"/>
          <p:nvPr/>
        </p:nvSpPr>
        <p:spPr>
          <a:xfrm>
            <a:off x="4686300" y="5600700"/>
            <a:ext cx="12700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200"/>
            </a:lvl1pPr>
          </a:lstStyle>
          <a:p>
            <a:r>
              <a:t>z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1" animBg="1" advAuto="0"/>
      <p:bldP spid="80" grpId="2" animBg="1" advAuto="0"/>
      <p:bldP spid="83" grpId="3" animBg="1" advAuto="0"/>
      <p:bldP spid="86" grpId="4" animBg="1" advAuto="0"/>
      <p:bldP spid="89" grpId="5" animBg="1" advAuto="0"/>
      <p:bldP spid="92" grpId="6" animBg="1" advAuto="0"/>
      <p:bldP spid="95" grpId="7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83599" y="6248399"/>
            <a:ext cx="12700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sp>
        <p:nvSpPr>
          <p:cNvPr id="101" name="Rectangle 38"/>
          <p:cNvSpPr/>
          <p:nvPr/>
        </p:nvSpPr>
        <p:spPr>
          <a:xfrm>
            <a:off x="3314700" y="1371600"/>
            <a:ext cx="2400300" cy="4000500"/>
          </a:xfrm>
          <a:prstGeom prst="rect">
            <a:avLst/>
          </a:prstGeom>
          <a:solidFill>
            <a:srgbClr val="CAF2C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2" name="Straight Connector 23"/>
          <p:cNvSpPr/>
          <p:nvPr/>
        </p:nvSpPr>
        <p:spPr>
          <a:xfrm>
            <a:off x="1943100" y="1371600"/>
            <a:ext cx="5143501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3" name="Rectangle 3"/>
          <p:cNvSpPr/>
          <p:nvPr/>
        </p:nvSpPr>
        <p:spPr>
          <a:xfrm>
            <a:off x="3314700" y="1371600"/>
            <a:ext cx="2400300" cy="457200"/>
          </a:xfrm>
          <a:prstGeom prst="rect">
            <a:avLst/>
          </a:prstGeom>
          <a:solidFill>
            <a:srgbClr val="FAC09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4" name="Rectangle 11"/>
          <p:cNvSpPr/>
          <p:nvPr/>
        </p:nvSpPr>
        <p:spPr>
          <a:xfrm>
            <a:off x="3314700" y="1828800"/>
            <a:ext cx="2400300" cy="228600"/>
          </a:xfrm>
          <a:prstGeom prst="rect">
            <a:avLst/>
          </a:prstGeom>
          <a:solidFill>
            <a:srgbClr val="FAC09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5" name="Rectangle 12"/>
          <p:cNvSpPr/>
          <p:nvPr/>
        </p:nvSpPr>
        <p:spPr>
          <a:xfrm>
            <a:off x="3314700" y="2514600"/>
            <a:ext cx="2400300" cy="571500"/>
          </a:xfrm>
          <a:prstGeom prst="rect">
            <a:avLst/>
          </a:prstGeom>
          <a:solidFill>
            <a:srgbClr val="FAC09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6" name="Rectangle 13"/>
          <p:cNvSpPr/>
          <p:nvPr/>
        </p:nvSpPr>
        <p:spPr>
          <a:xfrm>
            <a:off x="3314700" y="3314700"/>
            <a:ext cx="2400300" cy="228600"/>
          </a:xfrm>
          <a:prstGeom prst="rect">
            <a:avLst/>
          </a:prstGeom>
          <a:solidFill>
            <a:srgbClr val="FAC09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7" name="Rectangle 14"/>
          <p:cNvSpPr/>
          <p:nvPr/>
        </p:nvSpPr>
        <p:spPr>
          <a:xfrm>
            <a:off x="3314700" y="3543300"/>
            <a:ext cx="2400300" cy="342900"/>
          </a:xfrm>
          <a:prstGeom prst="rect">
            <a:avLst/>
          </a:prstGeom>
          <a:solidFill>
            <a:srgbClr val="FAC09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8" name="Rectangle 15"/>
          <p:cNvSpPr/>
          <p:nvPr/>
        </p:nvSpPr>
        <p:spPr>
          <a:xfrm>
            <a:off x="3314700" y="4000500"/>
            <a:ext cx="2400300" cy="1371600"/>
          </a:xfrm>
          <a:prstGeom prst="rect">
            <a:avLst/>
          </a:prstGeom>
          <a:solidFill>
            <a:srgbClr val="FAC09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BEAMnrc models a stack of component modules (CM)</a:t>
            </a:r>
          </a:p>
        </p:txBody>
      </p:sp>
      <p:sp>
        <p:nvSpPr>
          <p:cNvPr id="110" name="Rectangle 2"/>
          <p:cNvSpPr/>
          <p:nvPr/>
        </p:nvSpPr>
        <p:spPr>
          <a:xfrm>
            <a:off x="3314700" y="1371600"/>
            <a:ext cx="2400300" cy="45720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1" name="Rectangle 4"/>
          <p:cNvSpPr/>
          <p:nvPr/>
        </p:nvSpPr>
        <p:spPr>
          <a:xfrm>
            <a:off x="3314700" y="1828800"/>
            <a:ext cx="2400300" cy="22860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2" name="Rectangle 5"/>
          <p:cNvSpPr/>
          <p:nvPr/>
        </p:nvSpPr>
        <p:spPr>
          <a:xfrm>
            <a:off x="3314700" y="2057400"/>
            <a:ext cx="2400300" cy="102870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3" name="Rectangle 6"/>
          <p:cNvSpPr/>
          <p:nvPr/>
        </p:nvSpPr>
        <p:spPr>
          <a:xfrm>
            <a:off x="3314700" y="3086100"/>
            <a:ext cx="2400300" cy="45720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4" name="Rectangle 7"/>
          <p:cNvSpPr/>
          <p:nvPr/>
        </p:nvSpPr>
        <p:spPr>
          <a:xfrm>
            <a:off x="3314700" y="3543300"/>
            <a:ext cx="2400300" cy="34290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5" name="Rectangle 8"/>
          <p:cNvSpPr/>
          <p:nvPr/>
        </p:nvSpPr>
        <p:spPr>
          <a:xfrm>
            <a:off x="3314700" y="3886200"/>
            <a:ext cx="2400300" cy="45720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6" name="Rectangle 9"/>
          <p:cNvSpPr/>
          <p:nvPr/>
        </p:nvSpPr>
        <p:spPr>
          <a:xfrm>
            <a:off x="3314700" y="4343400"/>
            <a:ext cx="2400300" cy="102870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20" name="Group 19"/>
          <p:cNvGrpSpPr/>
          <p:nvPr/>
        </p:nvGrpSpPr>
        <p:grpSpPr>
          <a:xfrm>
            <a:off x="4457700" y="1314450"/>
            <a:ext cx="355601" cy="4580186"/>
            <a:chOff x="0" y="0"/>
            <a:chExt cx="355600" cy="4580185"/>
          </a:xfrm>
        </p:grpSpPr>
        <p:sp>
          <p:nvSpPr>
            <p:cNvPr id="117" name="Oval 17"/>
            <p:cNvSpPr/>
            <p:nvPr/>
          </p:nvSpPr>
          <p:spPr>
            <a:xfrm>
              <a:off x="0" y="0"/>
              <a:ext cx="114300" cy="114300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8" name="Straight Arrow Connector 25"/>
            <p:cNvSpPr/>
            <p:nvPr/>
          </p:nvSpPr>
          <p:spPr>
            <a:xfrm flipH="1">
              <a:off x="57149" y="114299"/>
              <a:ext cx="2" cy="4328585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TextBox 28"/>
            <p:cNvSpPr txBox="1"/>
            <p:nvPr/>
          </p:nvSpPr>
          <p:spPr>
            <a:xfrm>
              <a:off x="228600" y="4286250"/>
              <a:ext cx="127001" cy="293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sz="2200"/>
              </a:lvl1pPr>
            </a:lstStyle>
            <a:p>
              <a:r>
                <a:t>z</a:t>
              </a:r>
            </a:p>
          </p:txBody>
        </p:sp>
      </p:grpSp>
      <p:sp>
        <p:nvSpPr>
          <p:cNvPr id="121" name="TextBox 30"/>
          <p:cNvSpPr txBox="1"/>
          <p:nvPr/>
        </p:nvSpPr>
        <p:spPr>
          <a:xfrm>
            <a:off x="2592374" y="1485899"/>
            <a:ext cx="501044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/>
            </a:lvl1pPr>
          </a:lstStyle>
          <a:p>
            <a:r>
              <a:t>CM 1</a:t>
            </a:r>
          </a:p>
        </p:txBody>
      </p:sp>
      <p:sp>
        <p:nvSpPr>
          <p:cNvPr id="122" name="TextBox 31"/>
          <p:cNvSpPr txBox="1"/>
          <p:nvPr/>
        </p:nvSpPr>
        <p:spPr>
          <a:xfrm>
            <a:off x="2592374" y="1828799"/>
            <a:ext cx="501044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/>
            </a:lvl1pPr>
          </a:lstStyle>
          <a:p>
            <a:r>
              <a:t>CM 2</a:t>
            </a:r>
          </a:p>
        </p:txBody>
      </p:sp>
      <p:sp>
        <p:nvSpPr>
          <p:cNvPr id="123" name="TextBox 32"/>
          <p:cNvSpPr txBox="1"/>
          <p:nvPr/>
        </p:nvSpPr>
        <p:spPr>
          <a:xfrm>
            <a:off x="2592374" y="2400299"/>
            <a:ext cx="501044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/>
            </a:lvl1pPr>
          </a:lstStyle>
          <a:p>
            <a:r>
              <a:t>CM 3</a:t>
            </a:r>
          </a:p>
        </p:txBody>
      </p:sp>
      <p:sp>
        <p:nvSpPr>
          <p:cNvPr id="124" name="TextBox 33"/>
          <p:cNvSpPr txBox="1"/>
          <p:nvPr/>
        </p:nvSpPr>
        <p:spPr>
          <a:xfrm>
            <a:off x="2592374" y="3200399"/>
            <a:ext cx="501044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/>
            </a:lvl1pPr>
          </a:lstStyle>
          <a:p>
            <a:r>
              <a:t>CM 4</a:t>
            </a:r>
          </a:p>
        </p:txBody>
      </p:sp>
      <p:sp>
        <p:nvSpPr>
          <p:cNvPr id="125" name="TextBox 34"/>
          <p:cNvSpPr txBox="1"/>
          <p:nvPr/>
        </p:nvSpPr>
        <p:spPr>
          <a:xfrm>
            <a:off x="2592374" y="3543299"/>
            <a:ext cx="501044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/>
            </a:lvl1pPr>
          </a:lstStyle>
          <a:p>
            <a:r>
              <a:t>CM 5</a:t>
            </a:r>
          </a:p>
        </p:txBody>
      </p:sp>
      <p:sp>
        <p:nvSpPr>
          <p:cNvPr id="126" name="TextBox 35"/>
          <p:cNvSpPr txBox="1"/>
          <p:nvPr/>
        </p:nvSpPr>
        <p:spPr>
          <a:xfrm>
            <a:off x="2592374" y="4000499"/>
            <a:ext cx="501044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/>
            </a:lvl1pPr>
          </a:lstStyle>
          <a:p>
            <a:r>
              <a:t>CM 6</a:t>
            </a:r>
          </a:p>
        </p:txBody>
      </p:sp>
      <p:sp>
        <p:nvSpPr>
          <p:cNvPr id="127" name="TextBox 36"/>
          <p:cNvSpPr txBox="1"/>
          <p:nvPr/>
        </p:nvSpPr>
        <p:spPr>
          <a:xfrm>
            <a:off x="2592374" y="4686299"/>
            <a:ext cx="501044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/>
            </a:lvl1pPr>
          </a:lstStyle>
          <a:p>
            <a:r>
              <a:t>CM 7</a:t>
            </a:r>
          </a:p>
        </p:txBody>
      </p:sp>
      <p:grpSp>
        <p:nvGrpSpPr>
          <p:cNvPr id="131" name="Group 41"/>
          <p:cNvGrpSpPr/>
          <p:nvPr/>
        </p:nvGrpSpPr>
        <p:grpSpPr>
          <a:xfrm>
            <a:off x="3314700" y="1371600"/>
            <a:ext cx="4166505" cy="1143001"/>
            <a:chOff x="0" y="0"/>
            <a:chExt cx="4166504" cy="1143000"/>
          </a:xfrm>
        </p:grpSpPr>
        <p:sp>
          <p:nvSpPr>
            <p:cNvPr id="128" name="Straight Arrow Connector 29"/>
            <p:cNvSpPr/>
            <p:nvPr/>
          </p:nvSpPr>
          <p:spPr>
            <a:xfrm flipH="1">
              <a:off x="2628900" y="0"/>
              <a:ext cx="1" cy="1143001"/>
            </a:xfrm>
            <a:prstGeom prst="line">
              <a:avLst/>
            </a:prstGeom>
            <a:noFill/>
            <a:ln w="28575" cap="flat">
              <a:solidFill>
                <a:srgbClr val="FF0000"/>
              </a:solidFill>
              <a:prstDash val="sysDash"/>
              <a:round/>
              <a:tailEnd type="stealth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TextBox 37"/>
            <p:cNvSpPr txBox="1"/>
            <p:nvPr/>
          </p:nvSpPr>
          <p:spPr>
            <a:xfrm>
              <a:off x="2815021" y="457199"/>
              <a:ext cx="1351484" cy="2416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>
                  <a:solidFill>
                    <a:srgbClr val="FF0000"/>
                  </a:solidFill>
                </a:defRPr>
              </a:lvl1pPr>
            </a:lstStyle>
            <a:p>
              <a:r>
                <a:t>Zmin for CM 3</a:t>
              </a:r>
            </a:p>
          </p:txBody>
        </p:sp>
        <p:sp>
          <p:nvSpPr>
            <p:cNvPr id="130" name="Straight Connector 39"/>
            <p:cNvSpPr/>
            <p:nvPr/>
          </p:nvSpPr>
          <p:spPr>
            <a:xfrm>
              <a:off x="0" y="1143000"/>
              <a:ext cx="3771901" cy="1"/>
            </a:xfrm>
            <a:prstGeom prst="line">
              <a:avLst/>
            </a:prstGeom>
            <a:noFill/>
            <a:ln w="1905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32" name="TextBox 42"/>
          <p:cNvSpPr txBox="1"/>
          <p:nvPr/>
        </p:nvSpPr>
        <p:spPr>
          <a:xfrm>
            <a:off x="3314700" y="2171699"/>
            <a:ext cx="2400300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b="1"/>
            </a:lvl1pPr>
          </a:lstStyle>
          <a:p>
            <a:r>
              <a:t>        default    medium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2" animBg="1" advAuto="0"/>
      <p:bldP spid="131" grpId="1" animBg="1" advAuto="0"/>
      <p:bldP spid="132" grpId="3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83599" y="6248399"/>
            <a:ext cx="12700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pic>
        <p:nvPicPr>
          <p:cNvPr id="135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2959418" cy="4884897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Each component module has a type and a name</a:t>
            </a:r>
          </a:p>
        </p:txBody>
      </p:sp>
      <p:sp>
        <p:nvSpPr>
          <p:cNvPr id="137" name="TextBox 50"/>
          <p:cNvSpPr txBox="1"/>
          <p:nvPr/>
        </p:nvSpPr>
        <p:spPr>
          <a:xfrm>
            <a:off x="4822245" y="1366232"/>
            <a:ext cx="2823989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</a:pPr>
            <a:r>
              <a:t>CM 1:	</a:t>
            </a:r>
            <a:r>
              <a:rPr b="1"/>
              <a:t>SLABS</a:t>
            </a:r>
            <a:r>
              <a:t> 	“target”</a:t>
            </a:r>
          </a:p>
        </p:txBody>
      </p:sp>
      <p:sp>
        <p:nvSpPr>
          <p:cNvPr id="138" name="TextBox 52"/>
          <p:cNvSpPr txBox="1"/>
          <p:nvPr/>
        </p:nvSpPr>
        <p:spPr>
          <a:xfrm>
            <a:off x="4822245" y="1699148"/>
            <a:ext cx="3016536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</a:pPr>
            <a:r>
              <a:t>CM 2:	</a:t>
            </a:r>
            <a:r>
              <a:rPr b="1"/>
              <a:t>CONS3R</a:t>
            </a:r>
            <a:r>
              <a:t>	“primcoll”</a:t>
            </a:r>
          </a:p>
        </p:txBody>
      </p:sp>
      <p:sp>
        <p:nvSpPr>
          <p:cNvPr id="139" name="TextBox 53"/>
          <p:cNvSpPr txBox="1"/>
          <p:nvPr/>
        </p:nvSpPr>
        <p:spPr>
          <a:xfrm>
            <a:off x="4822245" y="2032063"/>
            <a:ext cx="2952912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</a:pPr>
            <a:r>
              <a:t>CM 3:	</a:t>
            </a:r>
            <a:r>
              <a:rPr b="1"/>
              <a:t>FLATFILT</a:t>
            </a:r>
            <a:r>
              <a:t>	“flattenf”</a:t>
            </a:r>
          </a:p>
        </p:txBody>
      </p:sp>
      <p:sp>
        <p:nvSpPr>
          <p:cNvPr id="140" name="TextBox 54"/>
          <p:cNvSpPr txBox="1"/>
          <p:nvPr/>
        </p:nvSpPr>
        <p:spPr>
          <a:xfrm>
            <a:off x="4822245" y="2364980"/>
            <a:ext cx="3083397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</a:pPr>
            <a:r>
              <a:t>CM 4:	</a:t>
            </a:r>
            <a:r>
              <a:rPr b="1"/>
              <a:t>CHAMBER</a:t>
            </a:r>
            <a:r>
              <a:t>	“chamber”</a:t>
            </a:r>
          </a:p>
        </p:txBody>
      </p:sp>
      <p:sp>
        <p:nvSpPr>
          <p:cNvPr id="141" name="TextBox 55"/>
          <p:cNvSpPr txBox="1"/>
          <p:nvPr/>
        </p:nvSpPr>
        <p:spPr>
          <a:xfrm>
            <a:off x="4822245" y="2697895"/>
            <a:ext cx="2862610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</a:pPr>
            <a:r>
              <a:t>CM 5:	</a:t>
            </a:r>
            <a:r>
              <a:rPr b="1"/>
              <a:t>MIRROR</a:t>
            </a:r>
            <a:r>
              <a:t>	“mirror”</a:t>
            </a:r>
          </a:p>
        </p:txBody>
      </p:sp>
      <p:sp>
        <p:nvSpPr>
          <p:cNvPr id="142" name="TextBox 56"/>
          <p:cNvSpPr txBox="1"/>
          <p:nvPr/>
        </p:nvSpPr>
        <p:spPr>
          <a:xfrm>
            <a:off x="4822245" y="3030810"/>
            <a:ext cx="2969432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</a:pPr>
            <a:r>
              <a:t>CM 6:	</a:t>
            </a:r>
            <a:r>
              <a:rPr b="1"/>
              <a:t>JAWS</a:t>
            </a:r>
            <a:r>
              <a:t>	“secjaws”</a:t>
            </a:r>
          </a:p>
        </p:txBody>
      </p:sp>
      <p:sp>
        <p:nvSpPr>
          <p:cNvPr id="143" name="TextBox 57"/>
          <p:cNvSpPr txBox="1"/>
          <p:nvPr/>
        </p:nvSpPr>
        <p:spPr>
          <a:xfrm>
            <a:off x="4822245" y="4462128"/>
            <a:ext cx="2865066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</a:pPr>
            <a:r>
              <a:t>CM 7:	</a:t>
            </a:r>
            <a:r>
              <a:rPr b="1"/>
              <a:t>SLABS</a:t>
            </a:r>
            <a:r>
              <a:t>	“airslab”</a:t>
            </a:r>
          </a:p>
        </p:txBody>
      </p:sp>
      <p:sp>
        <p:nvSpPr>
          <p:cNvPr id="144" name="Elbow Connector 74"/>
          <p:cNvSpPr/>
          <p:nvPr/>
        </p:nvSpPr>
        <p:spPr>
          <a:xfrm>
            <a:off x="2929466" y="1659466"/>
            <a:ext cx="1803401" cy="177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8798" y="0"/>
                </a:lnTo>
                <a:lnTo>
                  <a:pt x="18798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rgbClr val="808080"/>
            </a:solidFill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45" name="Elbow Connector 76"/>
          <p:cNvSpPr/>
          <p:nvPr/>
        </p:nvSpPr>
        <p:spPr>
          <a:xfrm>
            <a:off x="2929466" y="1837266"/>
            <a:ext cx="1803401" cy="3378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6231" y="0"/>
                </a:lnTo>
                <a:lnTo>
                  <a:pt x="16231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rgbClr val="808080"/>
            </a:solidFill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46" name="Straight Arrow Connector 1043"/>
          <p:cNvSpPr/>
          <p:nvPr/>
        </p:nvSpPr>
        <p:spPr>
          <a:xfrm>
            <a:off x="3873817" y="1518760"/>
            <a:ext cx="859051" cy="1"/>
          </a:xfrm>
          <a:prstGeom prst="line">
            <a:avLst/>
          </a:prstGeom>
          <a:ln w="12700">
            <a:solidFill>
              <a:srgbClr val="80808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55" name="Group 1047"/>
          <p:cNvGrpSpPr/>
          <p:nvPr/>
        </p:nvGrpSpPr>
        <p:grpSpPr>
          <a:xfrm>
            <a:off x="1395035" y="1518460"/>
            <a:ext cx="2192867" cy="4082240"/>
            <a:chOff x="0" y="0"/>
            <a:chExt cx="2192865" cy="4082237"/>
          </a:xfrm>
        </p:grpSpPr>
        <p:sp>
          <p:nvSpPr>
            <p:cNvPr id="147" name="Straight Connector 22"/>
            <p:cNvSpPr/>
            <p:nvPr/>
          </p:nvSpPr>
          <p:spPr>
            <a:xfrm flipV="1">
              <a:off x="1010457" y="859592"/>
              <a:ext cx="171952" cy="142631"/>
            </a:xfrm>
            <a:prstGeom prst="line">
              <a:avLst/>
            </a:prstGeom>
            <a:noFill/>
            <a:ln w="9525" cap="flat">
              <a:solidFill>
                <a:srgbClr val="B845C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48" name="Rectangle 40"/>
            <p:cNvSpPr/>
            <p:nvPr/>
          </p:nvSpPr>
          <p:spPr>
            <a:xfrm>
              <a:off x="0" y="1940960"/>
              <a:ext cx="2192866" cy="2141278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9" name="Rectangle 44"/>
            <p:cNvSpPr/>
            <p:nvPr/>
          </p:nvSpPr>
          <p:spPr>
            <a:xfrm>
              <a:off x="730672" y="1002222"/>
              <a:ext cx="731521" cy="938738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0" name="Rectangle 46"/>
            <p:cNvSpPr/>
            <p:nvPr/>
          </p:nvSpPr>
          <p:spPr>
            <a:xfrm>
              <a:off x="730672" y="450832"/>
              <a:ext cx="731521" cy="144606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1" name="Rectangle 48"/>
            <p:cNvSpPr/>
            <p:nvPr/>
          </p:nvSpPr>
          <p:spPr>
            <a:xfrm>
              <a:off x="876976" y="18288"/>
              <a:ext cx="438913" cy="225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2" name="Rectangle 18"/>
            <p:cNvSpPr/>
            <p:nvPr/>
          </p:nvSpPr>
          <p:spPr>
            <a:xfrm>
              <a:off x="1004992" y="0"/>
              <a:ext cx="182881" cy="18289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3" name="Rectangle 119"/>
            <p:cNvSpPr/>
            <p:nvPr/>
          </p:nvSpPr>
          <p:spPr>
            <a:xfrm>
              <a:off x="876976" y="242509"/>
              <a:ext cx="438913" cy="208324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4" name="Rectangle 120"/>
            <p:cNvSpPr/>
            <p:nvPr/>
          </p:nvSpPr>
          <p:spPr>
            <a:xfrm>
              <a:off x="730672" y="595437"/>
              <a:ext cx="731521" cy="406786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56" name="Elbow Connector 131"/>
          <p:cNvSpPr/>
          <p:nvPr/>
        </p:nvSpPr>
        <p:spPr>
          <a:xfrm>
            <a:off x="2929466" y="2040466"/>
            <a:ext cx="1803401" cy="4585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3486" y="0"/>
                </a:lnTo>
                <a:lnTo>
                  <a:pt x="13486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rgbClr val="808080"/>
            </a:solidFill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57" name="Elbow Connector 134"/>
          <p:cNvSpPr/>
          <p:nvPr/>
        </p:nvSpPr>
        <p:spPr>
          <a:xfrm>
            <a:off x="2929466" y="2361120"/>
            <a:ext cx="1803401" cy="4842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rgbClr val="808080"/>
            </a:solidFill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58" name="Straight Arrow Connector 142"/>
          <p:cNvSpPr/>
          <p:nvPr/>
        </p:nvSpPr>
        <p:spPr>
          <a:xfrm>
            <a:off x="3708399" y="4600628"/>
            <a:ext cx="1024469" cy="1"/>
          </a:xfrm>
          <a:prstGeom prst="line">
            <a:avLst/>
          </a:prstGeom>
          <a:ln w="12700">
            <a:solidFill>
              <a:srgbClr val="80808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9" name="Straight Arrow Connector 164"/>
          <p:cNvSpPr/>
          <p:nvPr/>
        </p:nvSpPr>
        <p:spPr>
          <a:xfrm>
            <a:off x="2929466" y="3203627"/>
            <a:ext cx="1803401" cy="1"/>
          </a:xfrm>
          <a:prstGeom prst="line">
            <a:avLst/>
          </a:prstGeom>
          <a:ln w="12700">
            <a:solidFill>
              <a:srgbClr val="80808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62" name="Group 139"/>
          <p:cNvGrpSpPr/>
          <p:nvPr/>
        </p:nvGrpSpPr>
        <p:grpSpPr>
          <a:xfrm>
            <a:off x="2489199" y="5172126"/>
            <a:ext cx="2688079" cy="241649"/>
            <a:chOff x="0" y="0"/>
            <a:chExt cx="2688078" cy="241647"/>
          </a:xfrm>
        </p:grpSpPr>
        <p:sp>
          <p:nvSpPr>
            <p:cNvPr id="160" name="Straight Arrow Connector 174"/>
            <p:cNvSpPr/>
            <p:nvPr/>
          </p:nvSpPr>
          <p:spPr>
            <a:xfrm>
              <a:off x="0" y="148994"/>
              <a:ext cx="1098703" cy="1"/>
            </a:xfrm>
            <a:prstGeom prst="line">
              <a:avLst/>
            </a:prstGeom>
            <a:noFill/>
            <a:ln w="28575" cap="flat">
              <a:solidFill>
                <a:srgbClr val="FF0000"/>
              </a:solidFill>
              <a:prstDash val="sysDash"/>
              <a:round/>
              <a:tailEnd type="stealth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61" name="TextBox 175"/>
            <p:cNvSpPr txBox="1"/>
            <p:nvPr/>
          </p:nvSpPr>
          <p:spPr>
            <a:xfrm>
              <a:off x="1280225" y="0"/>
              <a:ext cx="1407854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>
                  <a:solidFill>
                    <a:srgbClr val="FF0000"/>
                  </a:solidFill>
                </a:defRPr>
              </a:lvl1pPr>
            </a:lstStyle>
            <a:p>
              <a:r>
                <a:t>Rmax for CM 7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1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83599" y="6248399"/>
            <a:ext cx="12700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  <p:pic>
        <p:nvPicPr>
          <p:cNvPr id="165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2959418" cy="4884897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Edit CM parameters with </a:t>
            </a:r>
            <a:r>
              <a:rPr b="0">
                <a:solidFill>
                  <a:srgbClr val="0000FF"/>
                </a:solidFill>
                <a:latin typeface="Inconsolata Regular Bold"/>
                <a:ea typeface="Inconsolata Regular Bold"/>
                <a:cs typeface="Inconsolata Regular Bold"/>
                <a:sym typeface="Inconsolata Regular Bold"/>
              </a:rPr>
              <a:t>beamnrc_gui</a:t>
            </a:r>
          </a:p>
        </p:txBody>
      </p:sp>
      <p:sp>
        <p:nvSpPr>
          <p:cNvPr id="167" name="TextBox 50"/>
          <p:cNvSpPr txBox="1"/>
          <p:nvPr/>
        </p:nvSpPr>
        <p:spPr>
          <a:xfrm>
            <a:off x="4822245" y="1366232"/>
            <a:ext cx="2823989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</a:pPr>
            <a:r>
              <a:t>CM 1:	</a:t>
            </a:r>
            <a:r>
              <a:rPr b="1"/>
              <a:t>SLABS</a:t>
            </a:r>
            <a:r>
              <a:t> 	“target”</a:t>
            </a:r>
          </a:p>
        </p:txBody>
      </p:sp>
      <p:sp>
        <p:nvSpPr>
          <p:cNvPr id="168" name="TextBox 52"/>
          <p:cNvSpPr txBox="1"/>
          <p:nvPr/>
        </p:nvSpPr>
        <p:spPr>
          <a:xfrm>
            <a:off x="4822245" y="1699148"/>
            <a:ext cx="3016536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  <a:defRPr>
                <a:solidFill>
                  <a:srgbClr val="FF0000"/>
                </a:solidFill>
              </a:defRPr>
            </a:pPr>
            <a:r>
              <a:t>CM 2:	</a:t>
            </a:r>
            <a:r>
              <a:rPr b="1"/>
              <a:t>CONS3R</a:t>
            </a:r>
            <a:r>
              <a:t>	“primcoll”</a:t>
            </a:r>
          </a:p>
        </p:txBody>
      </p:sp>
      <p:sp>
        <p:nvSpPr>
          <p:cNvPr id="169" name="TextBox 53"/>
          <p:cNvSpPr txBox="1"/>
          <p:nvPr/>
        </p:nvSpPr>
        <p:spPr>
          <a:xfrm>
            <a:off x="4822245" y="2032063"/>
            <a:ext cx="2952912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</a:pPr>
            <a:r>
              <a:t>CM 3:	</a:t>
            </a:r>
            <a:r>
              <a:rPr b="1"/>
              <a:t>FLATFILT</a:t>
            </a:r>
            <a:r>
              <a:t>	“flattenf”</a:t>
            </a:r>
          </a:p>
        </p:txBody>
      </p:sp>
      <p:sp>
        <p:nvSpPr>
          <p:cNvPr id="170" name="TextBox 54"/>
          <p:cNvSpPr txBox="1"/>
          <p:nvPr/>
        </p:nvSpPr>
        <p:spPr>
          <a:xfrm>
            <a:off x="4822245" y="2364980"/>
            <a:ext cx="3083397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</a:pPr>
            <a:r>
              <a:t>CM 4:	</a:t>
            </a:r>
            <a:r>
              <a:rPr b="1"/>
              <a:t>CHAMBER</a:t>
            </a:r>
            <a:r>
              <a:t>	“chamber”</a:t>
            </a:r>
          </a:p>
        </p:txBody>
      </p:sp>
      <p:sp>
        <p:nvSpPr>
          <p:cNvPr id="171" name="TextBox 55"/>
          <p:cNvSpPr txBox="1"/>
          <p:nvPr/>
        </p:nvSpPr>
        <p:spPr>
          <a:xfrm>
            <a:off x="4822245" y="2697895"/>
            <a:ext cx="2862610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</a:pPr>
            <a:r>
              <a:t>CM 5:	</a:t>
            </a:r>
            <a:r>
              <a:rPr b="1"/>
              <a:t>MIRROR</a:t>
            </a:r>
            <a:r>
              <a:t>	“mirror”</a:t>
            </a:r>
          </a:p>
        </p:txBody>
      </p:sp>
      <p:sp>
        <p:nvSpPr>
          <p:cNvPr id="172" name="TextBox 56"/>
          <p:cNvSpPr txBox="1"/>
          <p:nvPr/>
        </p:nvSpPr>
        <p:spPr>
          <a:xfrm>
            <a:off x="4822245" y="3030810"/>
            <a:ext cx="2969432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</a:pPr>
            <a:r>
              <a:t>CM 6:	</a:t>
            </a:r>
            <a:r>
              <a:rPr b="1"/>
              <a:t>JAWS</a:t>
            </a:r>
            <a:r>
              <a:t>	“secjaws”</a:t>
            </a:r>
          </a:p>
        </p:txBody>
      </p:sp>
      <p:sp>
        <p:nvSpPr>
          <p:cNvPr id="173" name="TextBox 57"/>
          <p:cNvSpPr txBox="1"/>
          <p:nvPr/>
        </p:nvSpPr>
        <p:spPr>
          <a:xfrm>
            <a:off x="4822245" y="4462128"/>
            <a:ext cx="2865066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</a:pPr>
            <a:r>
              <a:t>CM 7:	</a:t>
            </a:r>
            <a:r>
              <a:rPr b="1"/>
              <a:t>SLABS</a:t>
            </a:r>
            <a:r>
              <a:t>	“airslab”</a:t>
            </a:r>
          </a:p>
        </p:txBody>
      </p:sp>
      <p:sp>
        <p:nvSpPr>
          <p:cNvPr id="174" name="Elbow Connector 74"/>
          <p:cNvSpPr/>
          <p:nvPr/>
        </p:nvSpPr>
        <p:spPr>
          <a:xfrm>
            <a:off x="2929466" y="1659466"/>
            <a:ext cx="1803401" cy="177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8798" y="0"/>
                </a:lnTo>
                <a:lnTo>
                  <a:pt x="18798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rgbClr val="808080"/>
            </a:solidFill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75" name="Elbow Connector 76"/>
          <p:cNvSpPr/>
          <p:nvPr/>
        </p:nvSpPr>
        <p:spPr>
          <a:xfrm>
            <a:off x="2929466" y="1837266"/>
            <a:ext cx="1803401" cy="3378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6231" y="0"/>
                </a:lnTo>
                <a:lnTo>
                  <a:pt x="16231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rgbClr val="808080"/>
            </a:solidFill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76" name="Straight Arrow Connector 1043"/>
          <p:cNvSpPr/>
          <p:nvPr/>
        </p:nvSpPr>
        <p:spPr>
          <a:xfrm>
            <a:off x="3873817" y="1518760"/>
            <a:ext cx="859051" cy="1"/>
          </a:xfrm>
          <a:prstGeom prst="line">
            <a:avLst/>
          </a:prstGeom>
          <a:ln w="12700">
            <a:solidFill>
              <a:srgbClr val="80808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85" name="Group 1047"/>
          <p:cNvGrpSpPr/>
          <p:nvPr/>
        </p:nvGrpSpPr>
        <p:grpSpPr>
          <a:xfrm>
            <a:off x="1395035" y="1518460"/>
            <a:ext cx="2192867" cy="4082240"/>
            <a:chOff x="0" y="0"/>
            <a:chExt cx="2192865" cy="4082237"/>
          </a:xfrm>
        </p:grpSpPr>
        <p:sp>
          <p:nvSpPr>
            <p:cNvPr id="177" name="Straight Connector 22"/>
            <p:cNvSpPr/>
            <p:nvPr/>
          </p:nvSpPr>
          <p:spPr>
            <a:xfrm flipV="1">
              <a:off x="1010457" y="859592"/>
              <a:ext cx="171952" cy="142631"/>
            </a:xfrm>
            <a:prstGeom prst="line">
              <a:avLst/>
            </a:prstGeom>
            <a:noFill/>
            <a:ln w="9525" cap="flat">
              <a:solidFill>
                <a:srgbClr val="B845C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8" name="Rectangle 40"/>
            <p:cNvSpPr/>
            <p:nvPr/>
          </p:nvSpPr>
          <p:spPr>
            <a:xfrm>
              <a:off x="0" y="1940960"/>
              <a:ext cx="2192866" cy="2141278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9" name="Rectangle 44"/>
            <p:cNvSpPr/>
            <p:nvPr/>
          </p:nvSpPr>
          <p:spPr>
            <a:xfrm>
              <a:off x="730672" y="1002222"/>
              <a:ext cx="731521" cy="938738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0" name="Rectangle 46"/>
            <p:cNvSpPr/>
            <p:nvPr/>
          </p:nvSpPr>
          <p:spPr>
            <a:xfrm>
              <a:off x="730672" y="450832"/>
              <a:ext cx="731521" cy="144606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1" name="Rectangle 18"/>
            <p:cNvSpPr/>
            <p:nvPr/>
          </p:nvSpPr>
          <p:spPr>
            <a:xfrm>
              <a:off x="1004992" y="0"/>
              <a:ext cx="182881" cy="18289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2" name="Rectangle 119"/>
            <p:cNvSpPr/>
            <p:nvPr/>
          </p:nvSpPr>
          <p:spPr>
            <a:xfrm>
              <a:off x="876976" y="242509"/>
              <a:ext cx="438913" cy="208324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3" name="Rectangle 120"/>
            <p:cNvSpPr/>
            <p:nvPr/>
          </p:nvSpPr>
          <p:spPr>
            <a:xfrm>
              <a:off x="730672" y="595437"/>
              <a:ext cx="731521" cy="406786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4" name="Rectangle 48"/>
            <p:cNvSpPr/>
            <p:nvPr/>
          </p:nvSpPr>
          <p:spPr>
            <a:xfrm>
              <a:off x="876976" y="18288"/>
              <a:ext cx="438913" cy="225992"/>
            </a:xfrm>
            <a:prstGeom prst="rect">
              <a:avLst/>
            </a:prstGeom>
            <a:noFill/>
            <a:ln w="28575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86" name="Elbow Connector 131"/>
          <p:cNvSpPr/>
          <p:nvPr/>
        </p:nvSpPr>
        <p:spPr>
          <a:xfrm>
            <a:off x="2929466" y="2040466"/>
            <a:ext cx="1803401" cy="4585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3486" y="0"/>
                </a:lnTo>
                <a:lnTo>
                  <a:pt x="13486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rgbClr val="808080"/>
            </a:solidFill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7" name="Elbow Connector 134"/>
          <p:cNvSpPr/>
          <p:nvPr/>
        </p:nvSpPr>
        <p:spPr>
          <a:xfrm>
            <a:off x="2929466" y="2361120"/>
            <a:ext cx="1803401" cy="4842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rgbClr val="808080"/>
            </a:solidFill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8" name="Straight Arrow Connector 142"/>
          <p:cNvSpPr/>
          <p:nvPr/>
        </p:nvSpPr>
        <p:spPr>
          <a:xfrm>
            <a:off x="3708399" y="4600628"/>
            <a:ext cx="1024469" cy="1"/>
          </a:xfrm>
          <a:prstGeom prst="line">
            <a:avLst/>
          </a:prstGeom>
          <a:ln w="12700">
            <a:solidFill>
              <a:srgbClr val="80808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9" name="Straight Arrow Connector 164"/>
          <p:cNvSpPr/>
          <p:nvPr/>
        </p:nvSpPr>
        <p:spPr>
          <a:xfrm>
            <a:off x="2929466" y="3203627"/>
            <a:ext cx="1803401" cy="1"/>
          </a:xfrm>
          <a:prstGeom prst="line">
            <a:avLst/>
          </a:prstGeom>
          <a:ln w="12700">
            <a:solidFill>
              <a:srgbClr val="80808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92" name="Group 31"/>
          <p:cNvGrpSpPr/>
          <p:nvPr/>
        </p:nvGrpSpPr>
        <p:grpSpPr>
          <a:xfrm>
            <a:off x="2489199" y="5172126"/>
            <a:ext cx="2688079" cy="241649"/>
            <a:chOff x="0" y="0"/>
            <a:chExt cx="2688078" cy="241647"/>
          </a:xfrm>
        </p:grpSpPr>
        <p:sp>
          <p:nvSpPr>
            <p:cNvPr id="190" name="Straight Arrow Connector 32"/>
            <p:cNvSpPr/>
            <p:nvPr/>
          </p:nvSpPr>
          <p:spPr>
            <a:xfrm>
              <a:off x="0" y="148994"/>
              <a:ext cx="1098703" cy="1"/>
            </a:xfrm>
            <a:prstGeom prst="line">
              <a:avLst/>
            </a:prstGeom>
            <a:noFill/>
            <a:ln w="28575" cap="flat">
              <a:solidFill>
                <a:srgbClr val="FF0000"/>
              </a:solidFill>
              <a:prstDash val="sysDash"/>
              <a:round/>
              <a:tailEnd type="stealth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91" name="TextBox 33"/>
            <p:cNvSpPr txBox="1"/>
            <p:nvPr/>
          </p:nvSpPr>
          <p:spPr>
            <a:xfrm>
              <a:off x="1280225" y="0"/>
              <a:ext cx="1407854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>
                  <a:solidFill>
                    <a:srgbClr val="FF0000"/>
                  </a:solidFill>
                </a:defRPr>
              </a:lvl1pPr>
            </a:lstStyle>
            <a:p>
              <a:r>
                <a:t>Rmax for CM 7</a:t>
              </a:r>
            </a:p>
          </p:txBody>
        </p:sp>
      </p:grpSp>
      <p:pic>
        <p:nvPicPr>
          <p:cNvPr id="193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701" y="1994694"/>
            <a:ext cx="5276574" cy="3910956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83599" y="6248399"/>
            <a:ext cx="12700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pic>
        <p:nvPicPr>
          <p:cNvPr id="196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2959418" cy="4884897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Edit CM parameters with </a:t>
            </a:r>
            <a:r>
              <a:rPr b="0">
                <a:solidFill>
                  <a:srgbClr val="0000FF"/>
                </a:solidFill>
                <a:latin typeface="Inconsolata Regular Bold"/>
                <a:ea typeface="Inconsolata Regular Bold"/>
                <a:cs typeface="Inconsolata Regular Bold"/>
                <a:sym typeface="Inconsolata Regular Bold"/>
              </a:rPr>
              <a:t>beamnrc_gui</a:t>
            </a:r>
          </a:p>
        </p:txBody>
      </p:sp>
      <p:sp>
        <p:nvSpPr>
          <p:cNvPr id="198" name="TextBox 50"/>
          <p:cNvSpPr txBox="1"/>
          <p:nvPr/>
        </p:nvSpPr>
        <p:spPr>
          <a:xfrm>
            <a:off x="4822245" y="1366232"/>
            <a:ext cx="2823989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</a:pPr>
            <a:r>
              <a:t>CM 1:	</a:t>
            </a:r>
            <a:r>
              <a:rPr b="1"/>
              <a:t>SLABS</a:t>
            </a:r>
            <a:r>
              <a:t> 	“target”</a:t>
            </a:r>
          </a:p>
        </p:txBody>
      </p:sp>
      <p:sp>
        <p:nvSpPr>
          <p:cNvPr id="199" name="TextBox 52"/>
          <p:cNvSpPr txBox="1"/>
          <p:nvPr/>
        </p:nvSpPr>
        <p:spPr>
          <a:xfrm>
            <a:off x="4822245" y="1699148"/>
            <a:ext cx="3016536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</a:pPr>
            <a:r>
              <a:t>CM 2:	</a:t>
            </a:r>
            <a:r>
              <a:rPr b="1"/>
              <a:t>CONS3R</a:t>
            </a:r>
            <a:r>
              <a:t>	“primcoll”</a:t>
            </a:r>
          </a:p>
        </p:txBody>
      </p:sp>
      <p:sp>
        <p:nvSpPr>
          <p:cNvPr id="200" name="TextBox 53"/>
          <p:cNvSpPr txBox="1"/>
          <p:nvPr/>
        </p:nvSpPr>
        <p:spPr>
          <a:xfrm>
            <a:off x="4822245" y="2032063"/>
            <a:ext cx="2952912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</a:pPr>
            <a:r>
              <a:t>CM 3:	</a:t>
            </a:r>
            <a:r>
              <a:rPr b="1"/>
              <a:t>FLATFILT</a:t>
            </a:r>
            <a:r>
              <a:t>	“flattenf”</a:t>
            </a:r>
          </a:p>
        </p:txBody>
      </p:sp>
      <p:sp>
        <p:nvSpPr>
          <p:cNvPr id="201" name="TextBox 54"/>
          <p:cNvSpPr txBox="1"/>
          <p:nvPr/>
        </p:nvSpPr>
        <p:spPr>
          <a:xfrm>
            <a:off x="4822245" y="2364980"/>
            <a:ext cx="3083397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</a:pPr>
            <a:r>
              <a:t>CM 4:	</a:t>
            </a:r>
            <a:r>
              <a:rPr b="1"/>
              <a:t>CHAMBER</a:t>
            </a:r>
            <a:r>
              <a:t>	“chamber”</a:t>
            </a:r>
          </a:p>
        </p:txBody>
      </p:sp>
      <p:sp>
        <p:nvSpPr>
          <p:cNvPr id="202" name="TextBox 55"/>
          <p:cNvSpPr txBox="1"/>
          <p:nvPr/>
        </p:nvSpPr>
        <p:spPr>
          <a:xfrm>
            <a:off x="4822245" y="2697895"/>
            <a:ext cx="2862610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</a:pPr>
            <a:r>
              <a:t>CM 5:	</a:t>
            </a:r>
            <a:r>
              <a:rPr b="1"/>
              <a:t>MIRROR</a:t>
            </a:r>
            <a:r>
              <a:t>	“mirror”</a:t>
            </a:r>
          </a:p>
        </p:txBody>
      </p:sp>
      <p:sp>
        <p:nvSpPr>
          <p:cNvPr id="203" name="TextBox 56"/>
          <p:cNvSpPr txBox="1"/>
          <p:nvPr/>
        </p:nvSpPr>
        <p:spPr>
          <a:xfrm>
            <a:off x="4822245" y="3030810"/>
            <a:ext cx="2969432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</a:pPr>
            <a:r>
              <a:t>CM 6:	</a:t>
            </a:r>
            <a:r>
              <a:rPr b="1"/>
              <a:t>JAWS</a:t>
            </a:r>
            <a:r>
              <a:t>	“secjaws”</a:t>
            </a:r>
          </a:p>
        </p:txBody>
      </p:sp>
      <p:sp>
        <p:nvSpPr>
          <p:cNvPr id="204" name="TextBox 57"/>
          <p:cNvSpPr txBox="1"/>
          <p:nvPr/>
        </p:nvSpPr>
        <p:spPr>
          <a:xfrm>
            <a:off x="4822245" y="4462128"/>
            <a:ext cx="2865066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</a:pPr>
            <a:r>
              <a:t>CM 7:	</a:t>
            </a:r>
            <a:r>
              <a:rPr b="1"/>
              <a:t>SLABS</a:t>
            </a:r>
            <a:r>
              <a:t>	“airslab”</a:t>
            </a:r>
          </a:p>
        </p:txBody>
      </p:sp>
      <p:sp>
        <p:nvSpPr>
          <p:cNvPr id="205" name="Elbow Connector 74"/>
          <p:cNvSpPr/>
          <p:nvPr/>
        </p:nvSpPr>
        <p:spPr>
          <a:xfrm>
            <a:off x="2929466" y="1659466"/>
            <a:ext cx="1803401" cy="177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8798" y="0"/>
                </a:lnTo>
                <a:lnTo>
                  <a:pt x="18798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rgbClr val="808080"/>
            </a:solidFill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06" name="Elbow Connector 76"/>
          <p:cNvSpPr/>
          <p:nvPr/>
        </p:nvSpPr>
        <p:spPr>
          <a:xfrm>
            <a:off x="2929466" y="1837266"/>
            <a:ext cx="1803401" cy="3378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6231" y="0"/>
                </a:lnTo>
                <a:lnTo>
                  <a:pt x="16231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rgbClr val="808080"/>
            </a:solidFill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07" name="Straight Arrow Connector 1043"/>
          <p:cNvSpPr/>
          <p:nvPr/>
        </p:nvSpPr>
        <p:spPr>
          <a:xfrm>
            <a:off x="3873817" y="1518760"/>
            <a:ext cx="859051" cy="1"/>
          </a:xfrm>
          <a:prstGeom prst="line">
            <a:avLst/>
          </a:prstGeom>
          <a:ln w="12700">
            <a:solidFill>
              <a:srgbClr val="80808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216" name="Group 1047"/>
          <p:cNvGrpSpPr/>
          <p:nvPr/>
        </p:nvGrpSpPr>
        <p:grpSpPr>
          <a:xfrm>
            <a:off x="1395035" y="1518460"/>
            <a:ext cx="2192867" cy="4082240"/>
            <a:chOff x="0" y="0"/>
            <a:chExt cx="2192865" cy="4082237"/>
          </a:xfrm>
        </p:grpSpPr>
        <p:sp>
          <p:nvSpPr>
            <p:cNvPr id="208" name="Straight Connector 22"/>
            <p:cNvSpPr/>
            <p:nvPr/>
          </p:nvSpPr>
          <p:spPr>
            <a:xfrm flipV="1">
              <a:off x="1010457" y="859592"/>
              <a:ext cx="171952" cy="142631"/>
            </a:xfrm>
            <a:prstGeom prst="line">
              <a:avLst/>
            </a:prstGeom>
            <a:noFill/>
            <a:ln w="9525" cap="flat">
              <a:solidFill>
                <a:srgbClr val="B845C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09" name="Rectangle 40"/>
            <p:cNvSpPr/>
            <p:nvPr/>
          </p:nvSpPr>
          <p:spPr>
            <a:xfrm>
              <a:off x="0" y="1940960"/>
              <a:ext cx="2192866" cy="2141278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0" name="Rectangle 44"/>
            <p:cNvSpPr/>
            <p:nvPr/>
          </p:nvSpPr>
          <p:spPr>
            <a:xfrm>
              <a:off x="730672" y="1002222"/>
              <a:ext cx="731521" cy="938738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1" name="Rectangle 46"/>
            <p:cNvSpPr/>
            <p:nvPr/>
          </p:nvSpPr>
          <p:spPr>
            <a:xfrm>
              <a:off x="730672" y="450832"/>
              <a:ext cx="731521" cy="144606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2" name="Rectangle 48"/>
            <p:cNvSpPr/>
            <p:nvPr/>
          </p:nvSpPr>
          <p:spPr>
            <a:xfrm>
              <a:off x="876976" y="18288"/>
              <a:ext cx="438913" cy="225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3" name="Rectangle 18"/>
            <p:cNvSpPr/>
            <p:nvPr/>
          </p:nvSpPr>
          <p:spPr>
            <a:xfrm>
              <a:off x="1004992" y="0"/>
              <a:ext cx="182881" cy="18289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4" name="Rectangle 119"/>
            <p:cNvSpPr/>
            <p:nvPr/>
          </p:nvSpPr>
          <p:spPr>
            <a:xfrm>
              <a:off x="876976" y="242509"/>
              <a:ext cx="438913" cy="208324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5" name="Rectangle 120"/>
            <p:cNvSpPr/>
            <p:nvPr/>
          </p:nvSpPr>
          <p:spPr>
            <a:xfrm>
              <a:off x="730672" y="595437"/>
              <a:ext cx="731521" cy="406786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217" name="Elbow Connector 131"/>
          <p:cNvSpPr/>
          <p:nvPr/>
        </p:nvSpPr>
        <p:spPr>
          <a:xfrm>
            <a:off x="2929466" y="2040466"/>
            <a:ext cx="1803401" cy="4585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3486" y="0"/>
                </a:lnTo>
                <a:lnTo>
                  <a:pt x="13486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rgbClr val="808080"/>
            </a:solidFill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18" name="Elbow Connector 134"/>
          <p:cNvSpPr/>
          <p:nvPr/>
        </p:nvSpPr>
        <p:spPr>
          <a:xfrm>
            <a:off x="2929466" y="2361120"/>
            <a:ext cx="1803401" cy="4842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rgbClr val="808080"/>
            </a:solidFill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19" name="Straight Arrow Connector 142"/>
          <p:cNvSpPr/>
          <p:nvPr/>
        </p:nvSpPr>
        <p:spPr>
          <a:xfrm>
            <a:off x="3708399" y="4600628"/>
            <a:ext cx="1024469" cy="1"/>
          </a:xfrm>
          <a:prstGeom prst="line">
            <a:avLst/>
          </a:prstGeom>
          <a:ln w="12700">
            <a:solidFill>
              <a:srgbClr val="80808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0" name="Straight Arrow Connector 164"/>
          <p:cNvSpPr/>
          <p:nvPr/>
        </p:nvSpPr>
        <p:spPr>
          <a:xfrm>
            <a:off x="2929466" y="3203627"/>
            <a:ext cx="1803401" cy="1"/>
          </a:xfrm>
          <a:prstGeom prst="line">
            <a:avLst/>
          </a:prstGeom>
          <a:ln w="12700">
            <a:solidFill>
              <a:srgbClr val="80808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223" name="Group 139"/>
          <p:cNvGrpSpPr/>
          <p:nvPr/>
        </p:nvGrpSpPr>
        <p:grpSpPr>
          <a:xfrm>
            <a:off x="2489199" y="5172126"/>
            <a:ext cx="2688079" cy="241649"/>
            <a:chOff x="0" y="0"/>
            <a:chExt cx="2688078" cy="241647"/>
          </a:xfrm>
        </p:grpSpPr>
        <p:sp>
          <p:nvSpPr>
            <p:cNvPr id="221" name="Straight Arrow Connector 174"/>
            <p:cNvSpPr/>
            <p:nvPr/>
          </p:nvSpPr>
          <p:spPr>
            <a:xfrm>
              <a:off x="0" y="148994"/>
              <a:ext cx="1098703" cy="1"/>
            </a:xfrm>
            <a:prstGeom prst="line">
              <a:avLst/>
            </a:prstGeom>
            <a:noFill/>
            <a:ln w="28575" cap="flat">
              <a:solidFill>
                <a:srgbClr val="FF0000"/>
              </a:solidFill>
              <a:prstDash val="sysDash"/>
              <a:round/>
              <a:tailEnd type="stealth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TextBox 175"/>
            <p:cNvSpPr txBox="1"/>
            <p:nvPr/>
          </p:nvSpPr>
          <p:spPr>
            <a:xfrm>
              <a:off x="1280225" y="0"/>
              <a:ext cx="1407854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>
                  <a:solidFill>
                    <a:srgbClr val="FF0000"/>
                  </a:solidFill>
                </a:defRPr>
              </a:lvl1pPr>
            </a:lstStyle>
            <a:p>
              <a:r>
                <a:t>Rmax for CM 7</a:t>
              </a:r>
            </a:p>
          </p:txBody>
        </p:sp>
      </p:grp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83599" y="6248399"/>
            <a:ext cx="12700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sp>
        <p:nvSpPr>
          <p:cNvPr id="226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Define the accelerator in a </a:t>
            </a:r>
            <a:r>
              <a:rPr b="0">
                <a:solidFill>
                  <a:srgbClr val="3366FF"/>
                </a:solidFill>
                <a:latin typeface="Inconsolata Regular Bold"/>
                <a:ea typeface="Inconsolata Regular Bold"/>
                <a:cs typeface="Inconsolata Regular Bold"/>
                <a:sym typeface="Inconsolata Regular Bold"/>
              </a:rPr>
              <a:t>.module </a:t>
            </a:r>
            <a:r>
              <a:t>text file</a:t>
            </a:r>
          </a:p>
        </p:txBody>
      </p:sp>
      <p:sp>
        <p:nvSpPr>
          <p:cNvPr id="227" name="Text Placeholder 6"/>
          <p:cNvSpPr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347663" indent="-347663">
              <a:spcBef>
                <a:spcPts val="2400"/>
              </a:spcBef>
              <a:buFontTx/>
              <a:buAutoNum type="arabicPeriod"/>
              <a:defRPr sz="2000" b="1"/>
            </a:pPr>
            <a:r>
              <a:t>Create text file </a:t>
            </a:r>
            <a:r>
              <a:rPr b="0">
                <a:solidFill>
                  <a:srgbClr val="3366FF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rPr>
              <a:t>$EGS_HOME/beamnrc/spec_modules/</a:t>
            </a:r>
            <a:r>
              <a:rPr b="0">
                <a:solidFill>
                  <a:srgbClr val="FF0000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rPr>
              <a:t>mylinac.module</a:t>
            </a:r>
            <a:br>
              <a:rPr b="0">
                <a:solidFill>
                  <a:srgbClr val="FF0000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rPr>
            </a:br>
            <a:r>
              <a:rPr b="0">
                <a:solidFill>
                  <a:srgbClr val="595959"/>
                </a:solidFill>
              </a:rPr>
              <a:t>This file specifies what component modules you want inside your accelerator, and their names. For example:</a:t>
            </a:r>
            <a:br>
              <a:rPr b="0">
                <a:solidFill>
                  <a:srgbClr val="595959"/>
                </a:solidFill>
              </a:rPr>
            </a:br>
            <a:br>
              <a:rPr b="0">
                <a:solidFill>
                  <a:srgbClr val="595959"/>
                </a:solidFill>
              </a:rPr>
            </a:br>
            <a:br>
              <a:rPr b="0">
                <a:solidFill>
                  <a:srgbClr val="595959"/>
                </a:solidFill>
              </a:rPr>
            </a:br>
            <a:br>
              <a:rPr b="0">
                <a:solidFill>
                  <a:srgbClr val="595959"/>
                </a:solidFill>
              </a:rPr>
            </a:br>
            <a:endParaRPr b="0">
              <a:solidFill>
                <a:srgbClr val="595959"/>
              </a:solidFill>
            </a:endParaRPr>
          </a:p>
          <a:p>
            <a:pPr marL="347663" indent="-347663">
              <a:spcBef>
                <a:spcPts val="2400"/>
              </a:spcBef>
              <a:buFontTx/>
              <a:buAutoNum type="arabicPeriod"/>
              <a:defRPr sz="2000" b="1"/>
            </a:pPr>
            <a:r>
              <a:t>Run</a:t>
            </a:r>
            <a:r>
              <a:rPr b="0">
                <a:latin typeface="Inconsolata Regular Bold"/>
                <a:ea typeface="Inconsolata Regular Bold"/>
                <a:cs typeface="Inconsolata Regular Bold"/>
                <a:sym typeface="Inconsolata Regular Bold"/>
              </a:rPr>
              <a:t> </a:t>
            </a:r>
            <a:r>
              <a:rPr b="0">
                <a:solidFill>
                  <a:srgbClr val="3366FF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rPr>
              <a:t>beam_build.exe </a:t>
            </a:r>
            <a:r>
              <a:rPr b="0">
                <a:solidFill>
                  <a:srgbClr val="FF0000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rPr>
              <a:t>mylinac</a:t>
            </a:r>
            <a:r>
              <a:rPr b="0">
                <a:solidFill>
                  <a:srgbClr val="FF0000"/>
                </a:solidFill>
              </a:rPr>
              <a:t>  </a:t>
            </a:r>
            <a:r>
              <a:rPr b="0"/>
              <a:t>(no extension)</a:t>
            </a:r>
            <a:br>
              <a:rPr b="0"/>
            </a:br>
            <a:r>
              <a:rPr b="0">
                <a:solidFill>
                  <a:srgbClr val="595959"/>
                </a:solidFill>
              </a:rPr>
              <a:t>This program collects the source code for your accelerator inside a new application directory</a:t>
            </a:r>
            <a:r>
              <a:rPr b="0"/>
              <a:t> </a:t>
            </a:r>
            <a:r>
              <a:rPr b="0">
                <a:solidFill>
                  <a:srgbClr val="3366FF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rPr>
              <a:t>$EGS_HOME/</a:t>
            </a:r>
            <a:r>
              <a:rPr b="0">
                <a:solidFill>
                  <a:srgbClr val="FF0000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rPr>
              <a:t>BEAM_mylinac/</a:t>
            </a:r>
            <a:endParaRPr>
              <a:solidFill>
                <a:srgbClr val="FF0000"/>
              </a:solidFill>
            </a:endParaRPr>
          </a:p>
          <a:p>
            <a:pPr marL="347663" indent="-347663">
              <a:spcBef>
                <a:spcPts val="2400"/>
              </a:spcBef>
              <a:buFontTx/>
              <a:buAutoNum type="arabicPeriod"/>
              <a:defRPr sz="2000" b="1"/>
            </a:pPr>
            <a:r>
              <a:t>Launch</a:t>
            </a:r>
            <a:r>
              <a:rPr b="0">
                <a:solidFill>
                  <a:srgbClr val="3366FF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rPr>
              <a:t> beamnrc_gui </a:t>
            </a:r>
            <a:r>
              <a:t>and load your accelerator</a:t>
            </a:r>
            <a:br/>
            <a:r>
              <a:rPr b="0">
                <a:solidFill>
                  <a:srgbClr val="595959"/>
                </a:solidFill>
              </a:rPr>
              <a:t>This program is a Tcl/Tk graphical user interface to visualize an accelerator and edit all the simulation parameters.</a:t>
            </a:r>
          </a:p>
        </p:txBody>
      </p:sp>
      <p:sp>
        <p:nvSpPr>
          <p:cNvPr id="228" name="TextBox 8"/>
          <p:cNvSpPr txBox="1"/>
          <p:nvPr/>
        </p:nvSpPr>
        <p:spPr>
          <a:xfrm>
            <a:off x="838200" y="2362200"/>
            <a:ext cx="7772400" cy="725806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/>
          <a:p>
            <a:pPr>
              <a:defRPr sz="2000"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pPr>
            <a:r>
              <a:t>CM names:    SLABS CONS3R JAWS SLABS</a:t>
            </a:r>
          </a:p>
          <a:p>
            <a:pPr>
              <a:defRPr sz="2000"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pPr>
            <a:r>
              <a:t>Identifiers: mytarget mycollim myjaws myair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1" build="p" animBg="1" advAuto="0"/>
      <p:bldP spid="228" grpId="2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83599" y="6248399"/>
            <a:ext cx="12700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  <p:sp>
        <p:nvSpPr>
          <p:cNvPr id="231" name="Text Placeholder 2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Edit your BEAMnrc input file with</a:t>
            </a:r>
            <a:r>
              <a:rPr b="0">
                <a:solidFill>
                  <a:srgbClr val="3366FF"/>
                </a:solidFill>
                <a:latin typeface="Inconsolata Regular Bold"/>
                <a:ea typeface="Inconsolata Regular Bold"/>
                <a:cs typeface="Inconsolata Regular Bold"/>
                <a:sym typeface="Inconsolata Regular Bold"/>
              </a:rPr>
              <a:t> beamnrc_gui</a:t>
            </a:r>
          </a:p>
        </p:txBody>
      </p:sp>
      <p:pic>
        <p:nvPicPr>
          <p:cNvPr id="232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5266945" cy="4377607"/>
          </a:xfrm>
          <a:prstGeom prst="rect">
            <a:avLst/>
          </a:prstGeom>
          <a:ln w="12700">
            <a:miter lim="400000"/>
          </a:ln>
        </p:spPr>
      </p:pic>
      <p:pic>
        <p:nvPicPr>
          <p:cNvPr id="233" name="Picture 8" descr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95400"/>
            <a:ext cx="5266945" cy="437760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" grpId="1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  <p:pic>
        <p:nvPicPr>
          <p:cNvPr id="236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5266945" cy="4377607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Text Placeholder 2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Edit your BEAMnrc input file with</a:t>
            </a:r>
            <a:r>
              <a:rPr b="0">
                <a:solidFill>
                  <a:srgbClr val="3366FF"/>
                </a:solidFill>
                <a:latin typeface="Inconsolata Regular Bold"/>
                <a:ea typeface="Inconsolata Regular Bold"/>
                <a:cs typeface="Inconsolata Regular Bold"/>
                <a:sym typeface="Inconsolata Regular Bold"/>
              </a:rPr>
              <a:t> beamnrc_gui</a:t>
            </a:r>
          </a:p>
        </p:txBody>
      </p:sp>
      <p:pic>
        <p:nvPicPr>
          <p:cNvPr id="238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024" y="2626936"/>
            <a:ext cx="3971429" cy="3361906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  <p:pic>
        <p:nvPicPr>
          <p:cNvPr id="241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5266945" cy="4377607"/>
          </a:xfrm>
          <a:prstGeom prst="rect">
            <a:avLst/>
          </a:prstGeom>
          <a:ln w="12700">
            <a:miter lim="400000"/>
          </a:ln>
        </p:spPr>
      </p:pic>
      <p:sp>
        <p:nvSpPr>
          <p:cNvPr id="242" name="Text Placeholder 2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Edit your BEAMnrc input file with</a:t>
            </a:r>
            <a:r>
              <a:rPr b="0">
                <a:solidFill>
                  <a:srgbClr val="3366FF"/>
                </a:solidFill>
                <a:latin typeface="Inconsolata Regular Bold"/>
                <a:ea typeface="Inconsolata Regular Bold"/>
                <a:cs typeface="Inconsolata Regular Bold"/>
                <a:sym typeface="Inconsolata Regular Bold"/>
              </a:rPr>
              <a:t> beamnrc_gui</a:t>
            </a:r>
          </a:p>
        </p:txBody>
      </p:sp>
      <p:pic>
        <p:nvPicPr>
          <p:cNvPr id="243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050" y="2520907"/>
            <a:ext cx="6304763" cy="2561907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  <p:pic>
        <p:nvPicPr>
          <p:cNvPr id="246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8" y="1295400"/>
            <a:ext cx="5266944" cy="4377607"/>
          </a:xfrm>
          <a:prstGeom prst="rect">
            <a:avLst/>
          </a:prstGeom>
          <a:ln w="12700">
            <a:miter lim="400000"/>
          </a:ln>
        </p:spPr>
      </p:pic>
      <p:sp>
        <p:nvSpPr>
          <p:cNvPr id="247" name="Text Placeholder 2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Edit your BEAMnrc input file with</a:t>
            </a:r>
            <a:r>
              <a:rPr b="0">
                <a:solidFill>
                  <a:srgbClr val="3366FF"/>
                </a:solidFill>
                <a:latin typeface="Inconsolata Regular Bold"/>
                <a:ea typeface="Inconsolata Regular Bold"/>
                <a:cs typeface="Inconsolata Regular Bold"/>
                <a:sym typeface="Inconsolata Regular Bold"/>
              </a:rPr>
              <a:t> beamnrc_gui</a:t>
            </a:r>
          </a:p>
        </p:txBody>
      </p:sp>
      <p:pic>
        <p:nvPicPr>
          <p:cNvPr id="248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95400"/>
            <a:ext cx="2668123" cy="1724714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Picture 2" descr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49973">
            <a:off x="6465341" y="1094476"/>
            <a:ext cx="1663502" cy="10979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" grpId="1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sp>
        <p:nvSpPr>
          <p:cNvPr id="252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BEAMnrc scoring concepts</a:t>
            </a:r>
          </a:p>
        </p:txBody>
      </p:sp>
      <p:sp>
        <p:nvSpPr>
          <p:cNvPr id="253" name="Text Placeholder 6"/>
          <p:cNvSpPr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347663" indent="-347663">
              <a:spcBef>
                <a:spcPts val="2400"/>
              </a:spcBef>
              <a:buFontTx/>
              <a:buAutoNum type="arabicPeriod"/>
              <a:defRPr sz="2200" b="1">
                <a:solidFill>
                  <a:srgbClr val="FF0000"/>
                </a:solidFill>
              </a:defRPr>
            </a:pPr>
            <a:r>
              <a:t>Dose zone:</a:t>
            </a:r>
            <a:br/>
            <a:r>
              <a:rPr b="0">
                <a:solidFill>
                  <a:srgbClr val="000000"/>
                </a:solidFill>
              </a:rPr>
              <a:t>A </a:t>
            </a:r>
            <a:r>
              <a:rPr>
                <a:solidFill>
                  <a:srgbClr val="000000"/>
                </a:solidFill>
              </a:rPr>
              <a:t>collection</a:t>
            </a:r>
            <a:r>
              <a:rPr b="0">
                <a:solidFill>
                  <a:srgbClr val="000000"/>
                </a:solidFill>
              </a:rPr>
              <a:t> of geometrical regions for which dose is reported as a whole at the end of the simulation. You define which geometrical regions are associated to each doze zone in the CM inputs.</a:t>
            </a:r>
          </a:p>
          <a:p>
            <a:pPr marL="347663" indent="-347663">
              <a:spcBef>
                <a:spcPts val="2400"/>
              </a:spcBef>
              <a:buFontTx/>
              <a:buAutoNum type="arabicPeriod"/>
              <a:defRPr sz="2200" b="1">
                <a:solidFill>
                  <a:srgbClr val="FF0000"/>
                </a:solidFill>
              </a:defRPr>
            </a:pPr>
            <a:r>
              <a:t>Scoring plane:</a:t>
            </a:r>
            <a:br/>
            <a:r>
              <a:rPr b="0">
                <a:solidFill>
                  <a:srgbClr val="000000"/>
                </a:solidFill>
              </a:rPr>
              <a:t>A plane positioned below any CM to:</a:t>
            </a:r>
            <a:r>
              <a:rPr b="0"/>
              <a:t> </a:t>
            </a:r>
            <a:r>
              <a:rPr>
                <a:solidFill>
                  <a:srgbClr val="000000"/>
                </a:solidFill>
              </a:rPr>
              <a:t>a) </a:t>
            </a:r>
            <a:r>
              <a:rPr b="0">
                <a:solidFill>
                  <a:srgbClr val="000000"/>
                </a:solidFill>
              </a:rPr>
              <a:t>calculate number, fluence, average energy and angle, in user-defined planar scoring zone; and </a:t>
            </a:r>
            <a:r>
              <a:rPr>
                <a:solidFill>
                  <a:srgbClr val="000000"/>
                </a:solidFill>
              </a:rPr>
              <a:t>b) </a:t>
            </a:r>
            <a:r>
              <a:rPr b="0">
                <a:solidFill>
                  <a:srgbClr val="000000"/>
                </a:solidFill>
              </a:rPr>
              <a:t>save all particles reaching the plane to a </a:t>
            </a:r>
            <a:r>
              <a:rPr b="0" i="1">
                <a:solidFill>
                  <a:srgbClr val="000000"/>
                </a:solidFill>
              </a:rPr>
              <a:t>phase space </a:t>
            </a:r>
            <a:r>
              <a:rPr b="0">
                <a:solidFill>
                  <a:srgbClr val="000000"/>
                </a:solidFill>
              </a:rPr>
              <a:t>file.</a:t>
            </a:r>
          </a:p>
          <a:p>
            <a:pPr marL="347663" indent="-347663">
              <a:spcBef>
                <a:spcPts val="2400"/>
              </a:spcBef>
              <a:buFontTx/>
              <a:buAutoNum type="arabicPeriod"/>
              <a:defRPr sz="2200" b="1">
                <a:solidFill>
                  <a:srgbClr val="FF0000"/>
                </a:solidFill>
              </a:defRPr>
            </a:pPr>
            <a:r>
              <a:t>Latch bits:</a:t>
            </a:r>
            <a:br/>
            <a:r>
              <a:rPr b="0">
                <a:solidFill>
                  <a:srgbClr val="000000"/>
                </a:solidFill>
              </a:rPr>
              <a:t>The latch variable is a </a:t>
            </a:r>
            <a:r>
              <a:rPr>
                <a:solidFill>
                  <a:srgbClr val="000000"/>
                </a:solidFill>
              </a:rPr>
              <a:t>bit field</a:t>
            </a:r>
            <a:r>
              <a:rPr b="0">
                <a:solidFill>
                  <a:srgbClr val="000000"/>
                </a:solidFill>
              </a:rPr>
              <a:t> travelling with a particle to keep track where the particle and its ancestors have been, or where they have interacted.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" grpId="1" build="p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  <p:sp>
        <p:nvSpPr>
          <p:cNvPr id="256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1. Dose zone</a:t>
            </a:r>
          </a:p>
        </p:txBody>
      </p:sp>
      <p:grpSp>
        <p:nvGrpSpPr>
          <p:cNvPr id="259" name="Group 22"/>
          <p:cNvGrpSpPr/>
          <p:nvPr/>
        </p:nvGrpSpPr>
        <p:grpSpPr>
          <a:xfrm>
            <a:off x="827247" y="1059121"/>
            <a:ext cx="7926052" cy="757192"/>
            <a:chOff x="0" y="0"/>
            <a:chExt cx="7926050" cy="757191"/>
          </a:xfrm>
        </p:grpSpPr>
        <p:pic>
          <p:nvPicPr>
            <p:cNvPr id="257" name="Picture 2" descr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57951" y="418541"/>
              <a:ext cx="4868100" cy="3386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58" name="TextBox 21"/>
            <p:cNvSpPr txBox="1"/>
            <p:nvPr/>
          </p:nvSpPr>
          <p:spPr>
            <a:xfrm>
              <a:off x="0" y="-1"/>
              <a:ext cx="5984181" cy="5535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>
                <a:tabLst>
                  <a:tab pos="800100" algn="l"/>
                  <a:tab pos="2057400" algn="l"/>
                </a:tabLst>
                <a:defRPr sz="2000"/>
              </a:pPr>
              <a:r>
                <a:t>Somewhere in the CM input, for each geometrical region, </a:t>
              </a:r>
              <a:br/>
              <a:r>
                <a:t>there is a </a:t>
              </a:r>
              <a:r>
                <a:rPr b="1"/>
                <a:t>dose zone input:</a:t>
              </a:r>
            </a:p>
          </p:txBody>
        </p:sp>
      </p:grpSp>
      <p:grpSp>
        <p:nvGrpSpPr>
          <p:cNvPr id="280" name="Group 28"/>
          <p:cNvGrpSpPr/>
          <p:nvPr/>
        </p:nvGrpSpPr>
        <p:grpSpPr>
          <a:xfrm>
            <a:off x="453206" y="2112921"/>
            <a:ext cx="4666196" cy="3773879"/>
            <a:chOff x="0" y="0"/>
            <a:chExt cx="4666194" cy="3773878"/>
          </a:xfrm>
        </p:grpSpPr>
        <p:grpSp>
          <p:nvGrpSpPr>
            <p:cNvPr id="275" name="Group 3"/>
            <p:cNvGrpSpPr/>
            <p:nvPr/>
          </p:nvGrpSpPr>
          <p:grpSpPr>
            <a:xfrm>
              <a:off x="-1" y="-1"/>
              <a:ext cx="4666196" cy="3773880"/>
              <a:chOff x="0" y="0"/>
              <a:chExt cx="4666194" cy="3773878"/>
            </a:xfrm>
          </p:grpSpPr>
          <p:sp>
            <p:nvSpPr>
              <p:cNvPr id="260" name="TextBox 4"/>
              <p:cNvSpPr txBox="1"/>
              <p:nvPr/>
            </p:nvSpPr>
            <p:spPr>
              <a:xfrm>
                <a:off x="0" y="0"/>
                <a:ext cx="626587" cy="3920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91439" tIns="91439" rIns="91439" bIns="91439" numCol="1" anchor="t">
                <a:spAutoFit/>
              </a:bodyPr>
              <a:lstStyle>
                <a:lvl1pPr>
                  <a:defRPr sz="1600">
                    <a:solidFill>
                      <a:srgbClr val="808080"/>
                    </a:solidFill>
                  </a:defRPr>
                </a:lvl1pPr>
              </a:lstStyle>
              <a:p>
                <a:r>
                  <a:t>CM 1</a:t>
                </a:r>
              </a:p>
            </p:txBody>
          </p:sp>
          <p:sp>
            <p:nvSpPr>
              <p:cNvPr id="261" name="Rectangle 5"/>
              <p:cNvSpPr/>
              <p:nvPr/>
            </p:nvSpPr>
            <p:spPr>
              <a:xfrm>
                <a:off x="712707" y="163476"/>
                <a:ext cx="3953088" cy="128477"/>
              </a:xfrm>
              <a:prstGeom prst="rect">
                <a:avLst/>
              </a:prstGeom>
              <a:noFill/>
              <a:ln w="12700" cap="flat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62" name="Rectangle 7"/>
              <p:cNvSpPr/>
              <p:nvPr/>
            </p:nvSpPr>
            <p:spPr>
              <a:xfrm>
                <a:off x="713107" y="291951"/>
                <a:ext cx="3953088" cy="1304845"/>
              </a:xfrm>
              <a:prstGeom prst="rect">
                <a:avLst/>
              </a:prstGeom>
              <a:noFill/>
              <a:ln w="12700" cap="flat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63" name="Rectangle 8"/>
              <p:cNvSpPr/>
              <p:nvPr/>
            </p:nvSpPr>
            <p:spPr>
              <a:xfrm>
                <a:off x="713107" y="1596797"/>
                <a:ext cx="3953088" cy="937543"/>
              </a:xfrm>
              <a:prstGeom prst="rect">
                <a:avLst/>
              </a:prstGeom>
              <a:noFill/>
              <a:ln w="12700" cap="flat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64" name="Rectangle 9"/>
              <p:cNvSpPr/>
              <p:nvPr/>
            </p:nvSpPr>
            <p:spPr>
              <a:xfrm>
                <a:off x="713107" y="2534340"/>
                <a:ext cx="3953088" cy="1239539"/>
              </a:xfrm>
              <a:prstGeom prst="rect">
                <a:avLst/>
              </a:prstGeom>
              <a:noFill/>
              <a:ln w="12700" cap="flat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65" name="TextBox 10"/>
              <p:cNvSpPr txBox="1"/>
              <p:nvPr/>
            </p:nvSpPr>
            <p:spPr>
              <a:xfrm>
                <a:off x="0" y="702733"/>
                <a:ext cx="626587" cy="3920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91439" tIns="91439" rIns="91439" bIns="91439" numCol="1" anchor="t">
                <a:spAutoFit/>
              </a:bodyPr>
              <a:lstStyle>
                <a:lvl1pPr>
                  <a:defRPr sz="1600">
                    <a:solidFill>
                      <a:srgbClr val="808080"/>
                    </a:solidFill>
                  </a:defRPr>
                </a:lvl1pPr>
              </a:lstStyle>
              <a:p>
                <a:r>
                  <a:t>CM 2</a:t>
                </a:r>
              </a:p>
            </p:txBody>
          </p:sp>
          <p:sp>
            <p:nvSpPr>
              <p:cNvPr id="266" name="TextBox 11"/>
              <p:cNvSpPr txBox="1"/>
              <p:nvPr/>
            </p:nvSpPr>
            <p:spPr>
              <a:xfrm>
                <a:off x="0" y="1828800"/>
                <a:ext cx="626587" cy="3920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91439" tIns="91439" rIns="91439" bIns="91439" numCol="1" anchor="t">
                <a:spAutoFit/>
              </a:bodyPr>
              <a:lstStyle>
                <a:lvl1pPr>
                  <a:defRPr sz="1600">
                    <a:solidFill>
                      <a:srgbClr val="808080"/>
                    </a:solidFill>
                  </a:defRPr>
                </a:lvl1pPr>
              </a:lstStyle>
              <a:p>
                <a:r>
                  <a:t>CM 3</a:t>
                </a:r>
              </a:p>
            </p:txBody>
          </p:sp>
          <p:sp>
            <p:nvSpPr>
              <p:cNvPr id="267" name="TextBox 12"/>
              <p:cNvSpPr txBox="1"/>
              <p:nvPr/>
            </p:nvSpPr>
            <p:spPr>
              <a:xfrm>
                <a:off x="0" y="2845144"/>
                <a:ext cx="626587" cy="3920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91439" tIns="91439" rIns="91439" bIns="91439" numCol="1" anchor="t">
                <a:spAutoFit/>
              </a:bodyPr>
              <a:lstStyle>
                <a:lvl1pPr>
                  <a:defRPr sz="1600">
                    <a:solidFill>
                      <a:srgbClr val="808080"/>
                    </a:solidFill>
                  </a:defRPr>
                </a:lvl1pPr>
              </a:lstStyle>
              <a:p>
                <a:r>
                  <a:t>CM 4</a:t>
                </a:r>
              </a:p>
            </p:txBody>
          </p:sp>
          <p:grpSp>
            <p:nvGrpSpPr>
              <p:cNvPr id="274" name="Group 13"/>
              <p:cNvGrpSpPr/>
              <p:nvPr/>
            </p:nvGrpSpPr>
            <p:grpSpPr>
              <a:xfrm>
                <a:off x="807304" y="163476"/>
                <a:ext cx="3763893" cy="3573911"/>
                <a:chOff x="0" y="0"/>
                <a:chExt cx="3763892" cy="3573911"/>
              </a:xfrm>
            </p:grpSpPr>
            <p:sp>
              <p:nvSpPr>
                <p:cNvPr id="268" name="Freeform 14"/>
                <p:cNvSpPr/>
                <p:nvPr/>
              </p:nvSpPr>
              <p:spPr>
                <a:xfrm>
                  <a:off x="607836" y="368704"/>
                  <a:ext cx="1069557" cy="100682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600" y="450"/>
                      </a:lnTo>
                      <a:lnTo>
                        <a:pt x="13708" y="21600"/>
                      </a:lnTo>
                      <a:lnTo>
                        <a:pt x="831" y="2115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b="1">
                      <a:solidFill>
                        <a:srgbClr val="FF0000"/>
                      </a:solidFill>
                    </a:defRPr>
                  </a:pPr>
                  <a:endParaRPr/>
                </a:p>
              </p:txBody>
            </p:sp>
            <p:sp>
              <p:nvSpPr>
                <p:cNvPr id="269" name="Freeform 15"/>
                <p:cNvSpPr/>
                <p:nvPr/>
              </p:nvSpPr>
              <p:spPr>
                <a:xfrm flipH="1">
                  <a:off x="2022216" y="368704"/>
                  <a:ext cx="1046175" cy="100682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600" y="450"/>
                      </a:lnTo>
                      <a:lnTo>
                        <a:pt x="13708" y="21600"/>
                      </a:lnTo>
                      <a:lnTo>
                        <a:pt x="831" y="2115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1400" b="1">
                      <a:solidFill>
                        <a:srgbClr val="FFFFFF"/>
                      </a:solidFill>
                      <a:latin typeface="Courier"/>
                      <a:ea typeface="Courier"/>
                      <a:cs typeface="Courier"/>
                      <a:sym typeface="Courier"/>
                    </a:defRPr>
                  </a:pPr>
                  <a:endParaRPr/>
                </a:p>
              </p:txBody>
            </p:sp>
            <p:sp>
              <p:nvSpPr>
                <p:cNvPr id="270" name="Trapezoid 16"/>
                <p:cNvSpPr/>
                <p:nvPr/>
              </p:nvSpPr>
              <p:spPr>
                <a:xfrm>
                  <a:off x="1478680" y="1594768"/>
                  <a:ext cx="683811" cy="7760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5400" y="0"/>
                      </a:lnTo>
                      <a:lnTo>
                        <a:pt x="16200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271" name="Freeform 17"/>
                <p:cNvSpPr/>
                <p:nvPr/>
              </p:nvSpPr>
              <p:spPr>
                <a:xfrm>
                  <a:off x="-1" y="2920194"/>
                  <a:ext cx="1391004" cy="65371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600" y="450"/>
                      </a:lnTo>
                      <a:lnTo>
                        <a:pt x="13708" y="21600"/>
                      </a:lnTo>
                      <a:lnTo>
                        <a:pt x="831" y="2115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272" name="Freeform 18"/>
                <p:cNvSpPr/>
                <p:nvPr/>
              </p:nvSpPr>
              <p:spPr>
                <a:xfrm flipH="1">
                  <a:off x="2372889" y="2920194"/>
                  <a:ext cx="1391004" cy="65371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600" y="450"/>
                      </a:lnTo>
                      <a:lnTo>
                        <a:pt x="13708" y="21600"/>
                      </a:lnTo>
                      <a:lnTo>
                        <a:pt x="831" y="2115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273" name="Rectangle 19"/>
                <p:cNvSpPr/>
                <p:nvPr/>
              </p:nvSpPr>
              <p:spPr>
                <a:xfrm>
                  <a:off x="1525439" y="-1"/>
                  <a:ext cx="683811" cy="125854"/>
                </a:xfrm>
                <a:prstGeom prst="rect">
                  <a:avLst/>
                </a:prstGeom>
                <a:solidFill>
                  <a:srgbClr val="FFFF00"/>
                </a:solidFill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</p:grpSp>
        <p:sp>
          <p:nvSpPr>
            <p:cNvPr id="276" name="TextBox 23"/>
            <p:cNvSpPr txBox="1"/>
            <p:nvPr/>
          </p:nvSpPr>
          <p:spPr>
            <a:xfrm>
              <a:off x="1694837" y="810455"/>
              <a:ext cx="321668" cy="301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tabLst>
                  <a:tab pos="800100" algn="l"/>
                  <a:tab pos="2057400" algn="l"/>
                </a:tabLst>
                <a:defRPr sz="2400" b="1">
                  <a:solidFill>
                    <a:srgbClr val="FF0000"/>
                  </a:solidFill>
                </a:defRPr>
              </a:lvl1pPr>
            </a:lstStyle>
            <a:p>
              <a:r>
                <a:t>12</a:t>
              </a:r>
            </a:p>
          </p:txBody>
        </p:sp>
        <p:sp>
          <p:nvSpPr>
            <p:cNvPr id="277" name="TextBox 24"/>
            <p:cNvSpPr txBox="1"/>
            <p:nvPr/>
          </p:nvSpPr>
          <p:spPr>
            <a:xfrm>
              <a:off x="3311970" y="810455"/>
              <a:ext cx="321668" cy="301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tabLst>
                  <a:tab pos="800100" algn="l"/>
                  <a:tab pos="2057400" algn="l"/>
                </a:tabLst>
                <a:defRPr sz="2400" b="1">
                  <a:solidFill>
                    <a:srgbClr val="FF0000"/>
                  </a:solidFill>
                </a:defRPr>
              </a:lvl1pPr>
            </a:lstStyle>
            <a:p>
              <a:r>
                <a:t>12</a:t>
              </a:r>
            </a:p>
          </p:txBody>
        </p:sp>
        <p:sp>
          <p:nvSpPr>
            <p:cNvPr id="278" name="TextBox 25"/>
            <p:cNvSpPr txBox="1"/>
            <p:nvPr/>
          </p:nvSpPr>
          <p:spPr>
            <a:xfrm>
              <a:off x="1190319" y="3206522"/>
              <a:ext cx="321668" cy="301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tabLst>
                  <a:tab pos="800100" algn="l"/>
                  <a:tab pos="2057400" algn="l"/>
                </a:tabLst>
                <a:defRPr sz="2400" b="1">
                  <a:solidFill>
                    <a:srgbClr val="FF0000"/>
                  </a:solidFill>
                </a:defRPr>
              </a:lvl1pPr>
            </a:lstStyle>
            <a:p>
              <a:r>
                <a:t>12</a:t>
              </a:r>
            </a:p>
          </p:txBody>
        </p:sp>
        <p:sp>
          <p:nvSpPr>
            <p:cNvPr id="279" name="TextBox 26"/>
            <p:cNvSpPr txBox="1"/>
            <p:nvPr/>
          </p:nvSpPr>
          <p:spPr>
            <a:xfrm>
              <a:off x="3851567" y="3198055"/>
              <a:ext cx="321668" cy="301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tabLst>
                  <a:tab pos="800100" algn="l"/>
                  <a:tab pos="2057400" algn="l"/>
                </a:tabLst>
                <a:defRPr sz="2400" b="1">
                  <a:solidFill>
                    <a:srgbClr val="FF0000"/>
                  </a:solidFill>
                </a:defRPr>
              </a:lvl1pPr>
            </a:lstStyle>
            <a:p>
              <a:r>
                <a:t>12</a:t>
              </a:r>
            </a:p>
          </p:txBody>
        </p:sp>
      </p:grpSp>
      <p:sp>
        <p:nvSpPr>
          <p:cNvPr id="281" name="TextBox 27"/>
          <p:cNvSpPr txBox="1"/>
          <p:nvPr/>
        </p:nvSpPr>
        <p:spPr>
          <a:xfrm>
            <a:off x="5452531" y="2204914"/>
            <a:ext cx="3348569" cy="3601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  <a:defRPr sz="2000"/>
            </a:pPr>
            <a:r>
              <a:t>Suppose I set the dose zone to </a:t>
            </a:r>
            <a:r>
              <a:rPr b="1">
                <a:solidFill>
                  <a:srgbClr val="FF0000"/>
                </a:solidFill>
              </a:rPr>
              <a:t>12</a:t>
            </a:r>
            <a:r>
              <a:rPr>
                <a:solidFill>
                  <a:srgbClr val="FF0000"/>
                </a:solidFill>
              </a:rPr>
              <a:t> </a:t>
            </a:r>
            <a:r>
              <a:t>for all 4 jaw regions in this diagram.</a:t>
            </a:r>
            <a:br/>
            <a:endParaRPr/>
          </a:p>
          <a:p>
            <a:pPr>
              <a:tabLst>
                <a:tab pos="800100" algn="l"/>
                <a:tab pos="2057400" algn="l"/>
              </a:tabLst>
              <a:defRPr sz="2000"/>
            </a:pPr>
            <a:r>
              <a:t>Then BEAMnrc will output a dose summary for the dose zone 12, which will give the </a:t>
            </a:r>
            <a:br/>
            <a:r>
              <a:rPr b="1">
                <a:solidFill>
                  <a:srgbClr val="FF0000"/>
                </a:solidFill>
              </a:rPr>
              <a:t>dose deposited in all 4 regions, as a whole.</a:t>
            </a:r>
          </a:p>
          <a:p>
            <a:pPr>
              <a:tabLst>
                <a:tab pos="800100" algn="l"/>
                <a:tab pos="2057400" algn="l"/>
              </a:tabLst>
              <a:defRPr sz="2000" b="1">
                <a:solidFill>
                  <a:srgbClr val="FF0000"/>
                </a:solidFill>
              </a:defRPr>
            </a:pPr>
            <a:endParaRPr b="1">
              <a:solidFill>
                <a:srgbClr val="FF0000"/>
              </a:solidFill>
            </a:endParaRPr>
          </a:p>
          <a:p>
            <a:pPr>
              <a:tabLst>
                <a:tab pos="800100" algn="l"/>
                <a:tab pos="2057400" algn="l"/>
              </a:tabLst>
              <a:defRPr sz="2000"/>
            </a:pPr>
            <a:r>
              <a:t>(Dose zones don’t have to be assigned.)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8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" grpId="1" animBg="1" advAuto="0"/>
      <p:bldP spid="281" grpId="2" build="p" bldLvl="5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  <p:sp>
        <p:nvSpPr>
          <p:cNvPr id="284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2. Scoring plane:  a) analyze fluence</a:t>
            </a:r>
          </a:p>
        </p:txBody>
      </p:sp>
      <p:grpSp>
        <p:nvGrpSpPr>
          <p:cNvPr id="310" name="Group 2"/>
          <p:cNvGrpSpPr/>
          <p:nvPr/>
        </p:nvGrpSpPr>
        <p:grpSpPr>
          <a:xfrm>
            <a:off x="586339" y="1355610"/>
            <a:ext cx="3122627" cy="4580186"/>
            <a:chOff x="0" y="0"/>
            <a:chExt cx="3122625" cy="4580185"/>
          </a:xfrm>
        </p:grpSpPr>
        <p:sp>
          <p:nvSpPr>
            <p:cNvPr id="285" name="Rectangle 28"/>
            <p:cNvSpPr/>
            <p:nvPr/>
          </p:nvSpPr>
          <p:spPr>
            <a:xfrm>
              <a:off x="722325" y="57150"/>
              <a:ext cx="2400301" cy="4000501"/>
            </a:xfrm>
            <a:prstGeom prst="rect">
              <a:avLst/>
            </a:prstGeom>
            <a:solidFill>
              <a:srgbClr val="CAF2C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86" name="Rectangle 29"/>
            <p:cNvSpPr/>
            <p:nvPr/>
          </p:nvSpPr>
          <p:spPr>
            <a:xfrm>
              <a:off x="722325" y="57150"/>
              <a:ext cx="2400301" cy="457201"/>
            </a:xfrm>
            <a:prstGeom prst="rect">
              <a:avLst/>
            </a:prstGeom>
            <a:solidFill>
              <a:srgbClr val="FAC09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87" name="Rectangle 30"/>
            <p:cNvSpPr/>
            <p:nvPr/>
          </p:nvSpPr>
          <p:spPr>
            <a:xfrm>
              <a:off x="722325" y="514350"/>
              <a:ext cx="2400301" cy="228601"/>
            </a:xfrm>
            <a:prstGeom prst="rect">
              <a:avLst/>
            </a:prstGeom>
            <a:solidFill>
              <a:srgbClr val="FAC09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88" name="Rectangle 31"/>
            <p:cNvSpPr/>
            <p:nvPr/>
          </p:nvSpPr>
          <p:spPr>
            <a:xfrm>
              <a:off x="722325" y="1200150"/>
              <a:ext cx="2400301" cy="571501"/>
            </a:xfrm>
            <a:prstGeom prst="rect">
              <a:avLst/>
            </a:prstGeom>
            <a:solidFill>
              <a:srgbClr val="FAC09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89" name="Rectangle 32"/>
            <p:cNvSpPr/>
            <p:nvPr/>
          </p:nvSpPr>
          <p:spPr>
            <a:xfrm>
              <a:off x="722325" y="2000250"/>
              <a:ext cx="2400301" cy="228601"/>
            </a:xfrm>
            <a:prstGeom prst="rect">
              <a:avLst/>
            </a:prstGeom>
            <a:solidFill>
              <a:srgbClr val="FAC09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0" name="Rectangle 33"/>
            <p:cNvSpPr/>
            <p:nvPr/>
          </p:nvSpPr>
          <p:spPr>
            <a:xfrm>
              <a:off x="722325" y="2228850"/>
              <a:ext cx="2400301" cy="342901"/>
            </a:xfrm>
            <a:prstGeom prst="rect">
              <a:avLst/>
            </a:prstGeom>
            <a:solidFill>
              <a:srgbClr val="FAC09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1" name="Rectangle 34"/>
            <p:cNvSpPr/>
            <p:nvPr/>
          </p:nvSpPr>
          <p:spPr>
            <a:xfrm>
              <a:off x="722325" y="2686050"/>
              <a:ext cx="2400301" cy="1371601"/>
            </a:xfrm>
            <a:prstGeom prst="rect">
              <a:avLst/>
            </a:prstGeom>
            <a:solidFill>
              <a:srgbClr val="FAC09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2" name="Rectangle 35"/>
            <p:cNvSpPr/>
            <p:nvPr/>
          </p:nvSpPr>
          <p:spPr>
            <a:xfrm>
              <a:off x="722325" y="57150"/>
              <a:ext cx="2400301" cy="457201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3" name="Rectangle 36"/>
            <p:cNvSpPr/>
            <p:nvPr/>
          </p:nvSpPr>
          <p:spPr>
            <a:xfrm>
              <a:off x="722325" y="514350"/>
              <a:ext cx="2400301" cy="228601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4" name="Rectangle 37"/>
            <p:cNvSpPr/>
            <p:nvPr/>
          </p:nvSpPr>
          <p:spPr>
            <a:xfrm>
              <a:off x="722325" y="742950"/>
              <a:ext cx="2400301" cy="1028701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5" name="Rectangle 38"/>
            <p:cNvSpPr/>
            <p:nvPr/>
          </p:nvSpPr>
          <p:spPr>
            <a:xfrm>
              <a:off x="722325" y="1771650"/>
              <a:ext cx="2400301" cy="457201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6" name="Rectangle 39"/>
            <p:cNvSpPr/>
            <p:nvPr/>
          </p:nvSpPr>
          <p:spPr>
            <a:xfrm>
              <a:off x="722325" y="2228850"/>
              <a:ext cx="2400301" cy="342901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7" name="Rectangle 40"/>
            <p:cNvSpPr/>
            <p:nvPr/>
          </p:nvSpPr>
          <p:spPr>
            <a:xfrm>
              <a:off x="722325" y="2571750"/>
              <a:ext cx="2400301" cy="457201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8" name="Rectangle 41"/>
            <p:cNvSpPr/>
            <p:nvPr/>
          </p:nvSpPr>
          <p:spPr>
            <a:xfrm>
              <a:off x="722325" y="3028950"/>
              <a:ext cx="2400301" cy="1028701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302" name="Group 42"/>
            <p:cNvGrpSpPr/>
            <p:nvPr/>
          </p:nvGrpSpPr>
          <p:grpSpPr>
            <a:xfrm>
              <a:off x="1865325" y="0"/>
              <a:ext cx="355601" cy="4580186"/>
              <a:chOff x="0" y="0"/>
              <a:chExt cx="355600" cy="4580185"/>
            </a:xfrm>
          </p:grpSpPr>
          <p:sp>
            <p:nvSpPr>
              <p:cNvPr id="299" name="Oval 43"/>
              <p:cNvSpPr/>
              <p:nvPr/>
            </p:nvSpPr>
            <p:spPr>
              <a:xfrm>
                <a:off x="0" y="0"/>
                <a:ext cx="114300" cy="114300"/>
              </a:xfrm>
              <a:prstGeom prst="ellipse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00" name="Straight Arrow Connector 44"/>
              <p:cNvSpPr/>
              <p:nvPr/>
            </p:nvSpPr>
            <p:spPr>
              <a:xfrm flipH="1">
                <a:off x="57149" y="114299"/>
                <a:ext cx="2" cy="4328585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01" name="TextBox 45"/>
              <p:cNvSpPr txBox="1"/>
              <p:nvPr/>
            </p:nvSpPr>
            <p:spPr>
              <a:xfrm>
                <a:off x="228600" y="4286250"/>
                <a:ext cx="127001" cy="29393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sz="2200"/>
                </a:lvl1pPr>
              </a:lstStyle>
              <a:p>
                <a:r>
                  <a:t>z</a:t>
                </a:r>
              </a:p>
            </p:txBody>
          </p:sp>
        </p:grpSp>
        <p:sp>
          <p:nvSpPr>
            <p:cNvPr id="303" name="TextBox 46"/>
            <p:cNvSpPr txBox="1"/>
            <p:nvPr/>
          </p:nvSpPr>
          <p:spPr>
            <a:xfrm>
              <a:off x="0" y="171449"/>
              <a:ext cx="501043" cy="2416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/>
              </a:lvl1pPr>
            </a:lstStyle>
            <a:p>
              <a:r>
                <a:t>CM 1</a:t>
              </a:r>
            </a:p>
          </p:txBody>
        </p:sp>
        <p:sp>
          <p:nvSpPr>
            <p:cNvPr id="304" name="TextBox 47"/>
            <p:cNvSpPr txBox="1"/>
            <p:nvPr/>
          </p:nvSpPr>
          <p:spPr>
            <a:xfrm>
              <a:off x="0" y="514350"/>
              <a:ext cx="501043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/>
              </a:lvl1pPr>
            </a:lstStyle>
            <a:p>
              <a:r>
                <a:t>CM 2</a:t>
              </a:r>
            </a:p>
          </p:txBody>
        </p:sp>
        <p:sp>
          <p:nvSpPr>
            <p:cNvPr id="305" name="TextBox 48"/>
            <p:cNvSpPr txBox="1"/>
            <p:nvPr/>
          </p:nvSpPr>
          <p:spPr>
            <a:xfrm>
              <a:off x="0" y="1085850"/>
              <a:ext cx="501043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/>
              </a:lvl1pPr>
            </a:lstStyle>
            <a:p>
              <a:r>
                <a:t>CM 3</a:t>
              </a:r>
            </a:p>
          </p:txBody>
        </p:sp>
        <p:sp>
          <p:nvSpPr>
            <p:cNvPr id="306" name="TextBox 49"/>
            <p:cNvSpPr txBox="1"/>
            <p:nvPr/>
          </p:nvSpPr>
          <p:spPr>
            <a:xfrm>
              <a:off x="0" y="1885950"/>
              <a:ext cx="501043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/>
              </a:lvl1pPr>
            </a:lstStyle>
            <a:p>
              <a:r>
                <a:t>CM 4</a:t>
              </a:r>
            </a:p>
          </p:txBody>
        </p:sp>
        <p:sp>
          <p:nvSpPr>
            <p:cNvPr id="307" name="TextBox 50"/>
            <p:cNvSpPr txBox="1"/>
            <p:nvPr/>
          </p:nvSpPr>
          <p:spPr>
            <a:xfrm>
              <a:off x="0" y="2228850"/>
              <a:ext cx="501043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/>
              </a:lvl1pPr>
            </a:lstStyle>
            <a:p>
              <a:r>
                <a:t>CM 5</a:t>
              </a:r>
            </a:p>
          </p:txBody>
        </p:sp>
        <p:sp>
          <p:nvSpPr>
            <p:cNvPr id="308" name="TextBox 51"/>
            <p:cNvSpPr txBox="1"/>
            <p:nvPr/>
          </p:nvSpPr>
          <p:spPr>
            <a:xfrm>
              <a:off x="0" y="2686050"/>
              <a:ext cx="501043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/>
              </a:lvl1pPr>
            </a:lstStyle>
            <a:p>
              <a:r>
                <a:t>CM 6</a:t>
              </a:r>
            </a:p>
          </p:txBody>
        </p:sp>
        <p:sp>
          <p:nvSpPr>
            <p:cNvPr id="309" name="TextBox 52"/>
            <p:cNvSpPr txBox="1"/>
            <p:nvPr/>
          </p:nvSpPr>
          <p:spPr>
            <a:xfrm>
              <a:off x="0" y="3371850"/>
              <a:ext cx="501043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/>
              </a:lvl1pPr>
            </a:lstStyle>
            <a:p>
              <a:r>
                <a:t>CM 7</a:t>
              </a:r>
            </a:p>
          </p:txBody>
        </p:sp>
      </p:grpSp>
      <p:grpSp>
        <p:nvGrpSpPr>
          <p:cNvPr id="313" name="Group 58"/>
          <p:cNvGrpSpPr/>
          <p:nvPr/>
        </p:nvGrpSpPr>
        <p:grpSpPr>
          <a:xfrm>
            <a:off x="1168965" y="2964560"/>
            <a:ext cx="4986819" cy="241649"/>
            <a:chOff x="0" y="0"/>
            <a:chExt cx="4986817" cy="241647"/>
          </a:xfrm>
        </p:grpSpPr>
        <p:sp>
          <p:nvSpPr>
            <p:cNvPr id="311" name="Straight Connector 56"/>
            <p:cNvSpPr/>
            <p:nvPr/>
          </p:nvSpPr>
          <p:spPr>
            <a:xfrm>
              <a:off x="0" y="162699"/>
              <a:ext cx="2734734" cy="1"/>
            </a:xfrm>
            <a:prstGeom prst="line">
              <a:avLst/>
            </a:prstGeom>
            <a:noFill/>
            <a:ln w="5715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2" name="TextBox 61"/>
            <p:cNvSpPr txBox="1"/>
            <p:nvPr/>
          </p:nvSpPr>
          <p:spPr>
            <a:xfrm>
              <a:off x="2865930" y="0"/>
              <a:ext cx="2120888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>
                  <a:solidFill>
                    <a:srgbClr val="FF0000"/>
                  </a:solidFill>
                </a:defRPr>
              </a:lvl1pPr>
            </a:lstStyle>
            <a:p>
              <a:r>
                <a:t>scoring plane 1 (CM 3)</a:t>
              </a:r>
            </a:p>
          </p:txBody>
        </p:sp>
      </p:grpSp>
      <p:grpSp>
        <p:nvGrpSpPr>
          <p:cNvPr id="316" name="Group 4095"/>
          <p:cNvGrpSpPr/>
          <p:nvPr/>
        </p:nvGrpSpPr>
        <p:grpSpPr>
          <a:xfrm>
            <a:off x="1168965" y="3777360"/>
            <a:ext cx="4986819" cy="241649"/>
            <a:chOff x="0" y="0"/>
            <a:chExt cx="4986817" cy="241647"/>
          </a:xfrm>
        </p:grpSpPr>
        <p:sp>
          <p:nvSpPr>
            <p:cNvPr id="314" name="Straight Connector 59"/>
            <p:cNvSpPr/>
            <p:nvPr/>
          </p:nvSpPr>
          <p:spPr>
            <a:xfrm>
              <a:off x="0" y="149999"/>
              <a:ext cx="2734734" cy="1"/>
            </a:xfrm>
            <a:prstGeom prst="line">
              <a:avLst/>
            </a:prstGeom>
            <a:noFill/>
            <a:ln w="5715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5" name="TextBox 62"/>
            <p:cNvSpPr txBox="1"/>
            <p:nvPr/>
          </p:nvSpPr>
          <p:spPr>
            <a:xfrm>
              <a:off x="2865930" y="0"/>
              <a:ext cx="2120888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>
                  <a:solidFill>
                    <a:srgbClr val="FF0000"/>
                  </a:solidFill>
                </a:defRPr>
              </a:lvl1pPr>
            </a:lstStyle>
            <a:p>
              <a:r>
                <a:t>scoring plane 2 (CM 5)</a:t>
              </a:r>
            </a:p>
          </p:txBody>
        </p:sp>
      </p:grpSp>
      <p:grpSp>
        <p:nvGrpSpPr>
          <p:cNvPr id="319" name="Group 4096"/>
          <p:cNvGrpSpPr/>
          <p:nvPr/>
        </p:nvGrpSpPr>
        <p:grpSpPr>
          <a:xfrm>
            <a:off x="1168965" y="5273587"/>
            <a:ext cx="4935139" cy="241648"/>
            <a:chOff x="0" y="0"/>
            <a:chExt cx="4935137" cy="241647"/>
          </a:xfrm>
        </p:grpSpPr>
        <p:sp>
          <p:nvSpPr>
            <p:cNvPr id="317" name="Straight Connector 60"/>
            <p:cNvSpPr/>
            <p:nvPr/>
          </p:nvSpPr>
          <p:spPr>
            <a:xfrm>
              <a:off x="0" y="138500"/>
              <a:ext cx="2734734" cy="1"/>
            </a:xfrm>
            <a:prstGeom prst="line">
              <a:avLst/>
            </a:prstGeom>
            <a:noFill/>
            <a:ln w="5715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8" name="TextBox 63"/>
            <p:cNvSpPr txBox="1"/>
            <p:nvPr/>
          </p:nvSpPr>
          <p:spPr>
            <a:xfrm>
              <a:off x="2865930" y="0"/>
              <a:ext cx="2069208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>
                  <a:solidFill>
                    <a:srgbClr val="FF0000"/>
                  </a:solidFill>
                </a:defRPr>
              </a:lvl1pPr>
            </a:lstStyle>
            <a:p>
              <a:r>
                <a:t>scoring plane 3 (CM7)</a:t>
              </a:r>
            </a:p>
          </p:txBody>
        </p:sp>
      </p:grpSp>
      <p:sp>
        <p:nvSpPr>
          <p:cNvPr id="320" name="TextBox 68"/>
          <p:cNvSpPr txBox="1"/>
          <p:nvPr/>
        </p:nvSpPr>
        <p:spPr>
          <a:xfrm>
            <a:off x="4115365" y="1371600"/>
            <a:ext cx="4435968" cy="1163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  <a:defRPr sz="2000"/>
            </a:pPr>
            <a:r>
              <a:t>You can define up to </a:t>
            </a:r>
            <a:r>
              <a:rPr b="1"/>
              <a:t>3 scoring planes, </a:t>
            </a:r>
            <a:r>
              <a:t>located at the bottom of any CM. </a:t>
            </a:r>
            <a:br/>
            <a:r>
              <a:t>The properties of particles reaching a scoring plane are “recorded”.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" grpId="1" animBg="1" advAuto="0"/>
      <p:bldP spid="316" grpId="2" animBg="1" advAuto="0"/>
      <p:bldP spid="319" grpId="3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16</a:t>
            </a:fld>
            <a:endParaRPr/>
          </a:p>
        </p:txBody>
      </p:sp>
      <p:sp>
        <p:nvSpPr>
          <p:cNvPr id="323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2. Scoring plane:  a) analyze fluence</a:t>
            </a:r>
          </a:p>
        </p:txBody>
      </p:sp>
      <p:sp>
        <p:nvSpPr>
          <p:cNvPr id="324" name="TextBox 27"/>
          <p:cNvSpPr txBox="1"/>
          <p:nvPr/>
        </p:nvSpPr>
        <p:spPr>
          <a:xfrm>
            <a:off x="4115365" y="1412759"/>
            <a:ext cx="4512168" cy="566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tabLst>
                <a:tab pos="800100" algn="l"/>
                <a:tab pos="2057400" algn="l"/>
              </a:tabLst>
              <a:defRPr sz="2000"/>
            </a:pPr>
            <a:r>
              <a:t>Each scoring plane can be further divided in radial or square </a:t>
            </a:r>
            <a:r>
              <a:rPr b="1"/>
              <a:t>scoring zones.</a:t>
            </a:r>
          </a:p>
        </p:txBody>
      </p:sp>
      <p:grpSp>
        <p:nvGrpSpPr>
          <p:cNvPr id="350" name="Group 2"/>
          <p:cNvGrpSpPr/>
          <p:nvPr/>
        </p:nvGrpSpPr>
        <p:grpSpPr>
          <a:xfrm>
            <a:off x="586339" y="1355610"/>
            <a:ext cx="3122627" cy="4580186"/>
            <a:chOff x="0" y="0"/>
            <a:chExt cx="3122625" cy="4580185"/>
          </a:xfrm>
        </p:grpSpPr>
        <p:sp>
          <p:nvSpPr>
            <p:cNvPr id="325" name="Rectangle 28"/>
            <p:cNvSpPr/>
            <p:nvPr/>
          </p:nvSpPr>
          <p:spPr>
            <a:xfrm>
              <a:off x="722325" y="57150"/>
              <a:ext cx="2400301" cy="4000501"/>
            </a:xfrm>
            <a:prstGeom prst="rect">
              <a:avLst/>
            </a:prstGeom>
            <a:solidFill>
              <a:srgbClr val="CAF2C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26" name="Rectangle 29"/>
            <p:cNvSpPr/>
            <p:nvPr/>
          </p:nvSpPr>
          <p:spPr>
            <a:xfrm>
              <a:off x="722325" y="57150"/>
              <a:ext cx="2400301" cy="457201"/>
            </a:xfrm>
            <a:prstGeom prst="rect">
              <a:avLst/>
            </a:prstGeom>
            <a:solidFill>
              <a:srgbClr val="FAC09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27" name="Rectangle 30"/>
            <p:cNvSpPr/>
            <p:nvPr/>
          </p:nvSpPr>
          <p:spPr>
            <a:xfrm>
              <a:off x="722325" y="514350"/>
              <a:ext cx="2400301" cy="228601"/>
            </a:xfrm>
            <a:prstGeom prst="rect">
              <a:avLst/>
            </a:prstGeom>
            <a:solidFill>
              <a:srgbClr val="FAC09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28" name="Rectangle 31"/>
            <p:cNvSpPr/>
            <p:nvPr/>
          </p:nvSpPr>
          <p:spPr>
            <a:xfrm>
              <a:off x="722325" y="1200150"/>
              <a:ext cx="2400301" cy="571501"/>
            </a:xfrm>
            <a:prstGeom prst="rect">
              <a:avLst/>
            </a:prstGeom>
            <a:solidFill>
              <a:srgbClr val="FAC09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29" name="Rectangle 32"/>
            <p:cNvSpPr/>
            <p:nvPr/>
          </p:nvSpPr>
          <p:spPr>
            <a:xfrm>
              <a:off x="722325" y="2000250"/>
              <a:ext cx="2400301" cy="228601"/>
            </a:xfrm>
            <a:prstGeom prst="rect">
              <a:avLst/>
            </a:prstGeom>
            <a:solidFill>
              <a:srgbClr val="FAC09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0" name="Rectangle 33"/>
            <p:cNvSpPr/>
            <p:nvPr/>
          </p:nvSpPr>
          <p:spPr>
            <a:xfrm>
              <a:off x="722325" y="2228850"/>
              <a:ext cx="2400301" cy="342901"/>
            </a:xfrm>
            <a:prstGeom prst="rect">
              <a:avLst/>
            </a:prstGeom>
            <a:solidFill>
              <a:srgbClr val="FAC09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1" name="Rectangle 34"/>
            <p:cNvSpPr/>
            <p:nvPr/>
          </p:nvSpPr>
          <p:spPr>
            <a:xfrm>
              <a:off x="722325" y="2686050"/>
              <a:ext cx="2400301" cy="1371601"/>
            </a:xfrm>
            <a:prstGeom prst="rect">
              <a:avLst/>
            </a:prstGeom>
            <a:solidFill>
              <a:srgbClr val="FAC09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2" name="Rectangle 35"/>
            <p:cNvSpPr/>
            <p:nvPr/>
          </p:nvSpPr>
          <p:spPr>
            <a:xfrm>
              <a:off x="722325" y="57150"/>
              <a:ext cx="2400301" cy="457201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3" name="Rectangle 36"/>
            <p:cNvSpPr/>
            <p:nvPr/>
          </p:nvSpPr>
          <p:spPr>
            <a:xfrm>
              <a:off x="722325" y="514350"/>
              <a:ext cx="2400301" cy="228601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4" name="Rectangle 37"/>
            <p:cNvSpPr/>
            <p:nvPr/>
          </p:nvSpPr>
          <p:spPr>
            <a:xfrm>
              <a:off x="722325" y="742950"/>
              <a:ext cx="2400301" cy="1028701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5" name="Rectangle 38"/>
            <p:cNvSpPr/>
            <p:nvPr/>
          </p:nvSpPr>
          <p:spPr>
            <a:xfrm>
              <a:off x="722325" y="1771650"/>
              <a:ext cx="2400301" cy="457201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6" name="Rectangle 39"/>
            <p:cNvSpPr/>
            <p:nvPr/>
          </p:nvSpPr>
          <p:spPr>
            <a:xfrm>
              <a:off x="722325" y="2228850"/>
              <a:ext cx="2400301" cy="342901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7" name="Rectangle 40"/>
            <p:cNvSpPr/>
            <p:nvPr/>
          </p:nvSpPr>
          <p:spPr>
            <a:xfrm>
              <a:off x="722325" y="2571750"/>
              <a:ext cx="2400301" cy="457201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8" name="Rectangle 41"/>
            <p:cNvSpPr/>
            <p:nvPr/>
          </p:nvSpPr>
          <p:spPr>
            <a:xfrm>
              <a:off x="722325" y="3028950"/>
              <a:ext cx="2400301" cy="1028701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342" name="Group 42"/>
            <p:cNvGrpSpPr/>
            <p:nvPr/>
          </p:nvGrpSpPr>
          <p:grpSpPr>
            <a:xfrm>
              <a:off x="1865325" y="0"/>
              <a:ext cx="355601" cy="4580186"/>
              <a:chOff x="0" y="0"/>
              <a:chExt cx="355600" cy="4580185"/>
            </a:xfrm>
          </p:grpSpPr>
          <p:sp>
            <p:nvSpPr>
              <p:cNvPr id="339" name="Oval 43"/>
              <p:cNvSpPr/>
              <p:nvPr/>
            </p:nvSpPr>
            <p:spPr>
              <a:xfrm>
                <a:off x="0" y="0"/>
                <a:ext cx="114300" cy="114300"/>
              </a:xfrm>
              <a:prstGeom prst="ellipse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40" name="Straight Arrow Connector 44"/>
              <p:cNvSpPr/>
              <p:nvPr/>
            </p:nvSpPr>
            <p:spPr>
              <a:xfrm flipH="1">
                <a:off x="57149" y="114299"/>
                <a:ext cx="2" cy="4328585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41" name="TextBox 45"/>
              <p:cNvSpPr txBox="1"/>
              <p:nvPr/>
            </p:nvSpPr>
            <p:spPr>
              <a:xfrm>
                <a:off x="228600" y="4286250"/>
                <a:ext cx="127001" cy="29393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sz="2200"/>
                </a:lvl1pPr>
              </a:lstStyle>
              <a:p>
                <a:r>
                  <a:t>z</a:t>
                </a:r>
              </a:p>
            </p:txBody>
          </p:sp>
        </p:grpSp>
        <p:sp>
          <p:nvSpPr>
            <p:cNvPr id="343" name="TextBox 46"/>
            <p:cNvSpPr txBox="1"/>
            <p:nvPr/>
          </p:nvSpPr>
          <p:spPr>
            <a:xfrm>
              <a:off x="0" y="171449"/>
              <a:ext cx="501043" cy="2416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/>
              </a:lvl1pPr>
            </a:lstStyle>
            <a:p>
              <a:r>
                <a:t>CM 1</a:t>
              </a:r>
            </a:p>
          </p:txBody>
        </p:sp>
        <p:sp>
          <p:nvSpPr>
            <p:cNvPr id="344" name="TextBox 47"/>
            <p:cNvSpPr txBox="1"/>
            <p:nvPr/>
          </p:nvSpPr>
          <p:spPr>
            <a:xfrm>
              <a:off x="0" y="514350"/>
              <a:ext cx="501043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/>
              </a:lvl1pPr>
            </a:lstStyle>
            <a:p>
              <a:r>
                <a:t>CM 2</a:t>
              </a:r>
            </a:p>
          </p:txBody>
        </p:sp>
        <p:sp>
          <p:nvSpPr>
            <p:cNvPr id="345" name="TextBox 48"/>
            <p:cNvSpPr txBox="1"/>
            <p:nvPr/>
          </p:nvSpPr>
          <p:spPr>
            <a:xfrm>
              <a:off x="0" y="1085850"/>
              <a:ext cx="501043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/>
              </a:lvl1pPr>
            </a:lstStyle>
            <a:p>
              <a:r>
                <a:t>CM 3</a:t>
              </a:r>
            </a:p>
          </p:txBody>
        </p:sp>
        <p:sp>
          <p:nvSpPr>
            <p:cNvPr id="346" name="TextBox 49"/>
            <p:cNvSpPr txBox="1"/>
            <p:nvPr/>
          </p:nvSpPr>
          <p:spPr>
            <a:xfrm>
              <a:off x="0" y="1885950"/>
              <a:ext cx="501043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/>
              </a:lvl1pPr>
            </a:lstStyle>
            <a:p>
              <a:r>
                <a:t>CM 4</a:t>
              </a:r>
            </a:p>
          </p:txBody>
        </p:sp>
        <p:sp>
          <p:nvSpPr>
            <p:cNvPr id="347" name="TextBox 50"/>
            <p:cNvSpPr txBox="1"/>
            <p:nvPr/>
          </p:nvSpPr>
          <p:spPr>
            <a:xfrm>
              <a:off x="0" y="2228850"/>
              <a:ext cx="501043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/>
              </a:lvl1pPr>
            </a:lstStyle>
            <a:p>
              <a:r>
                <a:t>CM 5</a:t>
              </a:r>
            </a:p>
          </p:txBody>
        </p:sp>
        <p:sp>
          <p:nvSpPr>
            <p:cNvPr id="348" name="TextBox 51"/>
            <p:cNvSpPr txBox="1"/>
            <p:nvPr/>
          </p:nvSpPr>
          <p:spPr>
            <a:xfrm>
              <a:off x="0" y="2686050"/>
              <a:ext cx="501043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/>
              </a:lvl1pPr>
            </a:lstStyle>
            <a:p>
              <a:r>
                <a:t>CM 6</a:t>
              </a:r>
            </a:p>
          </p:txBody>
        </p:sp>
        <p:sp>
          <p:nvSpPr>
            <p:cNvPr id="349" name="TextBox 52"/>
            <p:cNvSpPr txBox="1"/>
            <p:nvPr/>
          </p:nvSpPr>
          <p:spPr>
            <a:xfrm>
              <a:off x="0" y="3371850"/>
              <a:ext cx="501043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/>
              </a:lvl1pPr>
            </a:lstStyle>
            <a:p>
              <a:r>
                <a:t>CM 7</a:t>
              </a:r>
            </a:p>
          </p:txBody>
        </p:sp>
      </p:grpSp>
      <p:sp>
        <p:nvSpPr>
          <p:cNvPr id="351" name="Straight Connector 56"/>
          <p:cNvSpPr/>
          <p:nvPr/>
        </p:nvSpPr>
        <p:spPr>
          <a:xfrm>
            <a:off x="1168965" y="3127260"/>
            <a:ext cx="2734734" cy="1"/>
          </a:xfrm>
          <a:prstGeom prst="line">
            <a:avLst/>
          </a:prstGeom>
          <a:ln w="57150">
            <a:solidFill>
              <a:srgbClr val="FF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2" name="Straight Connector 59"/>
          <p:cNvSpPr/>
          <p:nvPr/>
        </p:nvSpPr>
        <p:spPr>
          <a:xfrm>
            <a:off x="1168965" y="3927359"/>
            <a:ext cx="2734734" cy="1"/>
          </a:xfrm>
          <a:prstGeom prst="line">
            <a:avLst/>
          </a:prstGeom>
          <a:ln w="57150">
            <a:solidFill>
              <a:srgbClr val="FF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3" name="Straight Connector 60"/>
          <p:cNvSpPr/>
          <p:nvPr/>
        </p:nvSpPr>
        <p:spPr>
          <a:xfrm>
            <a:off x="1168965" y="5412087"/>
            <a:ext cx="2734734" cy="1"/>
          </a:xfrm>
          <a:prstGeom prst="line">
            <a:avLst/>
          </a:prstGeom>
          <a:ln w="57150">
            <a:solidFill>
              <a:srgbClr val="FF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4" name="TextBox 61"/>
          <p:cNvSpPr txBox="1"/>
          <p:nvPr/>
        </p:nvSpPr>
        <p:spPr>
          <a:xfrm>
            <a:off x="4034895" y="2964560"/>
            <a:ext cx="128564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355" name="TextBox 62"/>
          <p:cNvSpPr txBox="1"/>
          <p:nvPr/>
        </p:nvSpPr>
        <p:spPr>
          <a:xfrm>
            <a:off x="4034895" y="3777360"/>
            <a:ext cx="128564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356" name="TextBox 63"/>
          <p:cNvSpPr txBox="1"/>
          <p:nvPr/>
        </p:nvSpPr>
        <p:spPr>
          <a:xfrm>
            <a:off x="4034895" y="5273587"/>
            <a:ext cx="128564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t>3</a:t>
            </a:r>
          </a:p>
        </p:txBody>
      </p:sp>
      <p:pic>
        <p:nvPicPr>
          <p:cNvPr id="357" name="Picture 64" descr="Pictur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091" y="3045538"/>
            <a:ext cx="3363843" cy="3363843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  <p:sp>
        <p:nvSpPr>
          <p:cNvPr id="358" name="Freeform 4"/>
          <p:cNvSpPr/>
          <p:nvPr/>
        </p:nvSpPr>
        <p:spPr>
          <a:xfrm>
            <a:off x="3158066" y="3518558"/>
            <a:ext cx="1774333" cy="3229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105" extrusionOk="0">
                <a:moveTo>
                  <a:pt x="0" y="20105"/>
                </a:moveTo>
                <a:cubicBezTo>
                  <a:pt x="4151" y="11208"/>
                  <a:pt x="8302" y="2311"/>
                  <a:pt x="11902" y="408"/>
                </a:cubicBezTo>
                <a:cubicBezTo>
                  <a:pt x="15502" y="-1495"/>
                  <a:pt x="18551" y="3596"/>
                  <a:pt x="21600" y="8687"/>
                </a:cubicBezTo>
              </a:path>
            </a:pathLst>
          </a:custGeom>
          <a:ln w="25400">
            <a:solidFill>
              <a:srgbClr val="000000"/>
            </a:solidFill>
            <a:tailEnd type="triangle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9" name="TextBox 53"/>
          <p:cNvSpPr txBox="1"/>
          <p:nvPr/>
        </p:nvSpPr>
        <p:spPr>
          <a:xfrm>
            <a:off x="4115365" y="2146959"/>
            <a:ext cx="4512168" cy="566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tabLst>
                <a:tab pos="800100" algn="l"/>
                <a:tab pos="2057400" algn="l"/>
              </a:tabLst>
              <a:defRPr sz="2000"/>
            </a:lvl1pPr>
          </a:lstStyle>
          <a:p>
            <a:r>
              <a:t>BEAMnrc reports number, fluence, average energy and angle for each scoring zone.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" grpId="1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  <p:sp>
        <p:nvSpPr>
          <p:cNvPr id="362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2. Scoring plane:  b) save particles to file</a:t>
            </a:r>
          </a:p>
        </p:txBody>
      </p:sp>
      <p:grpSp>
        <p:nvGrpSpPr>
          <p:cNvPr id="367" name="Group 7"/>
          <p:cNvGrpSpPr/>
          <p:nvPr/>
        </p:nvGrpSpPr>
        <p:grpSpPr>
          <a:xfrm>
            <a:off x="524941" y="1176870"/>
            <a:ext cx="8258921" cy="4572000"/>
            <a:chOff x="0" y="0"/>
            <a:chExt cx="8258920" cy="4571998"/>
          </a:xfrm>
        </p:grpSpPr>
        <p:pic>
          <p:nvPicPr>
            <p:cNvPr id="363" name="Picture 2" descr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8258921" cy="45719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366" name="Group 6"/>
            <p:cNvGrpSpPr/>
            <p:nvPr/>
          </p:nvGrpSpPr>
          <p:grpSpPr>
            <a:xfrm>
              <a:off x="2672332" y="3606795"/>
              <a:ext cx="1429421" cy="567266"/>
              <a:chOff x="0" y="0"/>
              <a:chExt cx="1429419" cy="567264"/>
            </a:xfrm>
          </p:grpSpPr>
          <p:sp>
            <p:nvSpPr>
              <p:cNvPr id="364" name="Rectangle 3"/>
              <p:cNvSpPr/>
              <p:nvPr/>
            </p:nvSpPr>
            <p:spPr>
              <a:xfrm>
                <a:off x="130125" y="0"/>
                <a:ext cx="1168400" cy="567265"/>
              </a:xfrm>
              <a:prstGeom prst="rect">
                <a:avLst/>
              </a:prstGeom>
              <a:solidFill>
                <a:srgbClr val="000000"/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65" name="TextBox 54"/>
              <p:cNvSpPr txBox="1"/>
              <p:nvPr/>
            </p:nvSpPr>
            <p:spPr>
              <a:xfrm>
                <a:off x="0" y="200219"/>
                <a:ext cx="1429420" cy="2487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tabLst>
                    <a:tab pos="800100" algn="l"/>
                    <a:tab pos="2057400" algn="l"/>
                  </a:tabLst>
                  <a:defRPr sz="20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Scoring plane</a:t>
                </a:r>
              </a:p>
            </p:txBody>
          </p:sp>
        </p:grpSp>
      </p:grp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  <p:sp>
        <p:nvSpPr>
          <p:cNvPr id="370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3. “Latch” but not least: latch bits</a:t>
            </a:r>
          </a:p>
        </p:txBody>
      </p:sp>
      <p:grpSp>
        <p:nvGrpSpPr>
          <p:cNvPr id="418" name="Group 61"/>
          <p:cNvGrpSpPr/>
          <p:nvPr/>
        </p:nvGrpSpPr>
        <p:grpSpPr>
          <a:xfrm>
            <a:off x="571500" y="3657600"/>
            <a:ext cx="7886700" cy="875159"/>
            <a:chOff x="0" y="0"/>
            <a:chExt cx="7886700" cy="875158"/>
          </a:xfrm>
        </p:grpSpPr>
        <p:pic>
          <p:nvPicPr>
            <p:cNvPr id="371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900" y="0"/>
              <a:ext cx="342901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2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0"/>
              <a:ext cx="342901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3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8700" y="0"/>
              <a:ext cx="342901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4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1600" y="0"/>
              <a:ext cx="342901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5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0" y="0"/>
              <a:ext cx="342901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6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57400" y="0"/>
              <a:ext cx="342901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7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00300" y="0"/>
              <a:ext cx="342901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8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43200" y="0"/>
              <a:ext cx="342901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9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6100" y="0"/>
              <a:ext cx="342901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0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9000" y="0"/>
              <a:ext cx="342901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1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1900" y="0"/>
              <a:ext cx="342901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2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14800" y="0"/>
              <a:ext cx="342901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3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57700" y="0"/>
              <a:ext cx="342901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4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0600" y="0"/>
              <a:ext cx="342901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5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43500" y="0"/>
              <a:ext cx="342901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6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86400" y="0"/>
              <a:ext cx="342901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7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29300" y="0"/>
              <a:ext cx="342901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8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72200" y="0"/>
              <a:ext cx="342901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9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15100" y="0"/>
              <a:ext cx="342901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90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0" y="0"/>
              <a:ext cx="342901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91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00900" y="0"/>
              <a:ext cx="342901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92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43800" y="0"/>
              <a:ext cx="342901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93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342900" cy="685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417" name="Group 60"/>
            <p:cNvGrpSpPr/>
            <p:nvPr/>
          </p:nvGrpSpPr>
          <p:grpSpPr>
            <a:xfrm>
              <a:off x="0" y="685800"/>
              <a:ext cx="7886701" cy="189359"/>
              <a:chOff x="0" y="0"/>
              <a:chExt cx="7886700" cy="189358"/>
            </a:xfrm>
          </p:grpSpPr>
          <p:sp>
            <p:nvSpPr>
              <p:cNvPr id="394" name="TextBox 20"/>
              <p:cNvSpPr txBox="1"/>
              <p:nvPr/>
            </p:nvSpPr>
            <p:spPr>
              <a:xfrm>
                <a:off x="0" y="0"/>
                <a:ext cx="342900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1</a:t>
                </a:r>
              </a:p>
            </p:txBody>
          </p:sp>
          <p:sp>
            <p:nvSpPr>
              <p:cNvPr id="395" name="TextBox 121"/>
              <p:cNvSpPr txBox="1"/>
              <p:nvPr/>
            </p:nvSpPr>
            <p:spPr>
              <a:xfrm>
                <a:off x="342900" y="0"/>
                <a:ext cx="342901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2</a:t>
                </a:r>
              </a:p>
            </p:txBody>
          </p:sp>
          <p:sp>
            <p:nvSpPr>
              <p:cNvPr id="396" name="TextBox 122"/>
              <p:cNvSpPr txBox="1"/>
              <p:nvPr/>
            </p:nvSpPr>
            <p:spPr>
              <a:xfrm>
                <a:off x="685800" y="0"/>
                <a:ext cx="342901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3</a:t>
                </a:r>
              </a:p>
            </p:txBody>
          </p:sp>
          <p:sp>
            <p:nvSpPr>
              <p:cNvPr id="397" name="TextBox 123"/>
              <p:cNvSpPr txBox="1"/>
              <p:nvPr/>
            </p:nvSpPr>
            <p:spPr>
              <a:xfrm>
                <a:off x="1028700" y="0"/>
                <a:ext cx="342901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4</a:t>
                </a:r>
              </a:p>
            </p:txBody>
          </p:sp>
          <p:sp>
            <p:nvSpPr>
              <p:cNvPr id="398" name="TextBox 124"/>
              <p:cNvSpPr txBox="1"/>
              <p:nvPr/>
            </p:nvSpPr>
            <p:spPr>
              <a:xfrm>
                <a:off x="1371600" y="0"/>
                <a:ext cx="342901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5</a:t>
                </a:r>
              </a:p>
            </p:txBody>
          </p:sp>
          <p:sp>
            <p:nvSpPr>
              <p:cNvPr id="399" name="TextBox 125"/>
              <p:cNvSpPr txBox="1"/>
              <p:nvPr/>
            </p:nvSpPr>
            <p:spPr>
              <a:xfrm>
                <a:off x="1714500" y="0"/>
                <a:ext cx="342901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6</a:t>
                </a:r>
              </a:p>
            </p:txBody>
          </p:sp>
          <p:sp>
            <p:nvSpPr>
              <p:cNvPr id="400" name="TextBox 126"/>
              <p:cNvSpPr txBox="1"/>
              <p:nvPr/>
            </p:nvSpPr>
            <p:spPr>
              <a:xfrm>
                <a:off x="2057400" y="0"/>
                <a:ext cx="342901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7</a:t>
                </a:r>
              </a:p>
            </p:txBody>
          </p:sp>
          <p:sp>
            <p:nvSpPr>
              <p:cNvPr id="401" name="TextBox 127"/>
              <p:cNvSpPr txBox="1"/>
              <p:nvPr/>
            </p:nvSpPr>
            <p:spPr>
              <a:xfrm>
                <a:off x="2400300" y="0"/>
                <a:ext cx="342901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8</a:t>
                </a:r>
              </a:p>
            </p:txBody>
          </p:sp>
          <p:sp>
            <p:nvSpPr>
              <p:cNvPr id="402" name="TextBox 128"/>
              <p:cNvSpPr txBox="1"/>
              <p:nvPr/>
            </p:nvSpPr>
            <p:spPr>
              <a:xfrm>
                <a:off x="3086100" y="0"/>
                <a:ext cx="342901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10</a:t>
                </a:r>
              </a:p>
            </p:txBody>
          </p:sp>
          <p:sp>
            <p:nvSpPr>
              <p:cNvPr id="403" name="TextBox 129"/>
              <p:cNvSpPr txBox="1"/>
              <p:nvPr/>
            </p:nvSpPr>
            <p:spPr>
              <a:xfrm>
                <a:off x="3429000" y="0"/>
                <a:ext cx="342901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11</a:t>
                </a:r>
              </a:p>
            </p:txBody>
          </p:sp>
          <p:sp>
            <p:nvSpPr>
              <p:cNvPr id="404" name="TextBox 130"/>
              <p:cNvSpPr txBox="1"/>
              <p:nvPr/>
            </p:nvSpPr>
            <p:spPr>
              <a:xfrm>
                <a:off x="3771900" y="0"/>
                <a:ext cx="342901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12</a:t>
                </a:r>
              </a:p>
            </p:txBody>
          </p:sp>
          <p:sp>
            <p:nvSpPr>
              <p:cNvPr id="405" name="TextBox 131"/>
              <p:cNvSpPr txBox="1"/>
              <p:nvPr/>
            </p:nvSpPr>
            <p:spPr>
              <a:xfrm>
                <a:off x="4114800" y="0"/>
                <a:ext cx="342901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13</a:t>
                </a:r>
              </a:p>
            </p:txBody>
          </p:sp>
          <p:sp>
            <p:nvSpPr>
              <p:cNvPr id="406" name="TextBox 132"/>
              <p:cNvSpPr txBox="1"/>
              <p:nvPr/>
            </p:nvSpPr>
            <p:spPr>
              <a:xfrm>
                <a:off x="4457700" y="0"/>
                <a:ext cx="342901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14</a:t>
                </a:r>
              </a:p>
            </p:txBody>
          </p:sp>
          <p:sp>
            <p:nvSpPr>
              <p:cNvPr id="407" name="TextBox 133"/>
              <p:cNvSpPr txBox="1"/>
              <p:nvPr/>
            </p:nvSpPr>
            <p:spPr>
              <a:xfrm>
                <a:off x="4800600" y="0"/>
                <a:ext cx="342901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15</a:t>
                </a:r>
              </a:p>
            </p:txBody>
          </p:sp>
          <p:sp>
            <p:nvSpPr>
              <p:cNvPr id="408" name="TextBox 134"/>
              <p:cNvSpPr txBox="1"/>
              <p:nvPr/>
            </p:nvSpPr>
            <p:spPr>
              <a:xfrm>
                <a:off x="5143500" y="0"/>
                <a:ext cx="342901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16</a:t>
                </a:r>
              </a:p>
            </p:txBody>
          </p:sp>
          <p:sp>
            <p:nvSpPr>
              <p:cNvPr id="409" name="TextBox 135"/>
              <p:cNvSpPr txBox="1"/>
              <p:nvPr/>
            </p:nvSpPr>
            <p:spPr>
              <a:xfrm>
                <a:off x="5486400" y="0"/>
                <a:ext cx="342901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17</a:t>
                </a:r>
              </a:p>
            </p:txBody>
          </p:sp>
          <p:sp>
            <p:nvSpPr>
              <p:cNvPr id="410" name="TextBox 136"/>
              <p:cNvSpPr txBox="1"/>
              <p:nvPr/>
            </p:nvSpPr>
            <p:spPr>
              <a:xfrm>
                <a:off x="5829300" y="0"/>
                <a:ext cx="342901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18</a:t>
                </a:r>
              </a:p>
            </p:txBody>
          </p:sp>
          <p:sp>
            <p:nvSpPr>
              <p:cNvPr id="411" name="TextBox 137"/>
              <p:cNvSpPr txBox="1"/>
              <p:nvPr/>
            </p:nvSpPr>
            <p:spPr>
              <a:xfrm>
                <a:off x="6515100" y="0"/>
                <a:ext cx="342901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20</a:t>
                </a:r>
              </a:p>
            </p:txBody>
          </p:sp>
          <p:sp>
            <p:nvSpPr>
              <p:cNvPr id="412" name="TextBox 138"/>
              <p:cNvSpPr txBox="1"/>
              <p:nvPr/>
            </p:nvSpPr>
            <p:spPr>
              <a:xfrm>
                <a:off x="6858000" y="0"/>
                <a:ext cx="342901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21</a:t>
                </a:r>
              </a:p>
            </p:txBody>
          </p:sp>
          <p:sp>
            <p:nvSpPr>
              <p:cNvPr id="413" name="TextBox 139"/>
              <p:cNvSpPr txBox="1"/>
              <p:nvPr/>
            </p:nvSpPr>
            <p:spPr>
              <a:xfrm>
                <a:off x="7200900" y="0"/>
                <a:ext cx="342901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22</a:t>
                </a:r>
              </a:p>
            </p:txBody>
          </p:sp>
          <p:sp>
            <p:nvSpPr>
              <p:cNvPr id="414" name="TextBox 140"/>
              <p:cNvSpPr txBox="1"/>
              <p:nvPr/>
            </p:nvSpPr>
            <p:spPr>
              <a:xfrm>
                <a:off x="7543800" y="0"/>
                <a:ext cx="342901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23</a:t>
                </a:r>
              </a:p>
            </p:txBody>
          </p:sp>
          <p:sp>
            <p:nvSpPr>
              <p:cNvPr id="415" name="TextBox 144"/>
              <p:cNvSpPr txBox="1"/>
              <p:nvPr/>
            </p:nvSpPr>
            <p:spPr>
              <a:xfrm>
                <a:off x="2743200" y="0"/>
                <a:ext cx="342901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9</a:t>
                </a:r>
              </a:p>
            </p:txBody>
          </p:sp>
          <p:sp>
            <p:nvSpPr>
              <p:cNvPr id="416" name="TextBox 145"/>
              <p:cNvSpPr txBox="1"/>
              <p:nvPr/>
            </p:nvSpPr>
            <p:spPr>
              <a:xfrm>
                <a:off x="6172200" y="0"/>
                <a:ext cx="342901" cy="1893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t>19</a:t>
                </a:r>
              </a:p>
            </p:txBody>
          </p:sp>
        </p:grpSp>
      </p:grpSp>
      <p:grpSp>
        <p:nvGrpSpPr>
          <p:cNvPr id="421" name="Down Arrow Callout 260"/>
          <p:cNvGrpSpPr/>
          <p:nvPr/>
        </p:nvGrpSpPr>
        <p:grpSpPr>
          <a:xfrm>
            <a:off x="457200" y="3086100"/>
            <a:ext cx="1943101" cy="571501"/>
            <a:chOff x="0" y="0"/>
            <a:chExt cx="1943100" cy="571500"/>
          </a:xfrm>
        </p:grpSpPr>
        <p:sp>
          <p:nvSpPr>
            <p:cNvPr id="419" name="Shape"/>
            <p:cNvSpPr/>
            <p:nvPr/>
          </p:nvSpPr>
          <p:spPr>
            <a:xfrm>
              <a:off x="0" y="0"/>
              <a:ext cx="1943101" cy="57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4035"/>
                  </a:lnTo>
                  <a:lnTo>
                    <a:pt x="11594" y="14035"/>
                  </a:lnTo>
                  <a:lnTo>
                    <a:pt x="11594" y="16200"/>
                  </a:lnTo>
                  <a:lnTo>
                    <a:pt x="12388" y="16200"/>
                  </a:lnTo>
                  <a:lnTo>
                    <a:pt x="10800" y="21600"/>
                  </a:lnTo>
                  <a:lnTo>
                    <a:pt x="9212" y="16200"/>
                  </a:lnTo>
                  <a:lnTo>
                    <a:pt x="10006" y="16200"/>
                  </a:lnTo>
                  <a:lnTo>
                    <a:pt x="10006" y="14035"/>
                  </a:lnTo>
                  <a:lnTo>
                    <a:pt x="0" y="14035"/>
                  </a:lnTo>
                  <a:close/>
                </a:path>
              </a:pathLst>
            </a:custGeom>
            <a:solidFill>
              <a:srgbClr val="FFFF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20" name="region 53"/>
            <p:cNvSpPr txBox="1"/>
            <p:nvPr/>
          </p:nvSpPr>
          <p:spPr>
            <a:xfrm>
              <a:off x="55244" y="19128"/>
              <a:ext cx="183261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/>
              <a:r>
                <a:t>region </a:t>
              </a:r>
              <a:r>
                <a:rPr b="1"/>
                <a:t>53</a:t>
              </a:r>
            </a:p>
          </p:txBody>
        </p:sp>
      </p:grpSp>
      <p:grpSp>
        <p:nvGrpSpPr>
          <p:cNvPr id="424" name="Down Arrow Callout 263"/>
          <p:cNvGrpSpPr/>
          <p:nvPr/>
        </p:nvGrpSpPr>
        <p:grpSpPr>
          <a:xfrm>
            <a:off x="3771900" y="3086100"/>
            <a:ext cx="2171701" cy="571501"/>
            <a:chOff x="0" y="0"/>
            <a:chExt cx="2171700" cy="571500"/>
          </a:xfrm>
        </p:grpSpPr>
        <p:sp>
          <p:nvSpPr>
            <p:cNvPr id="422" name="Shape"/>
            <p:cNvSpPr/>
            <p:nvPr/>
          </p:nvSpPr>
          <p:spPr>
            <a:xfrm>
              <a:off x="0" y="0"/>
              <a:ext cx="2171701" cy="57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4035"/>
                  </a:lnTo>
                  <a:lnTo>
                    <a:pt x="11511" y="14035"/>
                  </a:lnTo>
                  <a:lnTo>
                    <a:pt x="11511" y="16200"/>
                  </a:lnTo>
                  <a:lnTo>
                    <a:pt x="12221" y="16200"/>
                  </a:lnTo>
                  <a:lnTo>
                    <a:pt x="10800" y="21600"/>
                  </a:lnTo>
                  <a:lnTo>
                    <a:pt x="9379" y="16200"/>
                  </a:lnTo>
                  <a:lnTo>
                    <a:pt x="10089" y="16200"/>
                  </a:lnTo>
                  <a:lnTo>
                    <a:pt x="10089" y="14035"/>
                  </a:lnTo>
                  <a:lnTo>
                    <a:pt x="0" y="14035"/>
                  </a:lnTo>
                  <a:close/>
                </a:path>
              </a:pathLst>
            </a:custGeom>
            <a:solidFill>
              <a:srgbClr val="FFFF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23" name="regions 2, 42, 13, 9"/>
            <p:cNvSpPr txBox="1"/>
            <p:nvPr/>
          </p:nvSpPr>
          <p:spPr>
            <a:xfrm>
              <a:off x="55244" y="19128"/>
              <a:ext cx="206121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/>
              <a:r>
                <a:t>regions </a:t>
              </a:r>
              <a:r>
                <a:rPr b="1"/>
                <a:t>2, 42, 13, 9 </a:t>
              </a:r>
            </a:p>
          </p:txBody>
        </p:sp>
      </p:grpSp>
      <p:grpSp>
        <p:nvGrpSpPr>
          <p:cNvPr id="427" name="Group 264"/>
          <p:cNvGrpSpPr/>
          <p:nvPr/>
        </p:nvGrpSpPr>
        <p:grpSpPr>
          <a:xfrm>
            <a:off x="533400" y="1988820"/>
            <a:ext cx="8077200" cy="752630"/>
            <a:chOff x="0" y="0"/>
            <a:chExt cx="8077200" cy="752629"/>
          </a:xfrm>
        </p:grpSpPr>
        <p:sp>
          <p:nvSpPr>
            <p:cNvPr id="425" name="Text Placeholder 6"/>
            <p:cNvSpPr txBox="1"/>
            <p:nvPr/>
          </p:nvSpPr>
          <p:spPr>
            <a:xfrm>
              <a:off x="0" y="0"/>
              <a:ext cx="8077200" cy="5664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200"/>
                </a:lnSpc>
                <a:spcBef>
                  <a:spcPts val="2400"/>
                </a:spcBef>
                <a:defRPr sz="2000"/>
              </a:lvl1pPr>
            </a:lstStyle>
            <a:p>
              <a:r>
                <a:t>When you design a component module, you can associate any geometrical region with any given latch bit:</a:t>
              </a:r>
            </a:p>
          </p:txBody>
        </p:sp>
        <p:pic>
          <p:nvPicPr>
            <p:cNvPr id="426" name="Picture 9" descr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2799" y="411479"/>
              <a:ext cx="4724394" cy="3411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28" name="Text Placeholder 6"/>
          <p:cNvSpPr>
            <a:spLocks noGrp="1"/>
          </p:cNvSpPr>
          <p:nvPr>
            <p:ph type="body" idx="21"/>
          </p:nvPr>
        </p:nvSpPr>
        <p:spPr>
          <a:xfrm>
            <a:off x="533400" y="914400"/>
            <a:ext cx="8077200" cy="10287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indent="0">
              <a:lnSpc>
                <a:spcPts val="2200"/>
              </a:lnSpc>
              <a:spcBef>
                <a:spcPts val="2400"/>
              </a:spcBef>
              <a:buSzTx/>
              <a:buFontTx/>
              <a:buNone/>
              <a:defRPr sz="2000" b="1"/>
            </a:pPr>
            <a:r>
              <a:t>If you can operate a light switch, you understand latch! </a:t>
            </a:r>
            <a:r>
              <a:rPr b="0"/>
              <a:t>The latch variable is a set of 32 bits that particles carry around with them. We care about </a:t>
            </a:r>
            <a:r>
              <a:rPr>
                <a:solidFill>
                  <a:srgbClr val="FF0000"/>
                </a:solidFill>
              </a:rPr>
              <a:t>bits 1–23.</a:t>
            </a:r>
          </a:p>
        </p:txBody>
      </p:sp>
      <p:grpSp>
        <p:nvGrpSpPr>
          <p:cNvPr id="431" name="Down Arrow Callout 269"/>
          <p:cNvGrpSpPr/>
          <p:nvPr/>
        </p:nvGrpSpPr>
        <p:grpSpPr>
          <a:xfrm>
            <a:off x="7772400" y="3086100"/>
            <a:ext cx="1028701" cy="571501"/>
            <a:chOff x="0" y="0"/>
            <a:chExt cx="1028700" cy="571500"/>
          </a:xfrm>
        </p:grpSpPr>
        <p:sp>
          <p:nvSpPr>
            <p:cNvPr id="429" name="Shape"/>
            <p:cNvSpPr/>
            <p:nvPr/>
          </p:nvSpPr>
          <p:spPr>
            <a:xfrm>
              <a:off x="0" y="0"/>
              <a:ext cx="1028701" cy="57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4035"/>
                  </a:lnTo>
                  <a:lnTo>
                    <a:pt x="12300" y="14035"/>
                  </a:lnTo>
                  <a:lnTo>
                    <a:pt x="12300" y="16200"/>
                  </a:lnTo>
                  <a:lnTo>
                    <a:pt x="13800" y="16200"/>
                  </a:lnTo>
                  <a:lnTo>
                    <a:pt x="10800" y="21600"/>
                  </a:lnTo>
                  <a:lnTo>
                    <a:pt x="7800" y="16200"/>
                  </a:lnTo>
                  <a:lnTo>
                    <a:pt x="9300" y="16200"/>
                  </a:lnTo>
                  <a:lnTo>
                    <a:pt x="9300" y="14035"/>
                  </a:lnTo>
                  <a:lnTo>
                    <a:pt x="0" y="14035"/>
                  </a:lnTo>
                  <a:close/>
                </a:path>
              </a:pathLst>
            </a:custGeom>
            <a:solidFill>
              <a:srgbClr val="FFC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/>
              </a:pPr>
              <a:endParaRPr/>
            </a:p>
          </p:txBody>
        </p:sp>
        <p:sp>
          <p:nvSpPr>
            <p:cNvPr id="430" name="default"/>
            <p:cNvSpPr txBox="1"/>
            <p:nvPr/>
          </p:nvSpPr>
          <p:spPr>
            <a:xfrm>
              <a:off x="55244" y="19128"/>
              <a:ext cx="91821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r>
                <a:t>default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" grpId="1" animBg="1" advAuto="0"/>
      <p:bldP spid="421" grpId="3" animBg="1" advAuto="0"/>
      <p:bldP spid="424" grpId="4" animBg="1" advAuto="0"/>
      <p:bldP spid="427" grpId="2" animBg="1" advAuto="0"/>
      <p:bldP spid="431" grpId="5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19</a:t>
            </a:fld>
            <a:endParaRPr/>
          </a:p>
        </p:txBody>
      </p:sp>
      <p:sp>
        <p:nvSpPr>
          <p:cNvPr id="434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3. “Latch” but not least: latch bits</a:t>
            </a:r>
          </a:p>
        </p:txBody>
      </p:sp>
      <p:pic>
        <p:nvPicPr>
          <p:cNvPr id="43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36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37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38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39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40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41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42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43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44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4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47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49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0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1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2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3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4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79" name="Group 60"/>
          <p:cNvGrpSpPr/>
          <p:nvPr/>
        </p:nvGrpSpPr>
        <p:grpSpPr>
          <a:xfrm>
            <a:off x="571500" y="4343400"/>
            <a:ext cx="7886700" cy="189359"/>
            <a:chOff x="0" y="0"/>
            <a:chExt cx="7886700" cy="189358"/>
          </a:xfrm>
        </p:grpSpPr>
        <p:sp>
          <p:nvSpPr>
            <p:cNvPr id="456" name="TextBox 20"/>
            <p:cNvSpPr txBox="1"/>
            <p:nvPr/>
          </p:nvSpPr>
          <p:spPr>
            <a:xfrm>
              <a:off x="0" y="0"/>
              <a:ext cx="342900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</a:t>
              </a:r>
            </a:p>
          </p:txBody>
        </p:sp>
        <p:sp>
          <p:nvSpPr>
            <p:cNvPr id="457" name="TextBox 121"/>
            <p:cNvSpPr txBox="1"/>
            <p:nvPr/>
          </p:nvSpPr>
          <p:spPr>
            <a:xfrm>
              <a:off x="3429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2</a:t>
              </a:r>
            </a:p>
          </p:txBody>
        </p:sp>
        <p:sp>
          <p:nvSpPr>
            <p:cNvPr id="458" name="TextBox 122"/>
            <p:cNvSpPr txBox="1"/>
            <p:nvPr/>
          </p:nvSpPr>
          <p:spPr>
            <a:xfrm>
              <a:off x="6858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3</a:t>
              </a:r>
            </a:p>
          </p:txBody>
        </p:sp>
        <p:sp>
          <p:nvSpPr>
            <p:cNvPr id="459" name="TextBox 123"/>
            <p:cNvSpPr txBox="1"/>
            <p:nvPr/>
          </p:nvSpPr>
          <p:spPr>
            <a:xfrm>
              <a:off x="10287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4</a:t>
              </a:r>
            </a:p>
          </p:txBody>
        </p:sp>
        <p:sp>
          <p:nvSpPr>
            <p:cNvPr id="460" name="TextBox 124"/>
            <p:cNvSpPr txBox="1"/>
            <p:nvPr/>
          </p:nvSpPr>
          <p:spPr>
            <a:xfrm>
              <a:off x="13716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5</a:t>
              </a:r>
            </a:p>
          </p:txBody>
        </p:sp>
        <p:sp>
          <p:nvSpPr>
            <p:cNvPr id="461" name="TextBox 125"/>
            <p:cNvSpPr txBox="1"/>
            <p:nvPr/>
          </p:nvSpPr>
          <p:spPr>
            <a:xfrm>
              <a:off x="17145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6</a:t>
              </a:r>
            </a:p>
          </p:txBody>
        </p:sp>
        <p:sp>
          <p:nvSpPr>
            <p:cNvPr id="462" name="TextBox 126"/>
            <p:cNvSpPr txBox="1"/>
            <p:nvPr/>
          </p:nvSpPr>
          <p:spPr>
            <a:xfrm>
              <a:off x="20574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7</a:t>
              </a:r>
            </a:p>
          </p:txBody>
        </p:sp>
        <p:sp>
          <p:nvSpPr>
            <p:cNvPr id="463" name="TextBox 127"/>
            <p:cNvSpPr txBox="1"/>
            <p:nvPr/>
          </p:nvSpPr>
          <p:spPr>
            <a:xfrm>
              <a:off x="24003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8</a:t>
              </a:r>
            </a:p>
          </p:txBody>
        </p:sp>
        <p:sp>
          <p:nvSpPr>
            <p:cNvPr id="464" name="TextBox 128"/>
            <p:cNvSpPr txBox="1"/>
            <p:nvPr/>
          </p:nvSpPr>
          <p:spPr>
            <a:xfrm>
              <a:off x="30861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10</a:t>
              </a:r>
            </a:p>
          </p:txBody>
        </p:sp>
        <p:sp>
          <p:nvSpPr>
            <p:cNvPr id="465" name="TextBox 129"/>
            <p:cNvSpPr txBox="1"/>
            <p:nvPr/>
          </p:nvSpPr>
          <p:spPr>
            <a:xfrm>
              <a:off x="34290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11</a:t>
              </a:r>
            </a:p>
          </p:txBody>
        </p:sp>
        <p:sp>
          <p:nvSpPr>
            <p:cNvPr id="466" name="TextBox 130"/>
            <p:cNvSpPr txBox="1"/>
            <p:nvPr/>
          </p:nvSpPr>
          <p:spPr>
            <a:xfrm>
              <a:off x="37719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12</a:t>
              </a:r>
            </a:p>
          </p:txBody>
        </p:sp>
        <p:sp>
          <p:nvSpPr>
            <p:cNvPr id="467" name="TextBox 131"/>
            <p:cNvSpPr txBox="1"/>
            <p:nvPr/>
          </p:nvSpPr>
          <p:spPr>
            <a:xfrm>
              <a:off x="41148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13</a:t>
              </a:r>
            </a:p>
          </p:txBody>
        </p:sp>
        <p:sp>
          <p:nvSpPr>
            <p:cNvPr id="468" name="TextBox 132"/>
            <p:cNvSpPr txBox="1"/>
            <p:nvPr/>
          </p:nvSpPr>
          <p:spPr>
            <a:xfrm>
              <a:off x="44577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14</a:t>
              </a:r>
            </a:p>
          </p:txBody>
        </p:sp>
        <p:sp>
          <p:nvSpPr>
            <p:cNvPr id="469" name="TextBox 133"/>
            <p:cNvSpPr txBox="1"/>
            <p:nvPr/>
          </p:nvSpPr>
          <p:spPr>
            <a:xfrm>
              <a:off x="48006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15</a:t>
              </a:r>
            </a:p>
          </p:txBody>
        </p:sp>
        <p:sp>
          <p:nvSpPr>
            <p:cNvPr id="470" name="TextBox 134"/>
            <p:cNvSpPr txBox="1"/>
            <p:nvPr/>
          </p:nvSpPr>
          <p:spPr>
            <a:xfrm>
              <a:off x="51435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16</a:t>
              </a:r>
            </a:p>
          </p:txBody>
        </p:sp>
        <p:sp>
          <p:nvSpPr>
            <p:cNvPr id="471" name="TextBox 135"/>
            <p:cNvSpPr txBox="1"/>
            <p:nvPr/>
          </p:nvSpPr>
          <p:spPr>
            <a:xfrm>
              <a:off x="54864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17</a:t>
              </a:r>
            </a:p>
          </p:txBody>
        </p:sp>
        <p:sp>
          <p:nvSpPr>
            <p:cNvPr id="472" name="TextBox 136"/>
            <p:cNvSpPr txBox="1"/>
            <p:nvPr/>
          </p:nvSpPr>
          <p:spPr>
            <a:xfrm>
              <a:off x="58293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18</a:t>
              </a:r>
            </a:p>
          </p:txBody>
        </p:sp>
        <p:sp>
          <p:nvSpPr>
            <p:cNvPr id="473" name="TextBox 137"/>
            <p:cNvSpPr txBox="1"/>
            <p:nvPr/>
          </p:nvSpPr>
          <p:spPr>
            <a:xfrm>
              <a:off x="65151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20</a:t>
              </a:r>
            </a:p>
          </p:txBody>
        </p:sp>
        <p:sp>
          <p:nvSpPr>
            <p:cNvPr id="474" name="TextBox 138"/>
            <p:cNvSpPr txBox="1"/>
            <p:nvPr/>
          </p:nvSpPr>
          <p:spPr>
            <a:xfrm>
              <a:off x="68580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21</a:t>
              </a:r>
            </a:p>
          </p:txBody>
        </p:sp>
        <p:sp>
          <p:nvSpPr>
            <p:cNvPr id="475" name="TextBox 139"/>
            <p:cNvSpPr txBox="1"/>
            <p:nvPr/>
          </p:nvSpPr>
          <p:spPr>
            <a:xfrm>
              <a:off x="72009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22</a:t>
              </a:r>
            </a:p>
          </p:txBody>
        </p:sp>
        <p:sp>
          <p:nvSpPr>
            <p:cNvPr id="476" name="TextBox 140"/>
            <p:cNvSpPr txBox="1"/>
            <p:nvPr/>
          </p:nvSpPr>
          <p:spPr>
            <a:xfrm>
              <a:off x="75438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23</a:t>
              </a:r>
            </a:p>
          </p:txBody>
        </p:sp>
        <p:sp>
          <p:nvSpPr>
            <p:cNvPr id="477" name="TextBox 144"/>
            <p:cNvSpPr txBox="1"/>
            <p:nvPr/>
          </p:nvSpPr>
          <p:spPr>
            <a:xfrm>
              <a:off x="27432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9</a:t>
              </a:r>
            </a:p>
          </p:txBody>
        </p:sp>
        <p:sp>
          <p:nvSpPr>
            <p:cNvPr id="478" name="TextBox 145"/>
            <p:cNvSpPr txBox="1"/>
            <p:nvPr/>
          </p:nvSpPr>
          <p:spPr>
            <a:xfrm>
              <a:off x="61722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19</a:t>
              </a:r>
            </a:p>
          </p:txBody>
        </p:sp>
      </p:grpSp>
      <p:pic>
        <p:nvPicPr>
          <p:cNvPr id="480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sp>
        <p:nvSpPr>
          <p:cNvPr id="481" name="Text Placeholder 6"/>
          <p:cNvSpPr txBox="1"/>
          <p:nvPr/>
        </p:nvSpPr>
        <p:spPr>
          <a:xfrm>
            <a:off x="410632" y="4812453"/>
            <a:ext cx="2971801" cy="280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spcBef>
                <a:spcPts val="2400"/>
              </a:spcBef>
              <a:defRPr>
                <a:solidFill>
                  <a:srgbClr val="0070C0"/>
                </a:solidFill>
              </a:defRPr>
            </a:lvl1pPr>
          </a:lstStyle>
          <a:p>
            <a:r>
              <a:t>particle passes in region 53</a:t>
            </a:r>
          </a:p>
        </p:txBody>
      </p:sp>
      <p:sp>
        <p:nvSpPr>
          <p:cNvPr id="482" name="Straight Arrow Connector 58"/>
          <p:cNvSpPr/>
          <p:nvPr/>
        </p:nvSpPr>
        <p:spPr>
          <a:xfrm flipH="1" flipV="1">
            <a:off x="1600199" y="4451122"/>
            <a:ext cx="101601" cy="357946"/>
          </a:xfrm>
          <a:prstGeom prst="line">
            <a:avLst/>
          </a:prstGeom>
          <a:ln w="28575">
            <a:solidFill>
              <a:srgbClr val="4A7EBB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485" name="Down Arrow Callout 62"/>
          <p:cNvGrpSpPr/>
          <p:nvPr/>
        </p:nvGrpSpPr>
        <p:grpSpPr>
          <a:xfrm>
            <a:off x="3771900" y="3086100"/>
            <a:ext cx="2171701" cy="571501"/>
            <a:chOff x="0" y="0"/>
            <a:chExt cx="2171700" cy="571500"/>
          </a:xfrm>
        </p:grpSpPr>
        <p:sp>
          <p:nvSpPr>
            <p:cNvPr id="483" name="Shape"/>
            <p:cNvSpPr/>
            <p:nvPr/>
          </p:nvSpPr>
          <p:spPr>
            <a:xfrm>
              <a:off x="0" y="0"/>
              <a:ext cx="2171701" cy="57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4035"/>
                  </a:lnTo>
                  <a:lnTo>
                    <a:pt x="11511" y="14035"/>
                  </a:lnTo>
                  <a:lnTo>
                    <a:pt x="11511" y="16200"/>
                  </a:lnTo>
                  <a:lnTo>
                    <a:pt x="12221" y="16200"/>
                  </a:lnTo>
                  <a:lnTo>
                    <a:pt x="10800" y="21600"/>
                  </a:lnTo>
                  <a:lnTo>
                    <a:pt x="9379" y="16200"/>
                  </a:lnTo>
                  <a:lnTo>
                    <a:pt x="10089" y="16200"/>
                  </a:lnTo>
                  <a:lnTo>
                    <a:pt x="10089" y="14035"/>
                  </a:lnTo>
                  <a:lnTo>
                    <a:pt x="0" y="14035"/>
                  </a:lnTo>
                  <a:close/>
                </a:path>
              </a:pathLst>
            </a:custGeom>
            <a:solidFill>
              <a:srgbClr val="FFFF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84" name="regions 2, 42, 13, 9"/>
            <p:cNvSpPr txBox="1"/>
            <p:nvPr/>
          </p:nvSpPr>
          <p:spPr>
            <a:xfrm>
              <a:off x="55244" y="19128"/>
              <a:ext cx="206121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/>
              <a:r>
                <a:t>regions </a:t>
              </a:r>
              <a:r>
                <a:rPr b="1"/>
                <a:t>2, 42, 13, 9 </a:t>
              </a:r>
            </a:p>
          </p:txBody>
        </p:sp>
      </p:grpSp>
      <p:grpSp>
        <p:nvGrpSpPr>
          <p:cNvPr id="488" name="Down Arrow Callout 260"/>
          <p:cNvGrpSpPr/>
          <p:nvPr/>
        </p:nvGrpSpPr>
        <p:grpSpPr>
          <a:xfrm>
            <a:off x="457200" y="3086100"/>
            <a:ext cx="1943101" cy="571501"/>
            <a:chOff x="0" y="0"/>
            <a:chExt cx="1943100" cy="571500"/>
          </a:xfrm>
        </p:grpSpPr>
        <p:sp>
          <p:nvSpPr>
            <p:cNvPr id="486" name="Shape"/>
            <p:cNvSpPr/>
            <p:nvPr/>
          </p:nvSpPr>
          <p:spPr>
            <a:xfrm>
              <a:off x="0" y="0"/>
              <a:ext cx="1943101" cy="57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4035"/>
                  </a:lnTo>
                  <a:lnTo>
                    <a:pt x="11594" y="14035"/>
                  </a:lnTo>
                  <a:lnTo>
                    <a:pt x="11594" y="16200"/>
                  </a:lnTo>
                  <a:lnTo>
                    <a:pt x="12388" y="16200"/>
                  </a:lnTo>
                  <a:lnTo>
                    <a:pt x="10800" y="21600"/>
                  </a:lnTo>
                  <a:lnTo>
                    <a:pt x="9212" y="16200"/>
                  </a:lnTo>
                  <a:lnTo>
                    <a:pt x="10006" y="16200"/>
                  </a:lnTo>
                  <a:lnTo>
                    <a:pt x="10006" y="14035"/>
                  </a:lnTo>
                  <a:lnTo>
                    <a:pt x="0" y="14035"/>
                  </a:lnTo>
                  <a:close/>
                </a:path>
              </a:pathLst>
            </a:custGeom>
            <a:solidFill>
              <a:srgbClr val="FFFF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87" name="region 53"/>
            <p:cNvSpPr txBox="1"/>
            <p:nvPr/>
          </p:nvSpPr>
          <p:spPr>
            <a:xfrm>
              <a:off x="55244" y="19128"/>
              <a:ext cx="183261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/>
              <a:r>
                <a:t>region </a:t>
              </a:r>
              <a:r>
                <a:rPr b="1"/>
                <a:t>53</a:t>
              </a:r>
            </a:p>
          </p:txBody>
        </p:sp>
      </p:grpSp>
      <p:grpSp>
        <p:nvGrpSpPr>
          <p:cNvPr id="491" name="Group 63"/>
          <p:cNvGrpSpPr/>
          <p:nvPr/>
        </p:nvGrpSpPr>
        <p:grpSpPr>
          <a:xfrm>
            <a:off x="533400" y="1988820"/>
            <a:ext cx="8077200" cy="752630"/>
            <a:chOff x="0" y="0"/>
            <a:chExt cx="8077200" cy="752629"/>
          </a:xfrm>
        </p:grpSpPr>
        <p:sp>
          <p:nvSpPr>
            <p:cNvPr id="489" name="Text Placeholder 6"/>
            <p:cNvSpPr txBox="1"/>
            <p:nvPr/>
          </p:nvSpPr>
          <p:spPr>
            <a:xfrm>
              <a:off x="0" y="0"/>
              <a:ext cx="8077200" cy="5664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200"/>
                </a:lnSpc>
                <a:spcBef>
                  <a:spcPts val="2400"/>
                </a:spcBef>
                <a:defRPr sz="2000"/>
              </a:lvl1pPr>
            </a:lstStyle>
            <a:p>
              <a:r>
                <a:t>When you design a component module, you can associate any geometrical region with any given latch bit:</a:t>
              </a:r>
            </a:p>
          </p:txBody>
        </p:sp>
        <p:pic>
          <p:nvPicPr>
            <p:cNvPr id="490" name="Picture 9" descr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2799" y="411479"/>
              <a:ext cx="4724394" cy="3411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92" name="Text Placeholder 6"/>
          <p:cNvSpPr txBox="1"/>
          <p:nvPr/>
        </p:nvSpPr>
        <p:spPr>
          <a:xfrm>
            <a:off x="533400" y="1219200"/>
            <a:ext cx="8077200" cy="566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spcBef>
                <a:spcPts val="2400"/>
              </a:spcBef>
              <a:defRPr sz="2000" b="1"/>
            </a:pPr>
            <a:r>
              <a:t>If you can operate a light switch, you understand latch! </a:t>
            </a:r>
            <a:r>
              <a:rPr b="0"/>
              <a:t>The latch variable is a set of 32 bits that particles carry around with them. We care about </a:t>
            </a:r>
            <a:r>
              <a:rPr>
                <a:solidFill>
                  <a:srgbClr val="FF0000"/>
                </a:solidFill>
              </a:rPr>
              <a:t>bits 1–23.</a:t>
            </a:r>
          </a:p>
        </p:txBody>
      </p:sp>
      <p:pic>
        <p:nvPicPr>
          <p:cNvPr id="493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96" name="Down Arrow Callout 68"/>
          <p:cNvGrpSpPr/>
          <p:nvPr/>
        </p:nvGrpSpPr>
        <p:grpSpPr>
          <a:xfrm>
            <a:off x="7772400" y="3086100"/>
            <a:ext cx="1028701" cy="571501"/>
            <a:chOff x="0" y="0"/>
            <a:chExt cx="1028700" cy="571500"/>
          </a:xfrm>
        </p:grpSpPr>
        <p:sp>
          <p:nvSpPr>
            <p:cNvPr id="494" name="Shape"/>
            <p:cNvSpPr/>
            <p:nvPr/>
          </p:nvSpPr>
          <p:spPr>
            <a:xfrm>
              <a:off x="0" y="0"/>
              <a:ext cx="1028701" cy="57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4035"/>
                  </a:lnTo>
                  <a:lnTo>
                    <a:pt x="12300" y="14035"/>
                  </a:lnTo>
                  <a:lnTo>
                    <a:pt x="12300" y="16200"/>
                  </a:lnTo>
                  <a:lnTo>
                    <a:pt x="13800" y="16200"/>
                  </a:lnTo>
                  <a:lnTo>
                    <a:pt x="10800" y="21600"/>
                  </a:lnTo>
                  <a:lnTo>
                    <a:pt x="7800" y="16200"/>
                  </a:lnTo>
                  <a:lnTo>
                    <a:pt x="9300" y="16200"/>
                  </a:lnTo>
                  <a:lnTo>
                    <a:pt x="9300" y="14035"/>
                  </a:lnTo>
                  <a:lnTo>
                    <a:pt x="0" y="14035"/>
                  </a:lnTo>
                  <a:close/>
                </a:path>
              </a:pathLst>
            </a:custGeom>
            <a:solidFill>
              <a:srgbClr val="FFC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/>
              </a:pPr>
              <a:endParaRPr/>
            </a:p>
          </p:txBody>
        </p:sp>
        <p:sp>
          <p:nvSpPr>
            <p:cNvPr id="495" name="default"/>
            <p:cNvSpPr txBox="1"/>
            <p:nvPr/>
          </p:nvSpPr>
          <p:spPr>
            <a:xfrm>
              <a:off x="55244" y="19128"/>
              <a:ext cx="91821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r>
                <a:t>default</a:t>
              </a:r>
            </a:p>
          </p:txBody>
        </p:sp>
      </p:grp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20</a:t>
            </a:fld>
            <a:endParaRPr/>
          </a:p>
        </p:txBody>
      </p:sp>
      <p:sp>
        <p:nvSpPr>
          <p:cNvPr id="499" name="Text Placeholder 6"/>
          <p:cNvSpPr txBox="1">
            <a:spLocks noGrp="1"/>
          </p:cNvSpPr>
          <p:nvPr>
            <p:ph type="body" sz="quarter" idx="1"/>
          </p:nvPr>
        </p:nvSpPr>
        <p:spPr>
          <a:xfrm>
            <a:off x="533400" y="914400"/>
            <a:ext cx="8077200" cy="10287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lnSpc>
                <a:spcPts val="2200"/>
              </a:lnSpc>
              <a:spcBef>
                <a:spcPts val="2400"/>
              </a:spcBef>
              <a:defRPr sz="2000"/>
            </a:pPr>
            <a:r>
              <a:t>If you can operate a light switch, you understand latch! </a:t>
            </a:r>
            <a:r>
              <a:rPr b="0"/>
              <a:t>The latch variable is a set of 32 bits that particles carry around with them. We care about </a:t>
            </a:r>
            <a:r>
              <a:rPr>
                <a:solidFill>
                  <a:srgbClr val="FF0000"/>
                </a:solidFill>
              </a:rPr>
              <a:t>bits 1–23.</a:t>
            </a:r>
          </a:p>
        </p:txBody>
      </p:sp>
      <p:sp>
        <p:nvSpPr>
          <p:cNvPr id="500" name="Text Placeholder 1"/>
          <p:cNvSpPr txBox="1"/>
          <p:nvPr/>
        </p:nvSpPr>
        <p:spPr>
          <a:xfrm>
            <a:off x="502920" y="381000"/>
            <a:ext cx="8138160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algn="ctr">
              <a:spcBef>
                <a:spcPts val="600"/>
              </a:spcBef>
              <a:defRPr sz="2800" b="1"/>
            </a:lvl1pPr>
          </a:lstStyle>
          <a:p>
            <a:r>
              <a:t>3. “Latch” but not least: latch bits</a:t>
            </a:r>
          </a:p>
        </p:txBody>
      </p:sp>
      <p:pic>
        <p:nvPicPr>
          <p:cNvPr id="501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2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3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4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6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7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8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9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0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3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6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7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9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0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44" name="Group 60"/>
          <p:cNvGrpSpPr/>
          <p:nvPr/>
        </p:nvGrpSpPr>
        <p:grpSpPr>
          <a:xfrm>
            <a:off x="571500" y="4343400"/>
            <a:ext cx="7886700" cy="189359"/>
            <a:chOff x="0" y="0"/>
            <a:chExt cx="7886700" cy="189358"/>
          </a:xfrm>
        </p:grpSpPr>
        <p:sp>
          <p:nvSpPr>
            <p:cNvPr id="521" name="TextBox 20"/>
            <p:cNvSpPr txBox="1"/>
            <p:nvPr/>
          </p:nvSpPr>
          <p:spPr>
            <a:xfrm>
              <a:off x="0" y="0"/>
              <a:ext cx="342900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</a:t>
              </a:r>
            </a:p>
          </p:txBody>
        </p:sp>
        <p:sp>
          <p:nvSpPr>
            <p:cNvPr id="522" name="TextBox 121"/>
            <p:cNvSpPr txBox="1"/>
            <p:nvPr/>
          </p:nvSpPr>
          <p:spPr>
            <a:xfrm>
              <a:off x="3429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2</a:t>
              </a:r>
            </a:p>
          </p:txBody>
        </p:sp>
        <p:sp>
          <p:nvSpPr>
            <p:cNvPr id="523" name="TextBox 122"/>
            <p:cNvSpPr txBox="1"/>
            <p:nvPr/>
          </p:nvSpPr>
          <p:spPr>
            <a:xfrm>
              <a:off x="6858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3</a:t>
              </a:r>
            </a:p>
          </p:txBody>
        </p:sp>
        <p:sp>
          <p:nvSpPr>
            <p:cNvPr id="524" name="TextBox 123"/>
            <p:cNvSpPr txBox="1"/>
            <p:nvPr/>
          </p:nvSpPr>
          <p:spPr>
            <a:xfrm>
              <a:off x="10287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4</a:t>
              </a:r>
            </a:p>
          </p:txBody>
        </p:sp>
        <p:sp>
          <p:nvSpPr>
            <p:cNvPr id="525" name="TextBox 124"/>
            <p:cNvSpPr txBox="1"/>
            <p:nvPr/>
          </p:nvSpPr>
          <p:spPr>
            <a:xfrm>
              <a:off x="13716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5</a:t>
              </a:r>
            </a:p>
          </p:txBody>
        </p:sp>
        <p:sp>
          <p:nvSpPr>
            <p:cNvPr id="526" name="TextBox 125"/>
            <p:cNvSpPr txBox="1"/>
            <p:nvPr/>
          </p:nvSpPr>
          <p:spPr>
            <a:xfrm>
              <a:off x="17145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6</a:t>
              </a:r>
            </a:p>
          </p:txBody>
        </p:sp>
        <p:sp>
          <p:nvSpPr>
            <p:cNvPr id="527" name="TextBox 126"/>
            <p:cNvSpPr txBox="1"/>
            <p:nvPr/>
          </p:nvSpPr>
          <p:spPr>
            <a:xfrm>
              <a:off x="20574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7</a:t>
              </a:r>
            </a:p>
          </p:txBody>
        </p:sp>
        <p:sp>
          <p:nvSpPr>
            <p:cNvPr id="528" name="TextBox 127"/>
            <p:cNvSpPr txBox="1"/>
            <p:nvPr/>
          </p:nvSpPr>
          <p:spPr>
            <a:xfrm>
              <a:off x="24003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8</a:t>
              </a:r>
            </a:p>
          </p:txBody>
        </p:sp>
        <p:sp>
          <p:nvSpPr>
            <p:cNvPr id="529" name="TextBox 128"/>
            <p:cNvSpPr txBox="1"/>
            <p:nvPr/>
          </p:nvSpPr>
          <p:spPr>
            <a:xfrm>
              <a:off x="30861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10</a:t>
              </a:r>
            </a:p>
          </p:txBody>
        </p:sp>
        <p:sp>
          <p:nvSpPr>
            <p:cNvPr id="530" name="TextBox 129"/>
            <p:cNvSpPr txBox="1"/>
            <p:nvPr/>
          </p:nvSpPr>
          <p:spPr>
            <a:xfrm>
              <a:off x="34290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11</a:t>
              </a:r>
            </a:p>
          </p:txBody>
        </p:sp>
        <p:sp>
          <p:nvSpPr>
            <p:cNvPr id="531" name="TextBox 130"/>
            <p:cNvSpPr txBox="1"/>
            <p:nvPr/>
          </p:nvSpPr>
          <p:spPr>
            <a:xfrm>
              <a:off x="37719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12</a:t>
              </a:r>
            </a:p>
          </p:txBody>
        </p:sp>
        <p:sp>
          <p:nvSpPr>
            <p:cNvPr id="532" name="TextBox 131"/>
            <p:cNvSpPr txBox="1"/>
            <p:nvPr/>
          </p:nvSpPr>
          <p:spPr>
            <a:xfrm>
              <a:off x="41148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13</a:t>
              </a:r>
            </a:p>
          </p:txBody>
        </p:sp>
        <p:sp>
          <p:nvSpPr>
            <p:cNvPr id="533" name="TextBox 132"/>
            <p:cNvSpPr txBox="1"/>
            <p:nvPr/>
          </p:nvSpPr>
          <p:spPr>
            <a:xfrm>
              <a:off x="44577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14</a:t>
              </a:r>
            </a:p>
          </p:txBody>
        </p:sp>
        <p:sp>
          <p:nvSpPr>
            <p:cNvPr id="534" name="TextBox 133"/>
            <p:cNvSpPr txBox="1"/>
            <p:nvPr/>
          </p:nvSpPr>
          <p:spPr>
            <a:xfrm>
              <a:off x="48006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15</a:t>
              </a:r>
            </a:p>
          </p:txBody>
        </p:sp>
        <p:sp>
          <p:nvSpPr>
            <p:cNvPr id="535" name="TextBox 134"/>
            <p:cNvSpPr txBox="1"/>
            <p:nvPr/>
          </p:nvSpPr>
          <p:spPr>
            <a:xfrm>
              <a:off x="51435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16</a:t>
              </a:r>
            </a:p>
          </p:txBody>
        </p:sp>
        <p:sp>
          <p:nvSpPr>
            <p:cNvPr id="536" name="TextBox 135"/>
            <p:cNvSpPr txBox="1"/>
            <p:nvPr/>
          </p:nvSpPr>
          <p:spPr>
            <a:xfrm>
              <a:off x="54864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17</a:t>
              </a:r>
            </a:p>
          </p:txBody>
        </p:sp>
        <p:sp>
          <p:nvSpPr>
            <p:cNvPr id="537" name="TextBox 136"/>
            <p:cNvSpPr txBox="1"/>
            <p:nvPr/>
          </p:nvSpPr>
          <p:spPr>
            <a:xfrm>
              <a:off x="58293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18</a:t>
              </a:r>
            </a:p>
          </p:txBody>
        </p:sp>
        <p:sp>
          <p:nvSpPr>
            <p:cNvPr id="538" name="TextBox 137"/>
            <p:cNvSpPr txBox="1"/>
            <p:nvPr/>
          </p:nvSpPr>
          <p:spPr>
            <a:xfrm>
              <a:off x="65151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20</a:t>
              </a:r>
            </a:p>
          </p:txBody>
        </p:sp>
        <p:sp>
          <p:nvSpPr>
            <p:cNvPr id="539" name="TextBox 138"/>
            <p:cNvSpPr txBox="1"/>
            <p:nvPr/>
          </p:nvSpPr>
          <p:spPr>
            <a:xfrm>
              <a:off x="68580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21</a:t>
              </a:r>
            </a:p>
          </p:txBody>
        </p:sp>
        <p:sp>
          <p:nvSpPr>
            <p:cNvPr id="540" name="TextBox 139"/>
            <p:cNvSpPr txBox="1"/>
            <p:nvPr/>
          </p:nvSpPr>
          <p:spPr>
            <a:xfrm>
              <a:off x="72009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22</a:t>
              </a:r>
            </a:p>
          </p:txBody>
        </p:sp>
        <p:sp>
          <p:nvSpPr>
            <p:cNvPr id="541" name="TextBox 140"/>
            <p:cNvSpPr txBox="1"/>
            <p:nvPr/>
          </p:nvSpPr>
          <p:spPr>
            <a:xfrm>
              <a:off x="75438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23</a:t>
              </a:r>
            </a:p>
          </p:txBody>
        </p:sp>
        <p:sp>
          <p:nvSpPr>
            <p:cNvPr id="542" name="TextBox 144"/>
            <p:cNvSpPr txBox="1"/>
            <p:nvPr/>
          </p:nvSpPr>
          <p:spPr>
            <a:xfrm>
              <a:off x="27432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9</a:t>
              </a:r>
            </a:p>
          </p:txBody>
        </p:sp>
        <p:sp>
          <p:nvSpPr>
            <p:cNvPr id="543" name="TextBox 145"/>
            <p:cNvSpPr txBox="1"/>
            <p:nvPr/>
          </p:nvSpPr>
          <p:spPr>
            <a:xfrm>
              <a:off x="61722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19</a:t>
              </a:r>
            </a:p>
          </p:txBody>
        </p:sp>
      </p:grpSp>
      <p:pic>
        <p:nvPicPr>
          <p:cNvPr id="545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sp>
        <p:nvSpPr>
          <p:cNvPr id="546" name="Straight Arrow Connector 3"/>
          <p:cNvSpPr/>
          <p:nvPr/>
        </p:nvSpPr>
        <p:spPr>
          <a:xfrm flipH="1" flipV="1">
            <a:off x="1600199" y="4451122"/>
            <a:ext cx="101601" cy="357946"/>
          </a:xfrm>
          <a:prstGeom prst="line">
            <a:avLst/>
          </a:prstGeom>
          <a:ln w="28575">
            <a:solidFill>
              <a:srgbClr val="4A7EBB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549" name="Down Arrow Callout 260"/>
          <p:cNvGrpSpPr/>
          <p:nvPr/>
        </p:nvGrpSpPr>
        <p:grpSpPr>
          <a:xfrm>
            <a:off x="457200" y="3086100"/>
            <a:ext cx="1943101" cy="571501"/>
            <a:chOff x="0" y="0"/>
            <a:chExt cx="1943100" cy="571500"/>
          </a:xfrm>
        </p:grpSpPr>
        <p:sp>
          <p:nvSpPr>
            <p:cNvPr id="547" name="Shape"/>
            <p:cNvSpPr/>
            <p:nvPr/>
          </p:nvSpPr>
          <p:spPr>
            <a:xfrm>
              <a:off x="0" y="0"/>
              <a:ext cx="1943101" cy="57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4035"/>
                  </a:lnTo>
                  <a:lnTo>
                    <a:pt x="11594" y="14035"/>
                  </a:lnTo>
                  <a:lnTo>
                    <a:pt x="11594" y="16200"/>
                  </a:lnTo>
                  <a:lnTo>
                    <a:pt x="12388" y="16200"/>
                  </a:lnTo>
                  <a:lnTo>
                    <a:pt x="10800" y="21600"/>
                  </a:lnTo>
                  <a:lnTo>
                    <a:pt x="9212" y="16200"/>
                  </a:lnTo>
                  <a:lnTo>
                    <a:pt x="10006" y="16200"/>
                  </a:lnTo>
                  <a:lnTo>
                    <a:pt x="10006" y="14035"/>
                  </a:lnTo>
                  <a:lnTo>
                    <a:pt x="0" y="14035"/>
                  </a:lnTo>
                  <a:close/>
                </a:path>
              </a:pathLst>
            </a:custGeom>
            <a:solidFill>
              <a:srgbClr val="FFFF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48" name="region 53"/>
            <p:cNvSpPr txBox="1"/>
            <p:nvPr/>
          </p:nvSpPr>
          <p:spPr>
            <a:xfrm>
              <a:off x="55244" y="19128"/>
              <a:ext cx="183261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/>
              <a:r>
                <a:t>region </a:t>
              </a:r>
              <a:r>
                <a:rPr b="1"/>
                <a:t>53</a:t>
              </a:r>
            </a:p>
          </p:txBody>
        </p:sp>
      </p:grpSp>
      <p:sp>
        <p:nvSpPr>
          <p:cNvPr id="550" name="Text Placeholder 6"/>
          <p:cNvSpPr txBox="1"/>
          <p:nvPr/>
        </p:nvSpPr>
        <p:spPr>
          <a:xfrm>
            <a:off x="3831166" y="4812453"/>
            <a:ext cx="4423835" cy="280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spcBef>
                <a:spcPts val="2400"/>
              </a:spcBef>
              <a:defRPr>
                <a:solidFill>
                  <a:srgbClr val="0070C0"/>
                </a:solidFill>
              </a:defRPr>
            </a:lvl1pPr>
          </a:lstStyle>
          <a:p>
            <a:r>
              <a:t>particle passes in region 2 or 42 or 13 or 9</a:t>
            </a:r>
          </a:p>
        </p:txBody>
      </p:sp>
      <p:sp>
        <p:nvSpPr>
          <p:cNvPr id="551" name="Straight Arrow Connector 59"/>
          <p:cNvSpPr/>
          <p:nvPr/>
        </p:nvSpPr>
        <p:spPr>
          <a:xfrm flipH="1" flipV="1">
            <a:off x="5020733" y="4451122"/>
            <a:ext cx="101601" cy="357946"/>
          </a:xfrm>
          <a:prstGeom prst="line">
            <a:avLst/>
          </a:prstGeom>
          <a:ln w="28575">
            <a:solidFill>
              <a:srgbClr val="4A7EBB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52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55" name="Down Arrow Callout 55"/>
          <p:cNvGrpSpPr/>
          <p:nvPr/>
        </p:nvGrpSpPr>
        <p:grpSpPr>
          <a:xfrm>
            <a:off x="3771900" y="3086100"/>
            <a:ext cx="2171701" cy="571501"/>
            <a:chOff x="0" y="0"/>
            <a:chExt cx="2171700" cy="571500"/>
          </a:xfrm>
        </p:grpSpPr>
        <p:sp>
          <p:nvSpPr>
            <p:cNvPr id="553" name="Shape"/>
            <p:cNvSpPr/>
            <p:nvPr/>
          </p:nvSpPr>
          <p:spPr>
            <a:xfrm>
              <a:off x="0" y="0"/>
              <a:ext cx="2171701" cy="57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4035"/>
                  </a:lnTo>
                  <a:lnTo>
                    <a:pt x="11511" y="14035"/>
                  </a:lnTo>
                  <a:lnTo>
                    <a:pt x="11511" y="16200"/>
                  </a:lnTo>
                  <a:lnTo>
                    <a:pt x="12221" y="16200"/>
                  </a:lnTo>
                  <a:lnTo>
                    <a:pt x="10800" y="21600"/>
                  </a:lnTo>
                  <a:lnTo>
                    <a:pt x="9379" y="16200"/>
                  </a:lnTo>
                  <a:lnTo>
                    <a:pt x="10089" y="16200"/>
                  </a:lnTo>
                  <a:lnTo>
                    <a:pt x="10089" y="14035"/>
                  </a:lnTo>
                  <a:lnTo>
                    <a:pt x="0" y="14035"/>
                  </a:lnTo>
                  <a:close/>
                </a:path>
              </a:pathLst>
            </a:custGeom>
            <a:solidFill>
              <a:srgbClr val="FFFF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54" name="regions 2, 42, 13, 9"/>
            <p:cNvSpPr txBox="1"/>
            <p:nvPr/>
          </p:nvSpPr>
          <p:spPr>
            <a:xfrm>
              <a:off x="55244" y="19128"/>
              <a:ext cx="206121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/>
              <a:r>
                <a:t>regions </a:t>
              </a:r>
              <a:r>
                <a:rPr b="1"/>
                <a:t>2, 42, 13, 9 </a:t>
              </a:r>
            </a:p>
          </p:txBody>
        </p:sp>
      </p:grpSp>
      <p:grpSp>
        <p:nvGrpSpPr>
          <p:cNvPr id="558" name="Group 63"/>
          <p:cNvGrpSpPr/>
          <p:nvPr/>
        </p:nvGrpSpPr>
        <p:grpSpPr>
          <a:xfrm>
            <a:off x="533400" y="1988820"/>
            <a:ext cx="8077200" cy="752630"/>
            <a:chOff x="0" y="0"/>
            <a:chExt cx="8077200" cy="752629"/>
          </a:xfrm>
        </p:grpSpPr>
        <p:sp>
          <p:nvSpPr>
            <p:cNvPr id="556" name="Text Placeholder 6"/>
            <p:cNvSpPr txBox="1"/>
            <p:nvPr/>
          </p:nvSpPr>
          <p:spPr>
            <a:xfrm>
              <a:off x="0" y="0"/>
              <a:ext cx="8077200" cy="5664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200"/>
                </a:lnSpc>
                <a:spcBef>
                  <a:spcPts val="2400"/>
                </a:spcBef>
                <a:defRPr sz="2000"/>
              </a:lvl1pPr>
            </a:lstStyle>
            <a:p>
              <a:r>
                <a:t>When you design a component module, you can associate any geometrical region with any given latch bit:</a:t>
              </a:r>
            </a:p>
          </p:txBody>
        </p:sp>
        <p:pic>
          <p:nvPicPr>
            <p:cNvPr id="557" name="Picture 9" descr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2799" y="411479"/>
              <a:ext cx="4724394" cy="3411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559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62" name="Down Arrow Callout 71"/>
          <p:cNvGrpSpPr/>
          <p:nvPr/>
        </p:nvGrpSpPr>
        <p:grpSpPr>
          <a:xfrm>
            <a:off x="7772400" y="3086100"/>
            <a:ext cx="1028701" cy="571501"/>
            <a:chOff x="0" y="0"/>
            <a:chExt cx="1028700" cy="571500"/>
          </a:xfrm>
        </p:grpSpPr>
        <p:sp>
          <p:nvSpPr>
            <p:cNvPr id="560" name="Shape"/>
            <p:cNvSpPr/>
            <p:nvPr/>
          </p:nvSpPr>
          <p:spPr>
            <a:xfrm>
              <a:off x="0" y="0"/>
              <a:ext cx="1028701" cy="57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4035"/>
                  </a:lnTo>
                  <a:lnTo>
                    <a:pt x="12300" y="14035"/>
                  </a:lnTo>
                  <a:lnTo>
                    <a:pt x="12300" y="16200"/>
                  </a:lnTo>
                  <a:lnTo>
                    <a:pt x="13800" y="16200"/>
                  </a:lnTo>
                  <a:lnTo>
                    <a:pt x="10800" y="21600"/>
                  </a:lnTo>
                  <a:lnTo>
                    <a:pt x="7800" y="16200"/>
                  </a:lnTo>
                  <a:lnTo>
                    <a:pt x="9300" y="16200"/>
                  </a:lnTo>
                  <a:lnTo>
                    <a:pt x="9300" y="14035"/>
                  </a:lnTo>
                  <a:lnTo>
                    <a:pt x="0" y="14035"/>
                  </a:lnTo>
                  <a:close/>
                </a:path>
              </a:pathLst>
            </a:custGeom>
            <a:solidFill>
              <a:srgbClr val="FFC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/>
              </a:pPr>
              <a:endParaRPr/>
            </a:p>
          </p:txBody>
        </p:sp>
        <p:sp>
          <p:nvSpPr>
            <p:cNvPr id="561" name="default"/>
            <p:cNvSpPr txBox="1"/>
            <p:nvPr/>
          </p:nvSpPr>
          <p:spPr>
            <a:xfrm>
              <a:off x="55244" y="19128"/>
              <a:ext cx="91821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r>
                <a:t>default</a:t>
              </a:r>
            </a:p>
          </p:txBody>
        </p:sp>
      </p:grpSp>
      <p:sp>
        <p:nvSpPr>
          <p:cNvPr id="563" name="Text Placeholder 6"/>
          <p:cNvSpPr txBox="1"/>
          <p:nvPr/>
        </p:nvSpPr>
        <p:spPr>
          <a:xfrm>
            <a:off x="410632" y="4812453"/>
            <a:ext cx="2971801" cy="280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spcBef>
                <a:spcPts val="2400"/>
              </a:spcBef>
              <a:defRPr>
                <a:solidFill>
                  <a:srgbClr val="0070C0"/>
                </a:solidFill>
              </a:defRPr>
            </a:lvl1pPr>
          </a:lstStyle>
          <a:p>
            <a:r>
              <a:t>particle passes in region 53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21</a:t>
            </a:fld>
            <a:endParaRPr/>
          </a:p>
        </p:txBody>
      </p:sp>
      <p:sp>
        <p:nvSpPr>
          <p:cNvPr id="566" name="Text Placeholder 6"/>
          <p:cNvSpPr txBox="1">
            <a:spLocks noGrp="1"/>
          </p:cNvSpPr>
          <p:nvPr>
            <p:ph type="body" sz="quarter" idx="1"/>
          </p:nvPr>
        </p:nvSpPr>
        <p:spPr>
          <a:xfrm>
            <a:off x="533400" y="914400"/>
            <a:ext cx="8077200" cy="10287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lnSpc>
                <a:spcPts val="2200"/>
              </a:lnSpc>
              <a:spcBef>
                <a:spcPts val="2400"/>
              </a:spcBef>
              <a:defRPr sz="2000"/>
            </a:pPr>
            <a:r>
              <a:t>If you can operate a light switch, you understand latch! </a:t>
            </a:r>
            <a:r>
              <a:rPr b="0"/>
              <a:t>The latch variable is a set of 32 bits that particles carry around with them. We care about </a:t>
            </a:r>
            <a:r>
              <a:rPr>
                <a:solidFill>
                  <a:srgbClr val="FF0000"/>
                </a:solidFill>
              </a:rPr>
              <a:t>bits 1–23.</a:t>
            </a:r>
          </a:p>
        </p:txBody>
      </p:sp>
      <p:sp>
        <p:nvSpPr>
          <p:cNvPr id="567" name="Text Placeholder 1"/>
          <p:cNvSpPr txBox="1"/>
          <p:nvPr/>
        </p:nvSpPr>
        <p:spPr>
          <a:xfrm>
            <a:off x="502920" y="381000"/>
            <a:ext cx="8138160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algn="ctr">
              <a:spcBef>
                <a:spcPts val="600"/>
              </a:spcBef>
              <a:defRPr sz="2800" b="1"/>
            </a:lvl1pPr>
          </a:lstStyle>
          <a:p>
            <a:r>
              <a:t>3. “Latch” but not least: latch bits</a:t>
            </a:r>
          </a:p>
        </p:txBody>
      </p:sp>
      <p:pic>
        <p:nvPicPr>
          <p:cNvPr id="568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69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0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1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2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3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4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6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7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8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9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0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1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2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3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4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6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7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11" name="Group 60"/>
          <p:cNvGrpSpPr/>
          <p:nvPr/>
        </p:nvGrpSpPr>
        <p:grpSpPr>
          <a:xfrm>
            <a:off x="571500" y="4343400"/>
            <a:ext cx="7886700" cy="189359"/>
            <a:chOff x="0" y="0"/>
            <a:chExt cx="7886700" cy="189358"/>
          </a:xfrm>
        </p:grpSpPr>
        <p:sp>
          <p:nvSpPr>
            <p:cNvPr id="588" name="TextBox 20"/>
            <p:cNvSpPr txBox="1"/>
            <p:nvPr/>
          </p:nvSpPr>
          <p:spPr>
            <a:xfrm>
              <a:off x="0" y="0"/>
              <a:ext cx="342900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</a:t>
              </a:r>
            </a:p>
          </p:txBody>
        </p:sp>
        <p:sp>
          <p:nvSpPr>
            <p:cNvPr id="589" name="TextBox 121"/>
            <p:cNvSpPr txBox="1"/>
            <p:nvPr/>
          </p:nvSpPr>
          <p:spPr>
            <a:xfrm>
              <a:off x="3429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2</a:t>
              </a:r>
            </a:p>
          </p:txBody>
        </p:sp>
        <p:sp>
          <p:nvSpPr>
            <p:cNvPr id="590" name="TextBox 122"/>
            <p:cNvSpPr txBox="1"/>
            <p:nvPr/>
          </p:nvSpPr>
          <p:spPr>
            <a:xfrm>
              <a:off x="6858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3</a:t>
              </a:r>
            </a:p>
          </p:txBody>
        </p:sp>
        <p:sp>
          <p:nvSpPr>
            <p:cNvPr id="591" name="TextBox 123"/>
            <p:cNvSpPr txBox="1"/>
            <p:nvPr/>
          </p:nvSpPr>
          <p:spPr>
            <a:xfrm>
              <a:off x="10287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4</a:t>
              </a:r>
            </a:p>
          </p:txBody>
        </p:sp>
        <p:sp>
          <p:nvSpPr>
            <p:cNvPr id="592" name="TextBox 124"/>
            <p:cNvSpPr txBox="1"/>
            <p:nvPr/>
          </p:nvSpPr>
          <p:spPr>
            <a:xfrm>
              <a:off x="13716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5</a:t>
              </a:r>
            </a:p>
          </p:txBody>
        </p:sp>
        <p:sp>
          <p:nvSpPr>
            <p:cNvPr id="593" name="TextBox 125"/>
            <p:cNvSpPr txBox="1"/>
            <p:nvPr/>
          </p:nvSpPr>
          <p:spPr>
            <a:xfrm>
              <a:off x="17145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6</a:t>
              </a:r>
            </a:p>
          </p:txBody>
        </p:sp>
        <p:sp>
          <p:nvSpPr>
            <p:cNvPr id="594" name="TextBox 126"/>
            <p:cNvSpPr txBox="1"/>
            <p:nvPr/>
          </p:nvSpPr>
          <p:spPr>
            <a:xfrm>
              <a:off x="20574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7</a:t>
              </a:r>
            </a:p>
          </p:txBody>
        </p:sp>
        <p:sp>
          <p:nvSpPr>
            <p:cNvPr id="595" name="TextBox 127"/>
            <p:cNvSpPr txBox="1"/>
            <p:nvPr/>
          </p:nvSpPr>
          <p:spPr>
            <a:xfrm>
              <a:off x="24003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8</a:t>
              </a:r>
            </a:p>
          </p:txBody>
        </p:sp>
        <p:sp>
          <p:nvSpPr>
            <p:cNvPr id="596" name="TextBox 128"/>
            <p:cNvSpPr txBox="1"/>
            <p:nvPr/>
          </p:nvSpPr>
          <p:spPr>
            <a:xfrm>
              <a:off x="30861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10</a:t>
              </a:r>
            </a:p>
          </p:txBody>
        </p:sp>
        <p:sp>
          <p:nvSpPr>
            <p:cNvPr id="597" name="TextBox 129"/>
            <p:cNvSpPr txBox="1"/>
            <p:nvPr/>
          </p:nvSpPr>
          <p:spPr>
            <a:xfrm>
              <a:off x="34290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11</a:t>
              </a:r>
            </a:p>
          </p:txBody>
        </p:sp>
        <p:sp>
          <p:nvSpPr>
            <p:cNvPr id="598" name="TextBox 130"/>
            <p:cNvSpPr txBox="1"/>
            <p:nvPr/>
          </p:nvSpPr>
          <p:spPr>
            <a:xfrm>
              <a:off x="37719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12</a:t>
              </a:r>
            </a:p>
          </p:txBody>
        </p:sp>
        <p:sp>
          <p:nvSpPr>
            <p:cNvPr id="599" name="TextBox 131"/>
            <p:cNvSpPr txBox="1"/>
            <p:nvPr/>
          </p:nvSpPr>
          <p:spPr>
            <a:xfrm>
              <a:off x="41148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13</a:t>
              </a:r>
            </a:p>
          </p:txBody>
        </p:sp>
        <p:sp>
          <p:nvSpPr>
            <p:cNvPr id="600" name="TextBox 132"/>
            <p:cNvSpPr txBox="1"/>
            <p:nvPr/>
          </p:nvSpPr>
          <p:spPr>
            <a:xfrm>
              <a:off x="44577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14</a:t>
              </a:r>
            </a:p>
          </p:txBody>
        </p:sp>
        <p:sp>
          <p:nvSpPr>
            <p:cNvPr id="601" name="TextBox 133"/>
            <p:cNvSpPr txBox="1"/>
            <p:nvPr/>
          </p:nvSpPr>
          <p:spPr>
            <a:xfrm>
              <a:off x="48006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15</a:t>
              </a:r>
            </a:p>
          </p:txBody>
        </p:sp>
        <p:sp>
          <p:nvSpPr>
            <p:cNvPr id="602" name="TextBox 134"/>
            <p:cNvSpPr txBox="1"/>
            <p:nvPr/>
          </p:nvSpPr>
          <p:spPr>
            <a:xfrm>
              <a:off x="51435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16</a:t>
              </a:r>
            </a:p>
          </p:txBody>
        </p:sp>
        <p:sp>
          <p:nvSpPr>
            <p:cNvPr id="603" name="TextBox 135"/>
            <p:cNvSpPr txBox="1"/>
            <p:nvPr/>
          </p:nvSpPr>
          <p:spPr>
            <a:xfrm>
              <a:off x="54864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17</a:t>
              </a:r>
            </a:p>
          </p:txBody>
        </p:sp>
        <p:sp>
          <p:nvSpPr>
            <p:cNvPr id="604" name="TextBox 136"/>
            <p:cNvSpPr txBox="1"/>
            <p:nvPr/>
          </p:nvSpPr>
          <p:spPr>
            <a:xfrm>
              <a:off x="58293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18</a:t>
              </a:r>
            </a:p>
          </p:txBody>
        </p:sp>
        <p:sp>
          <p:nvSpPr>
            <p:cNvPr id="605" name="TextBox 137"/>
            <p:cNvSpPr txBox="1"/>
            <p:nvPr/>
          </p:nvSpPr>
          <p:spPr>
            <a:xfrm>
              <a:off x="65151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20</a:t>
              </a:r>
            </a:p>
          </p:txBody>
        </p:sp>
        <p:sp>
          <p:nvSpPr>
            <p:cNvPr id="606" name="TextBox 138"/>
            <p:cNvSpPr txBox="1"/>
            <p:nvPr/>
          </p:nvSpPr>
          <p:spPr>
            <a:xfrm>
              <a:off x="68580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21</a:t>
              </a:r>
            </a:p>
          </p:txBody>
        </p:sp>
        <p:sp>
          <p:nvSpPr>
            <p:cNvPr id="607" name="TextBox 139"/>
            <p:cNvSpPr txBox="1"/>
            <p:nvPr/>
          </p:nvSpPr>
          <p:spPr>
            <a:xfrm>
              <a:off x="72009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22</a:t>
              </a:r>
            </a:p>
          </p:txBody>
        </p:sp>
        <p:sp>
          <p:nvSpPr>
            <p:cNvPr id="608" name="TextBox 140"/>
            <p:cNvSpPr txBox="1"/>
            <p:nvPr/>
          </p:nvSpPr>
          <p:spPr>
            <a:xfrm>
              <a:off x="75438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23</a:t>
              </a:r>
            </a:p>
          </p:txBody>
        </p:sp>
        <p:sp>
          <p:nvSpPr>
            <p:cNvPr id="609" name="TextBox 144"/>
            <p:cNvSpPr txBox="1"/>
            <p:nvPr/>
          </p:nvSpPr>
          <p:spPr>
            <a:xfrm>
              <a:off x="27432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9</a:t>
              </a:r>
            </a:p>
          </p:txBody>
        </p:sp>
        <p:sp>
          <p:nvSpPr>
            <p:cNvPr id="610" name="TextBox 145"/>
            <p:cNvSpPr txBox="1"/>
            <p:nvPr/>
          </p:nvSpPr>
          <p:spPr>
            <a:xfrm>
              <a:off x="6172200" y="0"/>
              <a:ext cx="342901" cy="189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400"/>
              </a:lvl1pPr>
            </a:lstStyle>
            <a:p>
              <a:r>
                <a:t>19</a:t>
              </a:r>
            </a:p>
          </p:txBody>
        </p:sp>
      </p:grpSp>
      <p:sp>
        <p:nvSpPr>
          <p:cNvPr id="612" name="Text Placeholder 6"/>
          <p:cNvSpPr txBox="1"/>
          <p:nvPr/>
        </p:nvSpPr>
        <p:spPr>
          <a:xfrm>
            <a:off x="533400" y="5303519"/>
            <a:ext cx="8077200" cy="56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spcBef>
                <a:spcPts val="2400"/>
              </a:spcBef>
              <a:defRPr sz="2000"/>
            </a:pPr>
            <a:r>
              <a:t>If the particle passes through any region associated with a latch bit, this bit is turned on (set to 1). </a:t>
            </a:r>
            <a:r>
              <a:rPr b="1">
                <a:solidFill>
                  <a:srgbClr val="FF0000"/>
                </a:solidFill>
              </a:rPr>
              <a:t>This is a bit filter for dose components and analysis!</a:t>
            </a:r>
          </a:p>
        </p:txBody>
      </p:sp>
      <p:pic>
        <p:nvPicPr>
          <p:cNvPr id="613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sp>
        <p:nvSpPr>
          <p:cNvPr id="614" name="Straight Arrow Connector 3"/>
          <p:cNvSpPr/>
          <p:nvPr/>
        </p:nvSpPr>
        <p:spPr>
          <a:xfrm flipH="1" flipV="1">
            <a:off x="1600199" y="4451122"/>
            <a:ext cx="101601" cy="357946"/>
          </a:xfrm>
          <a:prstGeom prst="line">
            <a:avLst/>
          </a:prstGeom>
          <a:ln w="28575">
            <a:solidFill>
              <a:srgbClr val="4A7EBB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617" name="Down Arrow Callout 260"/>
          <p:cNvGrpSpPr/>
          <p:nvPr/>
        </p:nvGrpSpPr>
        <p:grpSpPr>
          <a:xfrm>
            <a:off x="457200" y="3086100"/>
            <a:ext cx="1943101" cy="571501"/>
            <a:chOff x="0" y="0"/>
            <a:chExt cx="1943100" cy="571500"/>
          </a:xfrm>
        </p:grpSpPr>
        <p:sp>
          <p:nvSpPr>
            <p:cNvPr id="615" name="Shape"/>
            <p:cNvSpPr/>
            <p:nvPr/>
          </p:nvSpPr>
          <p:spPr>
            <a:xfrm>
              <a:off x="0" y="0"/>
              <a:ext cx="1943101" cy="57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4035"/>
                  </a:lnTo>
                  <a:lnTo>
                    <a:pt x="11594" y="14035"/>
                  </a:lnTo>
                  <a:lnTo>
                    <a:pt x="11594" y="16200"/>
                  </a:lnTo>
                  <a:lnTo>
                    <a:pt x="12388" y="16200"/>
                  </a:lnTo>
                  <a:lnTo>
                    <a:pt x="10800" y="21600"/>
                  </a:lnTo>
                  <a:lnTo>
                    <a:pt x="9212" y="16200"/>
                  </a:lnTo>
                  <a:lnTo>
                    <a:pt x="10006" y="16200"/>
                  </a:lnTo>
                  <a:lnTo>
                    <a:pt x="10006" y="14035"/>
                  </a:lnTo>
                  <a:lnTo>
                    <a:pt x="0" y="14035"/>
                  </a:lnTo>
                  <a:close/>
                </a:path>
              </a:pathLst>
            </a:custGeom>
            <a:solidFill>
              <a:srgbClr val="FFFF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16" name="region 53"/>
            <p:cNvSpPr txBox="1"/>
            <p:nvPr/>
          </p:nvSpPr>
          <p:spPr>
            <a:xfrm>
              <a:off x="55244" y="19128"/>
              <a:ext cx="183261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/>
              <a:r>
                <a:t>region </a:t>
              </a:r>
              <a:r>
                <a:rPr b="1"/>
                <a:t>53</a:t>
              </a:r>
            </a:p>
          </p:txBody>
        </p:sp>
      </p:grpSp>
      <p:sp>
        <p:nvSpPr>
          <p:cNvPr id="618" name="Straight Arrow Connector 59"/>
          <p:cNvSpPr/>
          <p:nvPr/>
        </p:nvSpPr>
        <p:spPr>
          <a:xfrm flipH="1" flipV="1">
            <a:off x="5020733" y="4451122"/>
            <a:ext cx="101601" cy="357946"/>
          </a:xfrm>
          <a:prstGeom prst="line">
            <a:avLst/>
          </a:prstGeom>
          <a:ln w="28575">
            <a:solidFill>
              <a:srgbClr val="4A7EBB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19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22" name="Down Arrow Callout 55"/>
          <p:cNvGrpSpPr/>
          <p:nvPr/>
        </p:nvGrpSpPr>
        <p:grpSpPr>
          <a:xfrm>
            <a:off x="3771900" y="3086100"/>
            <a:ext cx="2171701" cy="571501"/>
            <a:chOff x="0" y="0"/>
            <a:chExt cx="2171700" cy="571500"/>
          </a:xfrm>
        </p:grpSpPr>
        <p:sp>
          <p:nvSpPr>
            <p:cNvPr id="620" name="Shape"/>
            <p:cNvSpPr/>
            <p:nvPr/>
          </p:nvSpPr>
          <p:spPr>
            <a:xfrm>
              <a:off x="0" y="0"/>
              <a:ext cx="2171701" cy="57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4035"/>
                  </a:lnTo>
                  <a:lnTo>
                    <a:pt x="11511" y="14035"/>
                  </a:lnTo>
                  <a:lnTo>
                    <a:pt x="11511" y="16200"/>
                  </a:lnTo>
                  <a:lnTo>
                    <a:pt x="12221" y="16200"/>
                  </a:lnTo>
                  <a:lnTo>
                    <a:pt x="10800" y="21600"/>
                  </a:lnTo>
                  <a:lnTo>
                    <a:pt x="9379" y="16200"/>
                  </a:lnTo>
                  <a:lnTo>
                    <a:pt x="10089" y="16200"/>
                  </a:lnTo>
                  <a:lnTo>
                    <a:pt x="10089" y="14035"/>
                  </a:lnTo>
                  <a:lnTo>
                    <a:pt x="0" y="14035"/>
                  </a:lnTo>
                  <a:close/>
                </a:path>
              </a:pathLst>
            </a:custGeom>
            <a:solidFill>
              <a:srgbClr val="FFFF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21" name="regions 2, 42, 13, 9"/>
            <p:cNvSpPr txBox="1"/>
            <p:nvPr/>
          </p:nvSpPr>
          <p:spPr>
            <a:xfrm>
              <a:off x="55244" y="19128"/>
              <a:ext cx="206121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/>
              <a:r>
                <a:t>regions </a:t>
              </a:r>
              <a:r>
                <a:rPr b="1"/>
                <a:t>2, 42, 13, 9 </a:t>
              </a:r>
            </a:p>
          </p:txBody>
        </p:sp>
      </p:grpSp>
      <p:grpSp>
        <p:nvGrpSpPr>
          <p:cNvPr id="625" name="Group 63"/>
          <p:cNvGrpSpPr/>
          <p:nvPr/>
        </p:nvGrpSpPr>
        <p:grpSpPr>
          <a:xfrm>
            <a:off x="533400" y="1988820"/>
            <a:ext cx="8077200" cy="752630"/>
            <a:chOff x="0" y="0"/>
            <a:chExt cx="8077200" cy="752629"/>
          </a:xfrm>
        </p:grpSpPr>
        <p:sp>
          <p:nvSpPr>
            <p:cNvPr id="623" name="Text Placeholder 6"/>
            <p:cNvSpPr txBox="1"/>
            <p:nvPr/>
          </p:nvSpPr>
          <p:spPr>
            <a:xfrm>
              <a:off x="0" y="0"/>
              <a:ext cx="8077200" cy="5664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200"/>
                </a:lnSpc>
                <a:spcBef>
                  <a:spcPts val="2400"/>
                </a:spcBef>
                <a:defRPr sz="2000"/>
              </a:lvl1pPr>
            </a:lstStyle>
            <a:p>
              <a:r>
                <a:t>When you design a component module, you can associate any geometrical region with any given latch bit:</a:t>
              </a:r>
            </a:p>
          </p:txBody>
        </p:sp>
        <p:pic>
          <p:nvPicPr>
            <p:cNvPr id="624" name="Picture 9" descr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2799" y="411479"/>
              <a:ext cx="4724394" cy="3411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626" name="Picture 2" descr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0" y="3657600"/>
            <a:ext cx="342900" cy="685800"/>
          </a:xfrm>
          <a:prstGeom prst="rect">
            <a:avLst/>
          </a:prstGeom>
          <a:ln w="12700">
            <a:miter lim="400000"/>
          </a:ln>
        </p:spPr>
      </p:pic>
      <p:sp>
        <p:nvSpPr>
          <p:cNvPr id="627" name="Text Placeholder 6"/>
          <p:cNvSpPr txBox="1"/>
          <p:nvPr/>
        </p:nvSpPr>
        <p:spPr>
          <a:xfrm>
            <a:off x="8347977" y="4812453"/>
            <a:ext cx="525231" cy="280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spcBef>
                <a:spcPts val="2400"/>
              </a:spcBef>
              <a:defRPr>
                <a:solidFill>
                  <a:srgbClr val="0070C0"/>
                </a:solidFill>
              </a:defRPr>
            </a:lvl1pPr>
          </a:lstStyle>
          <a:p>
            <a:r>
              <a:t>likely</a:t>
            </a:r>
          </a:p>
        </p:txBody>
      </p:sp>
      <p:sp>
        <p:nvSpPr>
          <p:cNvPr id="628" name="Straight Arrow Connector 69"/>
          <p:cNvSpPr/>
          <p:nvPr/>
        </p:nvSpPr>
        <p:spPr>
          <a:xfrm flipH="1" flipV="1">
            <a:off x="8458199" y="4451122"/>
            <a:ext cx="101601" cy="357946"/>
          </a:xfrm>
          <a:prstGeom prst="line">
            <a:avLst/>
          </a:prstGeom>
          <a:ln w="28575">
            <a:solidFill>
              <a:srgbClr val="4A7EBB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9" name="Text Placeholder 6"/>
          <p:cNvSpPr txBox="1"/>
          <p:nvPr/>
        </p:nvSpPr>
        <p:spPr>
          <a:xfrm>
            <a:off x="3831166" y="4812453"/>
            <a:ext cx="4423835" cy="280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spcBef>
                <a:spcPts val="2400"/>
              </a:spcBef>
              <a:defRPr>
                <a:solidFill>
                  <a:srgbClr val="0070C0"/>
                </a:solidFill>
              </a:defRPr>
            </a:lvl1pPr>
          </a:lstStyle>
          <a:p>
            <a:r>
              <a:t>particle passes in region 2 or 42 or 13 or 9</a:t>
            </a:r>
          </a:p>
        </p:txBody>
      </p:sp>
      <p:sp>
        <p:nvSpPr>
          <p:cNvPr id="630" name="Text Placeholder 6"/>
          <p:cNvSpPr txBox="1"/>
          <p:nvPr/>
        </p:nvSpPr>
        <p:spPr>
          <a:xfrm>
            <a:off x="410632" y="4812453"/>
            <a:ext cx="2971801" cy="280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spcBef>
                <a:spcPts val="2400"/>
              </a:spcBef>
              <a:defRPr>
                <a:solidFill>
                  <a:srgbClr val="0070C0"/>
                </a:solidFill>
              </a:defRPr>
            </a:lvl1pPr>
          </a:lstStyle>
          <a:p>
            <a:r>
              <a:t>particle passes in region 53</a:t>
            </a:r>
          </a:p>
        </p:txBody>
      </p:sp>
      <p:grpSp>
        <p:nvGrpSpPr>
          <p:cNvPr id="633" name="Down Arrow Callout 66"/>
          <p:cNvGrpSpPr/>
          <p:nvPr/>
        </p:nvGrpSpPr>
        <p:grpSpPr>
          <a:xfrm>
            <a:off x="7772400" y="3086100"/>
            <a:ext cx="1028701" cy="571501"/>
            <a:chOff x="0" y="0"/>
            <a:chExt cx="1028700" cy="571500"/>
          </a:xfrm>
        </p:grpSpPr>
        <p:sp>
          <p:nvSpPr>
            <p:cNvPr id="631" name="Shape"/>
            <p:cNvSpPr/>
            <p:nvPr/>
          </p:nvSpPr>
          <p:spPr>
            <a:xfrm>
              <a:off x="0" y="0"/>
              <a:ext cx="1028701" cy="57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4035"/>
                  </a:lnTo>
                  <a:lnTo>
                    <a:pt x="12300" y="14035"/>
                  </a:lnTo>
                  <a:lnTo>
                    <a:pt x="12300" y="16200"/>
                  </a:lnTo>
                  <a:lnTo>
                    <a:pt x="13800" y="16200"/>
                  </a:lnTo>
                  <a:lnTo>
                    <a:pt x="10800" y="21600"/>
                  </a:lnTo>
                  <a:lnTo>
                    <a:pt x="7800" y="16200"/>
                  </a:lnTo>
                  <a:lnTo>
                    <a:pt x="9300" y="16200"/>
                  </a:lnTo>
                  <a:lnTo>
                    <a:pt x="9300" y="14035"/>
                  </a:lnTo>
                  <a:lnTo>
                    <a:pt x="0" y="14035"/>
                  </a:lnTo>
                  <a:close/>
                </a:path>
              </a:pathLst>
            </a:custGeom>
            <a:solidFill>
              <a:srgbClr val="FFC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/>
              </a:pPr>
              <a:endParaRPr/>
            </a:p>
          </p:txBody>
        </p:sp>
        <p:sp>
          <p:nvSpPr>
            <p:cNvPr id="632" name="default"/>
            <p:cNvSpPr txBox="1"/>
            <p:nvPr/>
          </p:nvSpPr>
          <p:spPr>
            <a:xfrm>
              <a:off x="55244" y="19128"/>
              <a:ext cx="91821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r>
                <a:t>default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2" grpId="1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22</a:t>
            </a:fld>
            <a:endParaRPr/>
          </a:p>
        </p:txBody>
      </p:sp>
      <p:sp>
        <p:nvSpPr>
          <p:cNvPr id="636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3. “Latch” but not least: latch inheritance</a:t>
            </a:r>
          </a:p>
        </p:txBody>
      </p:sp>
      <p:sp>
        <p:nvSpPr>
          <p:cNvPr id="637" name="Freeform 80"/>
          <p:cNvSpPr/>
          <p:nvPr/>
        </p:nvSpPr>
        <p:spPr>
          <a:xfrm>
            <a:off x="1317134" y="1907244"/>
            <a:ext cx="1306236" cy="1229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 b="1">
                <a:solidFill>
                  <a:srgbClr val="FF0000"/>
                </a:solidFill>
              </a:defRPr>
            </a:pPr>
            <a:endParaRPr/>
          </a:p>
        </p:txBody>
      </p:sp>
      <p:sp>
        <p:nvSpPr>
          <p:cNvPr id="638" name="Freeform 81"/>
          <p:cNvSpPr/>
          <p:nvPr/>
        </p:nvSpPr>
        <p:spPr>
          <a:xfrm flipH="1">
            <a:off x="3044498" y="1907244"/>
            <a:ext cx="1277679" cy="1229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 sz="1400" b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</p:txBody>
      </p:sp>
      <p:sp>
        <p:nvSpPr>
          <p:cNvPr id="639" name="Trapezoid 82"/>
          <p:cNvSpPr/>
          <p:nvPr/>
        </p:nvSpPr>
        <p:spPr>
          <a:xfrm>
            <a:off x="2380684" y="3277613"/>
            <a:ext cx="835129" cy="9478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5400" y="0"/>
                </a:lnTo>
                <a:lnTo>
                  <a:pt x="162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40" name="Freeform 83"/>
          <p:cNvSpPr/>
          <p:nvPr/>
        </p:nvSpPr>
        <p:spPr>
          <a:xfrm>
            <a:off x="574792" y="4506867"/>
            <a:ext cx="1698814" cy="798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41" name="Freeform 84"/>
          <p:cNvSpPr/>
          <p:nvPr/>
        </p:nvSpPr>
        <p:spPr>
          <a:xfrm flipH="1">
            <a:off x="3472768" y="4506867"/>
            <a:ext cx="1698814" cy="798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42" name="Rectangle 85"/>
          <p:cNvSpPr/>
          <p:nvPr/>
        </p:nvSpPr>
        <p:spPr>
          <a:xfrm>
            <a:off x="2437790" y="1257300"/>
            <a:ext cx="835129" cy="353354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43" name="Rectangle 87"/>
          <p:cNvSpPr txBox="1"/>
          <p:nvPr/>
        </p:nvSpPr>
        <p:spPr>
          <a:xfrm>
            <a:off x="1772439" y="2288128"/>
            <a:ext cx="2200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2</a:t>
            </a:r>
          </a:p>
        </p:txBody>
      </p:sp>
      <p:sp>
        <p:nvSpPr>
          <p:cNvPr id="644" name="Rectangle 88"/>
          <p:cNvSpPr txBox="1"/>
          <p:nvPr/>
        </p:nvSpPr>
        <p:spPr>
          <a:xfrm>
            <a:off x="3669606" y="2288128"/>
            <a:ext cx="220003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3</a:t>
            </a:r>
          </a:p>
        </p:txBody>
      </p:sp>
      <p:sp>
        <p:nvSpPr>
          <p:cNvPr id="645" name="Rectangle 96"/>
          <p:cNvSpPr txBox="1"/>
          <p:nvPr/>
        </p:nvSpPr>
        <p:spPr>
          <a:xfrm>
            <a:off x="2729568" y="1257299"/>
            <a:ext cx="220003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1</a:t>
            </a:r>
          </a:p>
        </p:txBody>
      </p:sp>
      <p:sp>
        <p:nvSpPr>
          <p:cNvPr id="646" name="Rectangle 103"/>
          <p:cNvSpPr txBox="1"/>
          <p:nvPr/>
        </p:nvSpPr>
        <p:spPr>
          <a:xfrm>
            <a:off x="2712476" y="3631000"/>
            <a:ext cx="2200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4</a:t>
            </a:r>
          </a:p>
        </p:txBody>
      </p:sp>
      <p:sp>
        <p:nvSpPr>
          <p:cNvPr id="647" name="Rectangle 148"/>
          <p:cNvSpPr txBox="1"/>
          <p:nvPr/>
        </p:nvSpPr>
        <p:spPr>
          <a:xfrm>
            <a:off x="1140050" y="4737044"/>
            <a:ext cx="220004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5</a:t>
            </a:r>
          </a:p>
        </p:txBody>
      </p:sp>
      <p:sp>
        <p:nvSpPr>
          <p:cNvPr id="648" name="Rectangle 149"/>
          <p:cNvSpPr txBox="1"/>
          <p:nvPr/>
        </p:nvSpPr>
        <p:spPr>
          <a:xfrm>
            <a:off x="4447273" y="4737044"/>
            <a:ext cx="220003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6</a:t>
            </a:r>
          </a:p>
        </p:txBody>
      </p:sp>
      <p:grpSp>
        <p:nvGrpSpPr>
          <p:cNvPr id="656" name="Group 17"/>
          <p:cNvGrpSpPr/>
          <p:nvPr/>
        </p:nvGrpSpPr>
        <p:grpSpPr>
          <a:xfrm>
            <a:off x="3558987" y="1251577"/>
            <a:ext cx="1634378" cy="248743"/>
            <a:chOff x="0" y="0"/>
            <a:chExt cx="1634377" cy="248741"/>
          </a:xfrm>
        </p:grpSpPr>
        <p:sp>
          <p:nvSpPr>
            <p:cNvPr id="649" name="Rectangle 8"/>
            <p:cNvSpPr/>
            <p:nvPr/>
          </p:nvSpPr>
          <p:spPr>
            <a:xfrm>
              <a:off x="0" y="5721"/>
              <a:ext cx="228600" cy="228601"/>
            </a:xfrm>
            <a:prstGeom prst="rect">
              <a:avLst/>
            </a:prstGeom>
            <a:solidFill>
              <a:srgbClr val="FF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50" name="Rectangle 150"/>
            <p:cNvSpPr/>
            <p:nvPr/>
          </p:nvSpPr>
          <p:spPr>
            <a:xfrm>
              <a:off x="2286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51" name="Rectangle 151"/>
            <p:cNvSpPr/>
            <p:nvPr/>
          </p:nvSpPr>
          <p:spPr>
            <a:xfrm>
              <a:off x="4572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52" name="Rectangle 152"/>
            <p:cNvSpPr/>
            <p:nvPr/>
          </p:nvSpPr>
          <p:spPr>
            <a:xfrm>
              <a:off x="6858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53" name="Rectangle 153"/>
            <p:cNvSpPr/>
            <p:nvPr/>
          </p:nvSpPr>
          <p:spPr>
            <a:xfrm>
              <a:off x="9144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54" name="Rectangle 154"/>
            <p:cNvSpPr/>
            <p:nvPr/>
          </p:nvSpPr>
          <p:spPr>
            <a:xfrm>
              <a:off x="11430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55" name="TextBox 16"/>
            <p:cNvSpPr txBox="1"/>
            <p:nvPr/>
          </p:nvSpPr>
          <p:spPr>
            <a:xfrm>
              <a:off x="1429317" y="0"/>
              <a:ext cx="205061" cy="248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sz="2000"/>
              </a:lvl1pPr>
            </a:lstStyle>
            <a:p>
              <a:r>
                <a:t>...</a:t>
              </a:r>
            </a:p>
          </p:txBody>
        </p:sp>
      </p:grpSp>
      <p:sp>
        <p:nvSpPr>
          <p:cNvPr id="657" name="Straight Arrow Connector 156"/>
          <p:cNvSpPr/>
          <p:nvPr/>
        </p:nvSpPr>
        <p:spPr>
          <a:xfrm>
            <a:off x="3101787" y="1028700"/>
            <a:ext cx="1" cy="457201"/>
          </a:xfrm>
          <a:prstGeom prst="line">
            <a:avLst/>
          </a:prstGeom>
          <a:ln w="38100">
            <a:solidFill>
              <a:srgbClr val="0000F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8" name="Rectangle 158"/>
          <p:cNvSpPr txBox="1"/>
          <p:nvPr/>
        </p:nvSpPr>
        <p:spPr>
          <a:xfrm>
            <a:off x="3817620" y="923897"/>
            <a:ext cx="870705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sz="1600" b="1"/>
            </a:lvl1pPr>
          </a:lstStyle>
          <a:p>
            <a:r>
              <a:t>latch bits</a:t>
            </a:r>
          </a:p>
        </p:txBody>
      </p:sp>
      <p:sp>
        <p:nvSpPr>
          <p:cNvPr id="659" name="Rectangle 162"/>
          <p:cNvSpPr txBox="1"/>
          <p:nvPr/>
        </p:nvSpPr>
        <p:spPr>
          <a:xfrm>
            <a:off x="351342" y="1183252"/>
            <a:ext cx="1923416" cy="553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lnSpc>
                <a:spcPts val="1800"/>
              </a:lnSpc>
              <a:tabLst>
                <a:tab pos="800100" algn="l"/>
                <a:tab pos="2057400" algn="l"/>
              </a:tabLst>
              <a:defRPr sz="1600" b="1"/>
            </a:pPr>
            <a:r>
              <a:t>latch bit associations </a:t>
            </a:r>
            <a:br/>
            <a:r>
              <a:rPr b="0"/>
              <a:t>(not region numbers!)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23</a:t>
            </a:fld>
            <a:endParaRPr/>
          </a:p>
        </p:txBody>
      </p:sp>
      <p:sp>
        <p:nvSpPr>
          <p:cNvPr id="662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3. “Latch” but not least: latch inheritance</a:t>
            </a:r>
          </a:p>
        </p:txBody>
      </p:sp>
      <p:sp>
        <p:nvSpPr>
          <p:cNvPr id="663" name="Freeform 80"/>
          <p:cNvSpPr/>
          <p:nvPr/>
        </p:nvSpPr>
        <p:spPr>
          <a:xfrm>
            <a:off x="1317134" y="1907244"/>
            <a:ext cx="1306236" cy="1229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 b="1">
                <a:solidFill>
                  <a:srgbClr val="FF0000"/>
                </a:solidFill>
              </a:defRPr>
            </a:pPr>
            <a:endParaRPr/>
          </a:p>
        </p:txBody>
      </p:sp>
      <p:sp>
        <p:nvSpPr>
          <p:cNvPr id="664" name="Freeform 81"/>
          <p:cNvSpPr/>
          <p:nvPr/>
        </p:nvSpPr>
        <p:spPr>
          <a:xfrm flipH="1">
            <a:off x="3044498" y="1907244"/>
            <a:ext cx="1277679" cy="1229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 sz="1400" b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</p:txBody>
      </p:sp>
      <p:sp>
        <p:nvSpPr>
          <p:cNvPr id="665" name="Rectangle 85"/>
          <p:cNvSpPr/>
          <p:nvPr/>
        </p:nvSpPr>
        <p:spPr>
          <a:xfrm>
            <a:off x="2437790" y="1257300"/>
            <a:ext cx="835129" cy="353354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66" name="Rectangle 87"/>
          <p:cNvSpPr txBox="1"/>
          <p:nvPr/>
        </p:nvSpPr>
        <p:spPr>
          <a:xfrm>
            <a:off x="1772439" y="2288128"/>
            <a:ext cx="2200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2</a:t>
            </a:r>
          </a:p>
        </p:txBody>
      </p:sp>
      <p:sp>
        <p:nvSpPr>
          <p:cNvPr id="667" name="Rectangle 88"/>
          <p:cNvSpPr txBox="1"/>
          <p:nvPr/>
        </p:nvSpPr>
        <p:spPr>
          <a:xfrm>
            <a:off x="3669606" y="2288128"/>
            <a:ext cx="220003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3</a:t>
            </a:r>
          </a:p>
        </p:txBody>
      </p:sp>
      <p:sp>
        <p:nvSpPr>
          <p:cNvPr id="668" name="Rectangle 96"/>
          <p:cNvSpPr txBox="1"/>
          <p:nvPr/>
        </p:nvSpPr>
        <p:spPr>
          <a:xfrm>
            <a:off x="2729568" y="1257299"/>
            <a:ext cx="220003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1</a:t>
            </a:r>
          </a:p>
        </p:txBody>
      </p:sp>
      <p:sp>
        <p:nvSpPr>
          <p:cNvPr id="669" name="Straight Arrow Connector 24"/>
          <p:cNvSpPr/>
          <p:nvPr/>
        </p:nvSpPr>
        <p:spPr>
          <a:xfrm>
            <a:off x="3101787" y="1485900"/>
            <a:ext cx="1046881" cy="802230"/>
          </a:xfrm>
          <a:prstGeom prst="line">
            <a:avLst/>
          </a:prstGeom>
          <a:ln w="38100">
            <a:solidFill>
              <a:srgbClr val="0000F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677" name="Group 27"/>
          <p:cNvGrpSpPr/>
          <p:nvPr/>
        </p:nvGrpSpPr>
        <p:grpSpPr>
          <a:xfrm>
            <a:off x="4566930" y="2134240"/>
            <a:ext cx="1634378" cy="248742"/>
            <a:chOff x="0" y="0"/>
            <a:chExt cx="1634377" cy="248741"/>
          </a:xfrm>
        </p:grpSpPr>
        <p:sp>
          <p:nvSpPr>
            <p:cNvPr id="670" name="Rectangle 28"/>
            <p:cNvSpPr/>
            <p:nvPr/>
          </p:nvSpPr>
          <p:spPr>
            <a:xfrm>
              <a:off x="0" y="5721"/>
              <a:ext cx="228600" cy="228601"/>
            </a:xfrm>
            <a:prstGeom prst="rect">
              <a:avLst/>
            </a:prstGeom>
            <a:solidFill>
              <a:srgbClr val="FF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71" name="Rectangle 29"/>
            <p:cNvSpPr/>
            <p:nvPr/>
          </p:nvSpPr>
          <p:spPr>
            <a:xfrm>
              <a:off x="2286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72" name="Rectangle 30"/>
            <p:cNvSpPr/>
            <p:nvPr/>
          </p:nvSpPr>
          <p:spPr>
            <a:xfrm>
              <a:off x="457200" y="5721"/>
              <a:ext cx="228601" cy="228601"/>
            </a:xfrm>
            <a:prstGeom prst="rect">
              <a:avLst/>
            </a:prstGeom>
            <a:solidFill>
              <a:srgbClr val="FF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73" name="Rectangle 31"/>
            <p:cNvSpPr/>
            <p:nvPr/>
          </p:nvSpPr>
          <p:spPr>
            <a:xfrm>
              <a:off x="6858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74" name="Rectangle 32"/>
            <p:cNvSpPr/>
            <p:nvPr/>
          </p:nvSpPr>
          <p:spPr>
            <a:xfrm>
              <a:off x="9144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75" name="Rectangle 33"/>
            <p:cNvSpPr/>
            <p:nvPr/>
          </p:nvSpPr>
          <p:spPr>
            <a:xfrm>
              <a:off x="11430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76" name="TextBox 34"/>
            <p:cNvSpPr txBox="1"/>
            <p:nvPr/>
          </p:nvSpPr>
          <p:spPr>
            <a:xfrm>
              <a:off x="1429317" y="0"/>
              <a:ext cx="205061" cy="248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sz="2000"/>
              </a:lvl1pPr>
            </a:lstStyle>
            <a:p>
              <a:r>
                <a:t>...</a:t>
              </a:r>
            </a:p>
          </p:txBody>
        </p:sp>
      </p:grpSp>
      <p:sp>
        <p:nvSpPr>
          <p:cNvPr id="678" name="Straight Arrow Connector 35"/>
          <p:cNvSpPr/>
          <p:nvPr/>
        </p:nvSpPr>
        <p:spPr>
          <a:xfrm>
            <a:off x="3101787" y="1028700"/>
            <a:ext cx="1" cy="457201"/>
          </a:xfrm>
          <a:prstGeom prst="line">
            <a:avLst/>
          </a:prstGeom>
          <a:ln w="38100">
            <a:solidFill>
              <a:srgbClr val="0000F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9" name="Trapezoid 37"/>
          <p:cNvSpPr/>
          <p:nvPr/>
        </p:nvSpPr>
        <p:spPr>
          <a:xfrm>
            <a:off x="2380684" y="3277613"/>
            <a:ext cx="835129" cy="9478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5400" y="0"/>
                </a:lnTo>
                <a:lnTo>
                  <a:pt x="162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80" name="Freeform 38"/>
          <p:cNvSpPr/>
          <p:nvPr/>
        </p:nvSpPr>
        <p:spPr>
          <a:xfrm>
            <a:off x="574792" y="4506867"/>
            <a:ext cx="1698814" cy="798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81" name="Freeform 39"/>
          <p:cNvSpPr/>
          <p:nvPr/>
        </p:nvSpPr>
        <p:spPr>
          <a:xfrm flipH="1">
            <a:off x="3472768" y="4506867"/>
            <a:ext cx="1698814" cy="798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82" name="Rectangle 40"/>
          <p:cNvSpPr txBox="1"/>
          <p:nvPr/>
        </p:nvSpPr>
        <p:spPr>
          <a:xfrm>
            <a:off x="2712476" y="3631000"/>
            <a:ext cx="2200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4</a:t>
            </a:r>
          </a:p>
        </p:txBody>
      </p:sp>
      <p:sp>
        <p:nvSpPr>
          <p:cNvPr id="683" name="Rectangle 41"/>
          <p:cNvSpPr txBox="1"/>
          <p:nvPr/>
        </p:nvSpPr>
        <p:spPr>
          <a:xfrm>
            <a:off x="1140050" y="4737044"/>
            <a:ext cx="220004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5</a:t>
            </a:r>
          </a:p>
        </p:txBody>
      </p:sp>
      <p:sp>
        <p:nvSpPr>
          <p:cNvPr id="684" name="Rectangle 42"/>
          <p:cNvSpPr txBox="1"/>
          <p:nvPr/>
        </p:nvSpPr>
        <p:spPr>
          <a:xfrm>
            <a:off x="4447273" y="4737044"/>
            <a:ext cx="220003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6</a:t>
            </a:r>
          </a:p>
        </p:txBody>
      </p:sp>
      <p:sp>
        <p:nvSpPr>
          <p:cNvPr id="685" name="Rectangle 45"/>
          <p:cNvSpPr txBox="1"/>
          <p:nvPr/>
        </p:nvSpPr>
        <p:spPr>
          <a:xfrm>
            <a:off x="351342" y="1183252"/>
            <a:ext cx="1923416" cy="553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lnSpc>
                <a:spcPts val="1800"/>
              </a:lnSpc>
              <a:tabLst>
                <a:tab pos="800100" algn="l"/>
                <a:tab pos="2057400" algn="l"/>
              </a:tabLst>
              <a:defRPr sz="1600" b="1"/>
            </a:pPr>
            <a:r>
              <a:t>latch bit associations </a:t>
            </a:r>
            <a:br/>
            <a:r>
              <a:rPr b="0"/>
              <a:t>(not region numbers!)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24</a:t>
            </a:fld>
            <a:endParaRPr/>
          </a:p>
        </p:txBody>
      </p:sp>
      <p:sp>
        <p:nvSpPr>
          <p:cNvPr id="688" name="Trapezoid 40"/>
          <p:cNvSpPr/>
          <p:nvPr/>
        </p:nvSpPr>
        <p:spPr>
          <a:xfrm>
            <a:off x="2380684" y="3277613"/>
            <a:ext cx="835129" cy="9478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5400" y="0"/>
                </a:lnTo>
                <a:lnTo>
                  <a:pt x="162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89" name="Freeform 41"/>
          <p:cNvSpPr/>
          <p:nvPr/>
        </p:nvSpPr>
        <p:spPr>
          <a:xfrm>
            <a:off x="574792" y="4506867"/>
            <a:ext cx="1698814" cy="798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90" name="Freeform 42"/>
          <p:cNvSpPr/>
          <p:nvPr/>
        </p:nvSpPr>
        <p:spPr>
          <a:xfrm flipH="1">
            <a:off x="3472768" y="4506867"/>
            <a:ext cx="1698814" cy="798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91" name="Rectangle 43"/>
          <p:cNvSpPr txBox="1"/>
          <p:nvPr/>
        </p:nvSpPr>
        <p:spPr>
          <a:xfrm>
            <a:off x="2712476" y="3631000"/>
            <a:ext cx="2200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4</a:t>
            </a:r>
          </a:p>
        </p:txBody>
      </p:sp>
      <p:sp>
        <p:nvSpPr>
          <p:cNvPr id="692" name="Rectangle 44"/>
          <p:cNvSpPr txBox="1"/>
          <p:nvPr/>
        </p:nvSpPr>
        <p:spPr>
          <a:xfrm>
            <a:off x="1140050" y="4737044"/>
            <a:ext cx="220004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5</a:t>
            </a:r>
          </a:p>
        </p:txBody>
      </p:sp>
      <p:sp>
        <p:nvSpPr>
          <p:cNvPr id="693" name="Rectangle 45"/>
          <p:cNvSpPr txBox="1"/>
          <p:nvPr/>
        </p:nvSpPr>
        <p:spPr>
          <a:xfrm>
            <a:off x="4447273" y="4737044"/>
            <a:ext cx="220003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6</a:t>
            </a:r>
          </a:p>
        </p:txBody>
      </p:sp>
      <p:sp>
        <p:nvSpPr>
          <p:cNvPr id="694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3. “Latch” but not least: latch inheritance</a:t>
            </a:r>
          </a:p>
        </p:txBody>
      </p:sp>
      <p:sp>
        <p:nvSpPr>
          <p:cNvPr id="695" name="Freeform 80"/>
          <p:cNvSpPr/>
          <p:nvPr/>
        </p:nvSpPr>
        <p:spPr>
          <a:xfrm>
            <a:off x="1317134" y="1907244"/>
            <a:ext cx="1306236" cy="1229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 b="1">
                <a:solidFill>
                  <a:srgbClr val="FF0000"/>
                </a:solidFill>
              </a:defRPr>
            </a:pPr>
            <a:endParaRPr/>
          </a:p>
        </p:txBody>
      </p:sp>
      <p:sp>
        <p:nvSpPr>
          <p:cNvPr id="696" name="Freeform 81"/>
          <p:cNvSpPr/>
          <p:nvPr/>
        </p:nvSpPr>
        <p:spPr>
          <a:xfrm flipH="1">
            <a:off x="3044498" y="1907244"/>
            <a:ext cx="1277679" cy="1229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 sz="1400" b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</p:txBody>
      </p:sp>
      <p:sp>
        <p:nvSpPr>
          <p:cNvPr id="697" name="Rectangle 85"/>
          <p:cNvSpPr/>
          <p:nvPr/>
        </p:nvSpPr>
        <p:spPr>
          <a:xfrm>
            <a:off x="2437790" y="1257300"/>
            <a:ext cx="835129" cy="353354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98" name="Rectangle 87"/>
          <p:cNvSpPr txBox="1"/>
          <p:nvPr/>
        </p:nvSpPr>
        <p:spPr>
          <a:xfrm>
            <a:off x="1772439" y="2288128"/>
            <a:ext cx="2200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2</a:t>
            </a:r>
          </a:p>
        </p:txBody>
      </p:sp>
      <p:sp>
        <p:nvSpPr>
          <p:cNvPr id="699" name="Rectangle 88"/>
          <p:cNvSpPr txBox="1"/>
          <p:nvPr/>
        </p:nvSpPr>
        <p:spPr>
          <a:xfrm>
            <a:off x="3669606" y="2288128"/>
            <a:ext cx="220003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3</a:t>
            </a:r>
          </a:p>
        </p:txBody>
      </p:sp>
      <p:sp>
        <p:nvSpPr>
          <p:cNvPr id="700" name="Rectangle 96"/>
          <p:cNvSpPr txBox="1"/>
          <p:nvPr/>
        </p:nvSpPr>
        <p:spPr>
          <a:xfrm>
            <a:off x="2729568" y="1257299"/>
            <a:ext cx="220003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1</a:t>
            </a:r>
          </a:p>
        </p:txBody>
      </p:sp>
      <p:grpSp>
        <p:nvGrpSpPr>
          <p:cNvPr id="708" name="Group 27"/>
          <p:cNvGrpSpPr/>
          <p:nvPr/>
        </p:nvGrpSpPr>
        <p:grpSpPr>
          <a:xfrm>
            <a:off x="3431525" y="3846443"/>
            <a:ext cx="1634379" cy="248743"/>
            <a:chOff x="0" y="0"/>
            <a:chExt cx="1634377" cy="248741"/>
          </a:xfrm>
        </p:grpSpPr>
        <p:sp>
          <p:nvSpPr>
            <p:cNvPr id="701" name="Rectangle 28"/>
            <p:cNvSpPr/>
            <p:nvPr/>
          </p:nvSpPr>
          <p:spPr>
            <a:xfrm>
              <a:off x="0" y="5721"/>
              <a:ext cx="228600" cy="228601"/>
            </a:xfrm>
            <a:prstGeom prst="rect">
              <a:avLst/>
            </a:prstGeom>
            <a:solidFill>
              <a:srgbClr val="FF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02" name="Rectangle 29"/>
            <p:cNvSpPr/>
            <p:nvPr/>
          </p:nvSpPr>
          <p:spPr>
            <a:xfrm>
              <a:off x="2286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03" name="Rectangle 30"/>
            <p:cNvSpPr/>
            <p:nvPr/>
          </p:nvSpPr>
          <p:spPr>
            <a:xfrm>
              <a:off x="457200" y="5721"/>
              <a:ext cx="228601" cy="228601"/>
            </a:xfrm>
            <a:prstGeom prst="rect">
              <a:avLst/>
            </a:prstGeom>
            <a:solidFill>
              <a:srgbClr val="FF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04" name="Rectangle 31"/>
            <p:cNvSpPr/>
            <p:nvPr/>
          </p:nvSpPr>
          <p:spPr>
            <a:xfrm>
              <a:off x="685800" y="5721"/>
              <a:ext cx="228601" cy="228601"/>
            </a:xfrm>
            <a:prstGeom prst="rect">
              <a:avLst/>
            </a:prstGeom>
            <a:solidFill>
              <a:srgbClr val="FF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05" name="Rectangle 32"/>
            <p:cNvSpPr/>
            <p:nvPr/>
          </p:nvSpPr>
          <p:spPr>
            <a:xfrm>
              <a:off x="9144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06" name="Rectangle 33"/>
            <p:cNvSpPr/>
            <p:nvPr/>
          </p:nvSpPr>
          <p:spPr>
            <a:xfrm>
              <a:off x="11430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07" name="TextBox 34"/>
            <p:cNvSpPr txBox="1"/>
            <p:nvPr/>
          </p:nvSpPr>
          <p:spPr>
            <a:xfrm>
              <a:off x="1429317" y="0"/>
              <a:ext cx="205061" cy="248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sz="2000"/>
              </a:lvl1pPr>
            </a:lstStyle>
            <a:p>
              <a:r>
                <a:t>...</a:t>
              </a:r>
            </a:p>
          </p:txBody>
        </p:sp>
      </p:grpSp>
      <p:sp>
        <p:nvSpPr>
          <p:cNvPr id="709" name="Straight Arrow Connector 26"/>
          <p:cNvSpPr/>
          <p:nvPr/>
        </p:nvSpPr>
        <p:spPr>
          <a:xfrm flipH="1">
            <a:off x="2861733" y="2288128"/>
            <a:ext cx="1286937" cy="1792805"/>
          </a:xfrm>
          <a:prstGeom prst="line">
            <a:avLst/>
          </a:prstGeom>
          <a:ln w="38100">
            <a:solidFill>
              <a:srgbClr val="0000F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0" name="Straight Arrow Connector 37"/>
          <p:cNvSpPr/>
          <p:nvPr/>
        </p:nvSpPr>
        <p:spPr>
          <a:xfrm>
            <a:off x="3101787" y="1485900"/>
            <a:ext cx="1046881" cy="802230"/>
          </a:xfrm>
          <a:prstGeom prst="line">
            <a:avLst/>
          </a:prstGeom>
          <a:ln w="38100">
            <a:solidFill>
              <a:srgbClr val="0000F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1" name="Straight Arrow Connector 38"/>
          <p:cNvSpPr/>
          <p:nvPr/>
        </p:nvSpPr>
        <p:spPr>
          <a:xfrm>
            <a:off x="3101787" y="1028700"/>
            <a:ext cx="1" cy="457201"/>
          </a:xfrm>
          <a:prstGeom prst="line">
            <a:avLst/>
          </a:prstGeom>
          <a:ln w="38100">
            <a:solidFill>
              <a:srgbClr val="0000F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2" name="Rectangle 48"/>
          <p:cNvSpPr txBox="1"/>
          <p:nvPr/>
        </p:nvSpPr>
        <p:spPr>
          <a:xfrm>
            <a:off x="351342" y="1183252"/>
            <a:ext cx="1923416" cy="553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lnSpc>
                <a:spcPts val="1800"/>
              </a:lnSpc>
              <a:tabLst>
                <a:tab pos="800100" algn="l"/>
                <a:tab pos="2057400" algn="l"/>
              </a:tabLst>
              <a:defRPr sz="1600" b="1"/>
            </a:pPr>
            <a:r>
              <a:t>latch bit associations </a:t>
            </a:r>
            <a:br/>
            <a:r>
              <a:rPr b="0"/>
              <a:t>(not region numbers!)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25</a:t>
            </a:fld>
            <a:endParaRPr/>
          </a:p>
        </p:txBody>
      </p:sp>
      <p:sp>
        <p:nvSpPr>
          <p:cNvPr id="715" name="Trapezoid 54"/>
          <p:cNvSpPr/>
          <p:nvPr/>
        </p:nvSpPr>
        <p:spPr>
          <a:xfrm>
            <a:off x="2380684" y="3277613"/>
            <a:ext cx="835129" cy="9478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5400" y="0"/>
                </a:lnTo>
                <a:lnTo>
                  <a:pt x="162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16" name="Freeform 55"/>
          <p:cNvSpPr/>
          <p:nvPr/>
        </p:nvSpPr>
        <p:spPr>
          <a:xfrm>
            <a:off x="574792" y="4506867"/>
            <a:ext cx="1698814" cy="798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17" name="Freeform 56"/>
          <p:cNvSpPr/>
          <p:nvPr/>
        </p:nvSpPr>
        <p:spPr>
          <a:xfrm flipH="1">
            <a:off x="3472768" y="4506867"/>
            <a:ext cx="1698814" cy="798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18" name="Rectangle 57"/>
          <p:cNvSpPr txBox="1"/>
          <p:nvPr/>
        </p:nvSpPr>
        <p:spPr>
          <a:xfrm>
            <a:off x="2712476" y="3631000"/>
            <a:ext cx="2200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4</a:t>
            </a:r>
          </a:p>
        </p:txBody>
      </p:sp>
      <p:sp>
        <p:nvSpPr>
          <p:cNvPr id="719" name="Rectangle 58"/>
          <p:cNvSpPr txBox="1"/>
          <p:nvPr/>
        </p:nvSpPr>
        <p:spPr>
          <a:xfrm>
            <a:off x="1140050" y="4737044"/>
            <a:ext cx="220004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5</a:t>
            </a:r>
          </a:p>
        </p:txBody>
      </p:sp>
      <p:sp>
        <p:nvSpPr>
          <p:cNvPr id="720" name="Rectangle 59"/>
          <p:cNvSpPr txBox="1"/>
          <p:nvPr/>
        </p:nvSpPr>
        <p:spPr>
          <a:xfrm>
            <a:off x="4447273" y="4737044"/>
            <a:ext cx="220003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6</a:t>
            </a:r>
          </a:p>
        </p:txBody>
      </p:sp>
      <p:sp>
        <p:nvSpPr>
          <p:cNvPr id="721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3. “Latch” but not least: latch inheritance</a:t>
            </a:r>
          </a:p>
        </p:txBody>
      </p:sp>
      <p:sp>
        <p:nvSpPr>
          <p:cNvPr id="722" name="Freeform 80"/>
          <p:cNvSpPr/>
          <p:nvPr/>
        </p:nvSpPr>
        <p:spPr>
          <a:xfrm>
            <a:off x="1317134" y="1907244"/>
            <a:ext cx="1306236" cy="1229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 b="1">
                <a:solidFill>
                  <a:srgbClr val="FF0000"/>
                </a:solidFill>
              </a:defRPr>
            </a:pPr>
            <a:endParaRPr/>
          </a:p>
        </p:txBody>
      </p:sp>
      <p:sp>
        <p:nvSpPr>
          <p:cNvPr id="723" name="Freeform 81"/>
          <p:cNvSpPr/>
          <p:nvPr/>
        </p:nvSpPr>
        <p:spPr>
          <a:xfrm flipH="1">
            <a:off x="3044498" y="1907244"/>
            <a:ext cx="1277679" cy="1229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 sz="1400" b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</p:txBody>
      </p:sp>
      <p:sp>
        <p:nvSpPr>
          <p:cNvPr id="724" name="Rectangle 85"/>
          <p:cNvSpPr/>
          <p:nvPr/>
        </p:nvSpPr>
        <p:spPr>
          <a:xfrm>
            <a:off x="2437790" y="1257300"/>
            <a:ext cx="835129" cy="353354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25" name="Rectangle 87"/>
          <p:cNvSpPr txBox="1"/>
          <p:nvPr/>
        </p:nvSpPr>
        <p:spPr>
          <a:xfrm>
            <a:off x="1772439" y="2288128"/>
            <a:ext cx="2200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2</a:t>
            </a:r>
          </a:p>
        </p:txBody>
      </p:sp>
      <p:sp>
        <p:nvSpPr>
          <p:cNvPr id="726" name="Rectangle 88"/>
          <p:cNvSpPr txBox="1"/>
          <p:nvPr/>
        </p:nvSpPr>
        <p:spPr>
          <a:xfrm>
            <a:off x="3669606" y="2288128"/>
            <a:ext cx="220003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3</a:t>
            </a:r>
          </a:p>
        </p:txBody>
      </p:sp>
      <p:sp>
        <p:nvSpPr>
          <p:cNvPr id="727" name="Rectangle 96"/>
          <p:cNvSpPr txBox="1"/>
          <p:nvPr/>
        </p:nvSpPr>
        <p:spPr>
          <a:xfrm>
            <a:off x="2729568" y="1257299"/>
            <a:ext cx="220003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1</a:t>
            </a:r>
          </a:p>
        </p:txBody>
      </p:sp>
      <p:grpSp>
        <p:nvGrpSpPr>
          <p:cNvPr id="735" name="Group 27"/>
          <p:cNvGrpSpPr/>
          <p:nvPr/>
        </p:nvGrpSpPr>
        <p:grpSpPr>
          <a:xfrm>
            <a:off x="3551766" y="5654878"/>
            <a:ext cx="1634378" cy="248743"/>
            <a:chOff x="0" y="0"/>
            <a:chExt cx="1634377" cy="248741"/>
          </a:xfrm>
        </p:grpSpPr>
        <p:sp>
          <p:nvSpPr>
            <p:cNvPr id="728" name="Rectangle 28"/>
            <p:cNvSpPr/>
            <p:nvPr/>
          </p:nvSpPr>
          <p:spPr>
            <a:xfrm>
              <a:off x="0" y="5721"/>
              <a:ext cx="228600" cy="228601"/>
            </a:xfrm>
            <a:prstGeom prst="rect">
              <a:avLst/>
            </a:prstGeom>
            <a:solidFill>
              <a:srgbClr val="FF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29" name="Rectangle 29"/>
            <p:cNvSpPr/>
            <p:nvPr/>
          </p:nvSpPr>
          <p:spPr>
            <a:xfrm>
              <a:off x="2286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30" name="Rectangle 30"/>
            <p:cNvSpPr/>
            <p:nvPr/>
          </p:nvSpPr>
          <p:spPr>
            <a:xfrm>
              <a:off x="457200" y="5721"/>
              <a:ext cx="228601" cy="228601"/>
            </a:xfrm>
            <a:prstGeom prst="rect">
              <a:avLst/>
            </a:prstGeom>
            <a:solidFill>
              <a:srgbClr val="FF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31" name="Rectangle 31"/>
            <p:cNvSpPr/>
            <p:nvPr/>
          </p:nvSpPr>
          <p:spPr>
            <a:xfrm>
              <a:off x="685800" y="5721"/>
              <a:ext cx="228601" cy="228601"/>
            </a:xfrm>
            <a:prstGeom prst="rect">
              <a:avLst/>
            </a:prstGeom>
            <a:solidFill>
              <a:srgbClr val="FF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32" name="Rectangle 32"/>
            <p:cNvSpPr/>
            <p:nvPr/>
          </p:nvSpPr>
          <p:spPr>
            <a:xfrm>
              <a:off x="9144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33" name="Rectangle 33"/>
            <p:cNvSpPr/>
            <p:nvPr/>
          </p:nvSpPr>
          <p:spPr>
            <a:xfrm>
              <a:off x="11430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34" name="TextBox 34"/>
            <p:cNvSpPr txBox="1"/>
            <p:nvPr/>
          </p:nvSpPr>
          <p:spPr>
            <a:xfrm>
              <a:off x="1429317" y="0"/>
              <a:ext cx="205061" cy="248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sz="2000"/>
              </a:lvl1pPr>
            </a:lstStyle>
            <a:p>
              <a:r>
                <a:t>...</a:t>
              </a:r>
            </a:p>
          </p:txBody>
        </p:sp>
      </p:grpSp>
      <p:sp>
        <p:nvSpPr>
          <p:cNvPr id="736" name="Straight Arrow Connector 35"/>
          <p:cNvSpPr/>
          <p:nvPr/>
        </p:nvSpPr>
        <p:spPr>
          <a:xfrm flipH="1">
            <a:off x="1539818" y="4080933"/>
            <a:ext cx="1321915" cy="656112"/>
          </a:xfrm>
          <a:prstGeom prst="line">
            <a:avLst/>
          </a:prstGeom>
          <a:ln w="28575">
            <a:solidFill>
              <a:srgbClr val="000000"/>
            </a:solidFill>
            <a:prstDash val="sysDash"/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744" name="Group 37"/>
          <p:cNvGrpSpPr/>
          <p:nvPr/>
        </p:nvGrpSpPr>
        <p:grpSpPr>
          <a:xfrm>
            <a:off x="854018" y="5649157"/>
            <a:ext cx="1634379" cy="248742"/>
            <a:chOff x="0" y="0"/>
            <a:chExt cx="1634377" cy="248741"/>
          </a:xfrm>
        </p:grpSpPr>
        <p:sp>
          <p:nvSpPr>
            <p:cNvPr id="737" name="Rectangle 38"/>
            <p:cNvSpPr/>
            <p:nvPr/>
          </p:nvSpPr>
          <p:spPr>
            <a:xfrm>
              <a:off x="0" y="5721"/>
              <a:ext cx="228600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38" name="Rectangle 39"/>
            <p:cNvSpPr/>
            <p:nvPr/>
          </p:nvSpPr>
          <p:spPr>
            <a:xfrm>
              <a:off x="2286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39" name="Rectangle 40"/>
            <p:cNvSpPr/>
            <p:nvPr/>
          </p:nvSpPr>
          <p:spPr>
            <a:xfrm>
              <a:off x="4572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40" name="Rectangle 41"/>
            <p:cNvSpPr/>
            <p:nvPr/>
          </p:nvSpPr>
          <p:spPr>
            <a:xfrm>
              <a:off x="685800" y="5721"/>
              <a:ext cx="228601" cy="228601"/>
            </a:xfrm>
            <a:prstGeom prst="rect">
              <a:avLst/>
            </a:prstGeom>
            <a:solidFill>
              <a:srgbClr val="FF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41" name="Rectangle 42"/>
            <p:cNvSpPr/>
            <p:nvPr/>
          </p:nvSpPr>
          <p:spPr>
            <a:xfrm>
              <a:off x="914400" y="5721"/>
              <a:ext cx="228601" cy="228601"/>
            </a:xfrm>
            <a:prstGeom prst="rect">
              <a:avLst/>
            </a:prstGeom>
            <a:solidFill>
              <a:srgbClr val="FF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42" name="Rectangle 43"/>
            <p:cNvSpPr/>
            <p:nvPr/>
          </p:nvSpPr>
          <p:spPr>
            <a:xfrm>
              <a:off x="11430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43" name="TextBox 44"/>
            <p:cNvSpPr txBox="1"/>
            <p:nvPr/>
          </p:nvSpPr>
          <p:spPr>
            <a:xfrm>
              <a:off x="1429317" y="0"/>
              <a:ext cx="205061" cy="248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sz="2000"/>
              </a:lvl1pPr>
            </a:lstStyle>
            <a:p>
              <a:r>
                <a:t>...</a:t>
              </a:r>
            </a:p>
          </p:txBody>
        </p:sp>
      </p:grpSp>
      <p:sp>
        <p:nvSpPr>
          <p:cNvPr id="745" name="Straight Arrow Connector 46"/>
          <p:cNvSpPr/>
          <p:nvPr/>
        </p:nvSpPr>
        <p:spPr>
          <a:xfrm>
            <a:off x="3101787" y="1485900"/>
            <a:ext cx="1046881" cy="802230"/>
          </a:xfrm>
          <a:prstGeom prst="line">
            <a:avLst/>
          </a:prstGeom>
          <a:ln w="38100">
            <a:solidFill>
              <a:srgbClr val="0000F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6" name="Straight Arrow Connector 47"/>
          <p:cNvSpPr/>
          <p:nvPr/>
        </p:nvSpPr>
        <p:spPr>
          <a:xfrm>
            <a:off x="3101787" y="1028700"/>
            <a:ext cx="1" cy="457201"/>
          </a:xfrm>
          <a:prstGeom prst="line">
            <a:avLst/>
          </a:prstGeom>
          <a:ln w="38100">
            <a:solidFill>
              <a:srgbClr val="0000F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7" name="Straight Arrow Connector 63"/>
          <p:cNvSpPr/>
          <p:nvPr/>
        </p:nvSpPr>
        <p:spPr>
          <a:xfrm>
            <a:off x="2861733" y="4080933"/>
            <a:ext cx="918634" cy="1499472"/>
          </a:xfrm>
          <a:prstGeom prst="line">
            <a:avLst/>
          </a:prstGeom>
          <a:ln w="38100">
            <a:solidFill>
              <a:srgbClr val="0000F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8" name="Rectangle 71"/>
          <p:cNvSpPr txBox="1"/>
          <p:nvPr/>
        </p:nvSpPr>
        <p:spPr>
          <a:xfrm>
            <a:off x="1190613" y="4094338"/>
            <a:ext cx="1056604" cy="351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r">
              <a:lnSpc>
                <a:spcPts val="2000"/>
              </a:lnSpc>
              <a:tabLst>
                <a:tab pos="800100" algn="l"/>
                <a:tab pos="2057400" algn="l"/>
              </a:tabLst>
            </a:lvl1pPr>
          </a:lstStyle>
          <a:p>
            <a:r>
              <a:t>secondary</a:t>
            </a:r>
          </a:p>
        </p:txBody>
      </p:sp>
      <p:sp>
        <p:nvSpPr>
          <p:cNvPr id="749" name="Straight Arrow Connector 72"/>
          <p:cNvSpPr/>
          <p:nvPr/>
        </p:nvSpPr>
        <p:spPr>
          <a:xfrm flipH="1">
            <a:off x="2861733" y="2288128"/>
            <a:ext cx="1286937" cy="1792805"/>
          </a:xfrm>
          <a:prstGeom prst="line">
            <a:avLst/>
          </a:prstGeom>
          <a:ln w="38100">
            <a:solidFill>
              <a:srgbClr val="0000F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0" name="TextBox 75"/>
          <p:cNvSpPr txBox="1"/>
          <p:nvPr/>
        </p:nvSpPr>
        <p:spPr>
          <a:xfrm>
            <a:off x="5468751" y="1238197"/>
            <a:ext cx="3239414" cy="1163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  <a:defRPr sz="2000" b="1">
                <a:solidFill>
                  <a:srgbClr val="FF0000"/>
                </a:solidFill>
              </a:defRPr>
            </a:pPr>
            <a:r>
              <a:t>non-inherited latch:</a:t>
            </a:r>
            <a:br/>
            <a:r>
              <a:rPr b="0">
                <a:solidFill>
                  <a:srgbClr val="000000"/>
                </a:solidFill>
              </a:rPr>
              <a:t>bits are set by passage, and </a:t>
            </a:r>
            <a:br>
              <a:rPr b="0">
                <a:solidFill>
                  <a:srgbClr val="000000"/>
                </a:solidFill>
              </a:rPr>
            </a:br>
            <a:r>
              <a:rPr b="0">
                <a:solidFill>
                  <a:srgbClr val="000000"/>
                </a:solidFill>
              </a:rPr>
              <a:t>no latch information is passed </a:t>
            </a:r>
            <a:br>
              <a:rPr b="0">
                <a:solidFill>
                  <a:srgbClr val="000000"/>
                </a:solidFill>
              </a:rPr>
            </a:br>
            <a:r>
              <a:rPr b="0">
                <a:solidFill>
                  <a:srgbClr val="000000"/>
                </a:solidFill>
              </a:rPr>
              <a:t>on to secondaries.</a:t>
            </a:r>
          </a:p>
        </p:txBody>
      </p:sp>
      <p:sp>
        <p:nvSpPr>
          <p:cNvPr id="751" name="Straight Arrow Connector 86"/>
          <p:cNvSpPr/>
          <p:nvPr/>
        </p:nvSpPr>
        <p:spPr>
          <a:xfrm>
            <a:off x="1539818" y="4737044"/>
            <a:ext cx="382986" cy="843360"/>
          </a:xfrm>
          <a:prstGeom prst="line">
            <a:avLst/>
          </a:prstGeom>
          <a:ln w="28575">
            <a:solidFill>
              <a:srgbClr val="000000"/>
            </a:solidFill>
            <a:prstDash val="sysDash"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2" name="Rectangle 90"/>
          <p:cNvSpPr txBox="1"/>
          <p:nvPr/>
        </p:nvSpPr>
        <p:spPr>
          <a:xfrm>
            <a:off x="351342" y="1183252"/>
            <a:ext cx="1923416" cy="553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lnSpc>
                <a:spcPts val="1800"/>
              </a:lnSpc>
              <a:tabLst>
                <a:tab pos="800100" algn="l"/>
                <a:tab pos="2057400" algn="l"/>
              </a:tabLst>
              <a:defRPr sz="1600" b="1"/>
            </a:pPr>
            <a:r>
              <a:t>latch bit associations </a:t>
            </a:r>
            <a:br/>
            <a:r>
              <a:rPr b="0"/>
              <a:t>(not region numbers!)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0" grpId="1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26</a:t>
            </a:fld>
            <a:endParaRPr/>
          </a:p>
        </p:txBody>
      </p:sp>
      <p:sp>
        <p:nvSpPr>
          <p:cNvPr id="755" name="Trapezoid 54"/>
          <p:cNvSpPr/>
          <p:nvPr/>
        </p:nvSpPr>
        <p:spPr>
          <a:xfrm>
            <a:off x="2380684" y="3277613"/>
            <a:ext cx="835129" cy="9478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5400" y="0"/>
                </a:lnTo>
                <a:lnTo>
                  <a:pt x="162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56" name="Freeform 55"/>
          <p:cNvSpPr/>
          <p:nvPr/>
        </p:nvSpPr>
        <p:spPr>
          <a:xfrm>
            <a:off x="574792" y="4506867"/>
            <a:ext cx="1698814" cy="798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57" name="Freeform 56"/>
          <p:cNvSpPr/>
          <p:nvPr/>
        </p:nvSpPr>
        <p:spPr>
          <a:xfrm flipH="1">
            <a:off x="3472768" y="4506867"/>
            <a:ext cx="1698814" cy="798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58" name="Rectangle 57"/>
          <p:cNvSpPr txBox="1"/>
          <p:nvPr/>
        </p:nvSpPr>
        <p:spPr>
          <a:xfrm>
            <a:off x="2712476" y="3631000"/>
            <a:ext cx="2200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4</a:t>
            </a:r>
          </a:p>
        </p:txBody>
      </p:sp>
      <p:sp>
        <p:nvSpPr>
          <p:cNvPr id="759" name="Rectangle 58"/>
          <p:cNvSpPr txBox="1"/>
          <p:nvPr/>
        </p:nvSpPr>
        <p:spPr>
          <a:xfrm>
            <a:off x="1140050" y="4737044"/>
            <a:ext cx="220004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5</a:t>
            </a:r>
          </a:p>
        </p:txBody>
      </p:sp>
      <p:sp>
        <p:nvSpPr>
          <p:cNvPr id="760" name="Rectangle 59"/>
          <p:cNvSpPr txBox="1"/>
          <p:nvPr/>
        </p:nvSpPr>
        <p:spPr>
          <a:xfrm>
            <a:off x="4447273" y="4737044"/>
            <a:ext cx="220003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6</a:t>
            </a:r>
          </a:p>
        </p:txBody>
      </p:sp>
      <p:sp>
        <p:nvSpPr>
          <p:cNvPr id="761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3. “Latch” but not least: latch inheritance</a:t>
            </a:r>
          </a:p>
        </p:txBody>
      </p:sp>
      <p:sp>
        <p:nvSpPr>
          <p:cNvPr id="762" name="Freeform 80"/>
          <p:cNvSpPr/>
          <p:nvPr/>
        </p:nvSpPr>
        <p:spPr>
          <a:xfrm>
            <a:off x="1317134" y="1907244"/>
            <a:ext cx="1306236" cy="1229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 b="1">
                <a:solidFill>
                  <a:srgbClr val="FF0000"/>
                </a:solidFill>
              </a:defRPr>
            </a:pPr>
            <a:endParaRPr/>
          </a:p>
        </p:txBody>
      </p:sp>
      <p:sp>
        <p:nvSpPr>
          <p:cNvPr id="763" name="Freeform 81"/>
          <p:cNvSpPr/>
          <p:nvPr/>
        </p:nvSpPr>
        <p:spPr>
          <a:xfrm flipH="1">
            <a:off x="3044498" y="1907244"/>
            <a:ext cx="1277679" cy="1229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 sz="1400" b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</p:txBody>
      </p:sp>
      <p:sp>
        <p:nvSpPr>
          <p:cNvPr id="764" name="Rectangle 85"/>
          <p:cNvSpPr/>
          <p:nvPr/>
        </p:nvSpPr>
        <p:spPr>
          <a:xfrm>
            <a:off x="2437790" y="1257300"/>
            <a:ext cx="835129" cy="353354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65" name="Rectangle 87"/>
          <p:cNvSpPr txBox="1"/>
          <p:nvPr/>
        </p:nvSpPr>
        <p:spPr>
          <a:xfrm>
            <a:off x="1772439" y="2288128"/>
            <a:ext cx="2200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2</a:t>
            </a:r>
          </a:p>
        </p:txBody>
      </p:sp>
      <p:sp>
        <p:nvSpPr>
          <p:cNvPr id="766" name="Rectangle 88"/>
          <p:cNvSpPr txBox="1"/>
          <p:nvPr/>
        </p:nvSpPr>
        <p:spPr>
          <a:xfrm>
            <a:off x="3669606" y="2288128"/>
            <a:ext cx="220003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3</a:t>
            </a:r>
          </a:p>
        </p:txBody>
      </p:sp>
      <p:sp>
        <p:nvSpPr>
          <p:cNvPr id="767" name="Rectangle 96"/>
          <p:cNvSpPr txBox="1"/>
          <p:nvPr/>
        </p:nvSpPr>
        <p:spPr>
          <a:xfrm>
            <a:off x="2729568" y="1257299"/>
            <a:ext cx="220003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1</a:t>
            </a:r>
          </a:p>
        </p:txBody>
      </p:sp>
      <p:grpSp>
        <p:nvGrpSpPr>
          <p:cNvPr id="775" name="Group 27"/>
          <p:cNvGrpSpPr/>
          <p:nvPr/>
        </p:nvGrpSpPr>
        <p:grpSpPr>
          <a:xfrm>
            <a:off x="3551766" y="5654878"/>
            <a:ext cx="1634378" cy="248743"/>
            <a:chOff x="0" y="0"/>
            <a:chExt cx="1634377" cy="248741"/>
          </a:xfrm>
        </p:grpSpPr>
        <p:sp>
          <p:nvSpPr>
            <p:cNvPr id="768" name="Rectangle 28"/>
            <p:cNvSpPr/>
            <p:nvPr/>
          </p:nvSpPr>
          <p:spPr>
            <a:xfrm>
              <a:off x="0" y="5721"/>
              <a:ext cx="228600" cy="228601"/>
            </a:xfrm>
            <a:prstGeom prst="rect">
              <a:avLst/>
            </a:prstGeom>
            <a:solidFill>
              <a:srgbClr val="FF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69" name="Rectangle 29"/>
            <p:cNvSpPr/>
            <p:nvPr/>
          </p:nvSpPr>
          <p:spPr>
            <a:xfrm>
              <a:off x="2286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70" name="Rectangle 30"/>
            <p:cNvSpPr/>
            <p:nvPr/>
          </p:nvSpPr>
          <p:spPr>
            <a:xfrm>
              <a:off x="457200" y="5721"/>
              <a:ext cx="228601" cy="228601"/>
            </a:xfrm>
            <a:prstGeom prst="rect">
              <a:avLst/>
            </a:prstGeom>
            <a:solidFill>
              <a:srgbClr val="FF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71" name="Rectangle 31"/>
            <p:cNvSpPr/>
            <p:nvPr/>
          </p:nvSpPr>
          <p:spPr>
            <a:xfrm>
              <a:off x="685800" y="5721"/>
              <a:ext cx="228601" cy="228601"/>
            </a:xfrm>
            <a:prstGeom prst="rect">
              <a:avLst/>
            </a:prstGeom>
            <a:solidFill>
              <a:srgbClr val="FF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72" name="Rectangle 32"/>
            <p:cNvSpPr/>
            <p:nvPr/>
          </p:nvSpPr>
          <p:spPr>
            <a:xfrm>
              <a:off x="9144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73" name="Rectangle 33"/>
            <p:cNvSpPr/>
            <p:nvPr/>
          </p:nvSpPr>
          <p:spPr>
            <a:xfrm>
              <a:off x="11430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74" name="TextBox 34"/>
            <p:cNvSpPr txBox="1"/>
            <p:nvPr/>
          </p:nvSpPr>
          <p:spPr>
            <a:xfrm>
              <a:off x="1429317" y="0"/>
              <a:ext cx="205061" cy="248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sz="2000"/>
              </a:lvl1pPr>
            </a:lstStyle>
            <a:p>
              <a:r>
                <a:t>...</a:t>
              </a:r>
            </a:p>
          </p:txBody>
        </p:sp>
      </p:grpSp>
      <p:grpSp>
        <p:nvGrpSpPr>
          <p:cNvPr id="783" name="Group 37"/>
          <p:cNvGrpSpPr/>
          <p:nvPr/>
        </p:nvGrpSpPr>
        <p:grpSpPr>
          <a:xfrm>
            <a:off x="854018" y="5649157"/>
            <a:ext cx="1634379" cy="248742"/>
            <a:chOff x="0" y="0"/>
            <a:chExt cx="1634377" cy="248741"/>
          </a:xfrm>
        </p:grpSpPr>
        <p:sp>
          <p:nvSpPr>
            <p:cNvPr id="776" name="Rectangle 38"/>
            <p:cNvSpPr/>
            <p:nvPr/>
          </p:nvSpPr>
          <p:spPr>
            <a:xfrm>
              <a:off x="0" y="5721"/>
              <a:ext cx="228600" cy="228601"/>
            </a:xfrm>
            <a:prstGeom prst="rect">
              <a:avLst/>
            </a:prstGeom>
            <a:solidFill>
              <a:srgbClr val="FF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77" name="Rectangle 39"/>
            <p:cNvSpPr/>
            <p:nvPr/>
          </p:nvSpPr>
          <p:spPr>
            <a:xfrm>
              <a:off x="2286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78" name="Rectangle 40"/>
            <p:cNvSpPr/>
            <p:nvPr/>
          </p:nvSpPr>
          <p:spPr>
            <a:xfrm>
              <a:off x="457200" y="5721"/>
              <a:ext cx="228601" cy="228601"/>
            </a:xfrm>
            <a:prstGeom prst="rect">
              <a:avLst/>
            </a:prstGeom>
            <a:solidFill>
              <a:srgbClr val="FF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79" name="Rectangle 41"/>
            <p:cNvSpPr/>
            <p:nvPr/>
          </p:nvSpPr>
          <p:spPr>
            <a:xfrm>
              <a:off x="685800" y="5721"/>
              <a:ext cx="228601" cy="228601"/>
            </a:xfrm>
            <a:prstGeom prst="rect">
              <a:avLst/>
            </a:prstGeom>
            <a:solidFill>
              <a:srgbClr val="FF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80" name="Rectangle 42"/>
            <p:cNvSpPr/>
            <p:nvPr/>
          </p:nvSpPr>
          <p:spPr>
            <a:xfrm>
              <a:off x="914400" y="5721"/>
              <a:ext cx="228601" cy="228601"/>
            </a:xfrm>
            <a:prstGeom prst="rect">
              <a:avLst/>
            </a:prstGeom>
            <a:solidFill>
              <a:srgbClr val="FF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81" name="Rectangle 43"/>
            <p:cNvSpPr/>
            <p:nvPr/>
          </p:nvSpPr>
          <p:spPr>
            <a:xfrm>
              <a:off x="11430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82" name="TextBox 44"/>
            <p:cNvSpPr txBox="1"/>
            <p:nvPr/>
          </p:nvSpPr>
          <p:spPr>
            <a:xfrm>
              <a:off x="1429317" y="0"/>
              <a:ext cx="205061" cy="248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sz="2000"/>
              </a:lvl1pPr>
            </a:lstStyle>
            <a:p>
              <a:r>
                <a:t>...</a:t>
              </a:r>
            </a:p>
          </p:txBody>
        </p:sp>
      </p:grpSp>
      <p:sp>
        <p:nvSpPr>
          <p:cNvPr id="784" name="Straight Arrow Connector 46"/>
          <p:cNvSpPr/>
          <p:nvPr/>
        </p:nvSpPr>
        <p:spPr>
          <a:xfrm>
            <a:off x="3101787" y="1485900"/>
            <a:ext cx="1046881" cy="802230"/>
          </a:xfrm>
          <a:prstGeom prst="line">
            <a:avLst/>
          </a:prstGeom>
          <a:ln w="38100">
            <a:solidFill>
              <a:srgbClr val="0000F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5" name="Straight Arrow Connector 47"/>
          <p:cNvSpPr/>
          <p:nvPr/>
        </p:nvSpPr>
        <p:spPr>
          <a:xfrm>
            <a:off x="3101787" y="1028700"/>
            <a:ext cx="1" cy="457201"/>
          </a:xfrm>
          <a:prstGeom prst="line">
            <a:avLst/>
          </a:prstGeom>
          <a:ln w="38100">
            <a:solidFill>
              <a:srgbClr val="0000F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6" name="Straight Arrow Connector 48"/>
          <p:cNvSpPr/>
          <p:nvPr/>
        </p:nvSpPr>
        <p:spPr>
          <a:xfrm>
            <a:off x="2861733" y="4080933"/>
            <a:ext cx="918634" cy="1499472"/>
          </a:xfrm>
          <a:prstGeom prst="line">
            <a:avLst/>
          </a:prstGeom>
          <a:ln w="38100">
            <a:solidFill>
              <a:srgbClr val="0000F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7" name="Straight Arrow Connector 49"/>
          <p:cNvSpPr/>
          <p:nvPr/>
        </p:nvSpPr>
        <p:spPr>
          <a:xfrm flipH="1">
            <a:off x="2861733" y="2288128"/>
            <a:ext cx="1286937" cy="1792805"/>
          </a:xfrm>
          <a:prstGeom prst="line">
            <a:avLst/>
          </a:prstGeom>
          <a:ln w="38100">
            <a:solidFill>
              <a:srgbClr val="0000F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8" name="TextBox 50"/>
          <p:cNvSpPr txBox="1"/>
          <p:nvPr/>
        </p:nvSpPr>
        <p:spPr>
          <a:xfrm>
            <a:off x="5468751" y="1238196"/>
            <a:ext cx="3239414" cy="2687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  <a:defRPr sz="2000" b="1">
                <a:solidFill>
                  <a:srgbClr val="FF0000"/>
                </a:solidFill>
              </a:defRPr>
            </a:pPr>
            <a:r>
              <a:t>non-inherited latch:</a:t>
            </a:r>
            <a:br/>
            <a:r>
              <a:rPr b="0">
                <a:solidFill>
                  <a:srgbClr val="000000"/>
                </a:solidFill>
              </a:rPr>
              <a:t>bits are set by passage, and </a:t>
            </a:r>
            <a:br>
              <a:rPr b="0">
                <a:solidFill>
                  <a:srgbClr val="000000"/>
                </a:solidFill>
              </a:rPr>
            </a:br>
            <a:r>
              <a:rPr b="0">
                <a:solidFill>
                  <a:srgbClr val="000000"/>
                </a:solidFill>
              </a:rPr>
              <a:t>no latch information is passed </a:t>
            </a:r>
            <a:br>
              <a:rPr b="0">
                <a:solidFill>
                  <a:srgbClr val="000000"/>
                </a:solidFill>
              </a:rPr>
            </a:br>
            <a:r>
              <a:rPr b="0">
                <a:solidFill>
                  <a:srgbClr val="000000"/>
                </a:solidFill>
              </a:rPr>
              <a:t>on to secondaries.</a:t>
            </a:r>
            <a:br>
              <a:rPr b="0">
                <a:solidFill>
                  <a:srgbClr val="000000"/>
                </a:solidFill>
              </a:rPr>
            </a:br>
            <a:endParaRPr b="0">
              <a:solidFill>
                <a:srgbClr val="000000"/>
              </a:solidFill>
            </a:endParaRPr>
          </a:p>
          <a:p>
            <a:pPr>
              <a:tabLst>
                <a:tab pos="800100" algn="l"/>
                <a:tab pos="2057400" algn="l"/>
              </a:tabLst>
              <a:defRPr sz="2000" b="1">
                <a:solidFill>
                  <a:srgbClr val="FF0000"/>
                </a:solidFill>
              </a:defRPr>
            </a:pPr>
            <a:r>
              <a:t>inherited latch, by passage:</a:t>
            </a:r>
          </a:p>
          <a:p>
            <a:pPr>
              <a:tabLst>
                <a:tab pos="800100" algn="l"/>
                <a:tab pos="2057400" algn="l"/>
              </a:tabLst>
              <a:defRPr sz="2000"/>
            </a:pPr>
            <a:r>
              <a:t>bits are set by passage, and latch is </a:t>
            </a:r>
            <a:r>
              <a:rPr b="1"/>
              <a:t>copied</a:t>
            </a:r>
            <a:r>
              <a:t> to newly created secondary particles.</a:t>
            </a:r>
          </a:p>
        </p:txBody>
      </p:sp>
      <p:sp>
        <p:nvSpPr>
          <p:cNvPr id="789" name="Straight Arrow Connector 53"/>
          <p:cNvSpPr/>
          <p:nvPr/>
        </p:nvSpPr>
        <p:spPr>
          <a:xfrm flipH="1">
            <a:off x="1539818" y="4080933"/>
            <a:ext cx="1321915" cy="656112"/>
          </a:xfrm>
          <a:prstGeom prst="line">
            <a:avLst/>
          </a:prstGeom>
          <a:ln w="28575">
            <a:solidFill>
              <a:srgbClr val="000000"/>
            </a:solidFill>
            <a:prstDash val="sysDash"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0" name="Rectangle 61"/>
          <p:cNvSpPr txBox="1"/>
          <p:nvPr/>
        </p:nvSpPr>
        <p:spPr>
          <a:xfrm>
            <a:off x="1190613" y="4094338"/>
            <a:ext cx="1056604" cy="351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r">
              <a:lnSpc>
                <a:spcPts val="2000"/>
              </a:lnSpc>
              <a:tabLst>
                <a:tab pos="800100" algn="l"/>
                <a:tab pos="2057400" algn="l"/>
              </a:tabLst>
            </a:lvl1pPr>
          </a:lstStyle>
          <a:p>
            <a:r>
              <a:t>secondary</a:t>
            </a:r>
          </a:p>
        </p:txBody>
      </p:sp>
      <p:sp>
        <p:nvSpPr>
          <p:cNvPr id="791" name="Straight Arrow Connector 62"/>
          <p:cNvSpPr/>
          <p:nvPr/>
        </p:nvSpPr>
        <p:spPr>
          <a:xfrm>
            <a:off x="1539818" y="4737044"/>
            <a:ext cx="382986" cy="843360"/>
          </a:xfrm>
          <a:prstGeom prst="line">
            <a:avLst/>
          </a:prstGeom>
          <a:ln w="28575">
            <a:solidFill>
              <a:srgbClr val="000000"/>
            </a:solidFill>
            <a:prstDash val="sysDash"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2" name="Rectangle 66"/>
          <p:cNvSpPr txBox="1"/>
          <p:nvPr/>
        </p:nvSpPr>
        <p:spPr>
          <a:xfrm>
            <a:off x="351342" y="1183252"/>
            <a:ext cx="1923416" cy="553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lnSpc>
                <a:spcPts val="1800"/>
              </a:lnSpc>
              <a:tabLst>
                <a:tab pos="800100" algn="l"/>
                <a:tab pos="2057400" algn="l"/>
              </a:tabLst>
              <a:defRPr sz="1600" b="1"/>
            </a:pPr>
            <a:r>
              <a:t>latch bit associations </a:t>
            </a:r>
            <a:br/>
            <a:r>
              <a:rPr b="0"/>
              <a:t>(not region numbers!)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27</a:t>
            </a:fld>
            <a:endParaRPr/>
          </a:p>
        </p:txBody>
      </p:sp>
      <p:sp>
        <p:nvSpPr>
          <p:cNvPr id="795" name="Trapezoid 54"/>
          <p:cNvSpPr/>
          <p:nvPr/>
        </p:nvSpPr>
        <p:spPr>
          <a:xfrm>
            <a:off x="2380684" y="3277613"/>
            <a:ext cx="835129" cy="9478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5400" y="0"/>
                </a:lnTo>
                <a:lnTo>
                  <a:pt x="162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96" name="Freeform 55"/>
          <p:cNvSpPr/>
          <p:nvPr/>
        </p:nvSpPr>
        <p:spPr>
          <a:xfrm>
            <a:off x="574792" y="4506867"/>
            <a:ext cx="1698814" cy="798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97" name="Freeform 56"/>
          <p:cNvSpPr/>
          <p:nvPr/>
        </p:nvSpPr>
        <p:spPr>
          <a:xfrm flipH="1">
            <a:off x="3472768" y="4506867"/>
            <a:ext cx="1698814" cy="798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98" name="Rectangle 57"/>
          <p:cNvSpPr txBox="1"/>
          <p:nvPr/>
        </p:nvSpPr>
        <p:spPr>
          <a:xfrm>
            <a:off x="2712476" y="3631000"/>
            <a:ext cx="2200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4</a:t>
            </a:r>
          </a:p>
        </p:txBody>
      </p:sp>
      <p:sp>
        <p:nvSpPr>
          <p:cNvPr id="799" name="Rectangle 58"/>
          <p:cNvSpPr txBox="1"/>
          <p:nvPr/>
        </p:nvSpPr>
        <p:spPr>
          <a:xfrm>
            <a:off x="1140050" y="4737044"/>
            <a:ext cx="220004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5</a:t>
            </a:r>
          </a:p>
        </p:txBody>
      </p:sp>
      <p:sp>
        <p:nvSpPr>
          <p:cNvPr id="800" name="Rectangle 59"/>
          <p:cNvSpPr txBox="1"/>
          <p:nvPr/>
        </p:nvSpPr>
        <p:spPr>
          <a:xfrm>
            <a:off x="4447273" y="4737044"/>
            <a:ext cx="220003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6</a:t>
            </a:r>
          </a:p>
        </p:txBody>
      </p:sp>
      <p:sp>
        <p:nvSpPr>
          <p:cNvPr id="801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3. “Latch” but not least: latch inheritance</a:t>
            </a:r>
          </a:p>
        </p:txBody>
      </p:sp>
      <p:sp>
        <p:nvSpPr>
          <p:cNvPr id="802" name="Freeform 80"/>
          <p:cNvSpPr/>
          <p:nvPr/>
        </p:nvSpPr>
        <p:spPr>
          <a:xfrm>
            <a:off x="1317134" y="1907244"/>
            <a:ext cx="1306236" cy="1229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 b="1">
                <a:solidFill>
                  <a:srgbClr val="FF0000"/>
                </a:solidFill>
              </a:defRPr>
            </a:pPr>
            <a:endParaRPr/>
          </a:p>
        </p:txBody>
      </p:sp>
      <p:sp>
        <p:nvSpPr>
          <p:cNvPr id="803" name="Freeform 81"/>
          <p:cNvSpPr/>
          <p:nvPr/>
        </p:nvSpPr>
        <p:spPr>
          <a:xfrm flipH="1">
            <a:off x="3044498" y="1907244"/>
            <a:ext cx="1277679" cy="1229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50"/>
                </a:lnTo>
                <a:lnTo>
                  <a:pt x="13708" y="21600"/>
                </a:lnTo>
                <a:lnTo>
                  <a:pt x="831" y="211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 sz="1400" b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</p:txBody>
      </p:sp>
      <p:sp>
        <p:nvSpPr>
          <p:cNvPr id="804" name="Rectangle 85"/>
          <p:cNvSpPr/>
          <p:nvPr/>
        </p:nvSpPr>
        <p:spPr>
          <a:xfrm>
            <a:off x="2437790" y="1257300"/>
            <a:ext cx="835129" cy="353354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05" name="Rectangle 87"/>
          <p:cNvSpPr txBox="1"/>
          <p:nvPr/>
        </p:nvSpPr>
        <p:spPr>
          <a:xfrm>
            <a:off x="1772439" y="2288128"/>
            <a:ext cx="2200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2</a:t>
            </a:r>
          </a:p>
        </p:txBody>
      </p:sp>
      <p:sp>
        <p:nvSpPr>
          <p:cNvPr id="806" name="Rectangle 88"/>
          <p:cNvSpPr txBox="1"/>
          <p:nvPr/>
        </p:nvSpPr>
        <p:spPr>
          <a:xfrm>
            <a:off x="3669606" y="2288128"/>
            <a:ext cx="220003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3</a:t>
            </a:r>
          </a:p>
        </p:txBody>
      </p:sp>
      <p:sp>
        <p:nvSpPr>
          <p:cNvPr id="807" name="Rectangle 96"/>
          <p:cNvSpPr txBox="1"/>
          <p:nvPr/>
        </p:nvSpPr>
        <p:spPr>
          <a:xfrm>
            <a:off x="2729568" y="1257299"/>
            <a:ext cx="220003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/>
            </a:lvl1pPr>
          </a:lstStyle>
          <a:p>
            <a:r>
              <a:t>1</a:t>
            </a:r>
          </a:p>
        </p:txBody>
      </p:sp>
      <p:sp>
        <p:nvSpPr>
          <p:cNvPr id="808" name="Straight Arrow Connector 47"/>
          <p:cNvSpPr/>
          <p:nvPr/>
        </p:nvSpPr>
        <p:spPr>
          <a:xfrm>
            <a:off x="2954366" y="1028700"/>
            <a:ext cx="235472" cy="457201"/>
          </a:xfrm>
          <a:prstGeom prst="line">
            <a:avLst/>
          </a:prstGeom>
          <a:ln w="38100">
            <a:solidFill>
              <a:srgbClr val="0000F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09" name="TextBox 52"/>
          <p:cNvSpPr txBox="1"/>
          <p:nvPr/>
        </p:nvSpPr>
        <p:spPr>
          <a:xfrm>
            <a:off x="5468751" y="1238196"/>
            <a:ext cx="3239414" cy="4515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tabLst>
                <a:tab pos="800100" algn="l"/>
                <a:tab pos="2057400" algn="l"/>
              </a:tabLst>
              <a:defRPr sz="2000" b="1">
                <a:solidFill>
                  <a:srgbClr val="FF0000"/>
                </a:solidFill>
              </a:defRPr>
            </a:pPr>
            <a:r>
              <a:t>non-inherited latch:</a:t>
            </a:r>
            <a:br/>
            <a:r>
              <a:rPr b="0">
                <a:solidFill>
                  <a:srgbClr val="000000"/>
                </a:solidFill>
              </a:rPr>
              <a:t>bits are set by passage, no latch information is passed </a:t>
            </a:r>
            <a:br>
              <a:rPr b="0">
                <a:solidFill>
                  <a:srgbClr val="000000"/>
                </a:solidFill>
              </a:rPr>
            </a:br>
            <a:r>
              <a:rPr b="0">
                <a:solidFill>
                  <a:srgbClr val="000000"/>
                </a:solidFill>
              </a:rPr>
              <a:t>on to secondaries.</a:t>
            </a:r>
            <a:br>
              <a:rPr b="0">
                <a:solidFill>
                  <a:srgbClr val="000000"/>
                </a:solidFill>
              </a:rPr>
            </a:br>
            <a:endParaRPr b="0">
              <a:solidFill>
                <a:srgbClr val="000000"/>
              </a:solidFill>
            </a:endParaRPr>
          </a:p>
          <a:p>
            <a:pPr>
              <a:tabLst>
                <a:tab pos="800100" algn="l"/>
                <a:tab pos="2057400" algn="l"/>
              </a:tabLst>
              <a:defRPr sz="2000" b="1">
                <a:solidFill>
                  <a:srgbClr val="FF0000"/>
                </a:solidFill>
              </a:defRPr>
            </a:pPr>
            <a:r>
              <a:t>inherited latch, by passage:</a:t>
            </a:r>
          </a:p>
          <a:p>
            <a:pPr>
              <a:tabLst>
                <a:tab pos="800100" algn="l"/>
                <a:tab pos="2057400" algn="l"/>
              </a:tabLst>
              <a:defRPr sz="2000"/>
            </a:pPr>
            <a:r>
              <a:t>bits are set by passage, and latch is </a:t>
            </a:r>
            <a:r>
              <a:rPr b="1"/>
              <a:t>copied</a:t>
            </a:r>
            <a:r>
              <a:t> to newly created secondary particles.</a:t>
            </a:r>
          </a:p>
          <a:p>
            <a:pPr>
              <a:tabLst>
                <a:tab pos="800100" algn="l"/>
                <a:tab pos="2057400" algn="l"/>
              </a:tabLst>
              <a:defRPr sz="2000"/>
            </a:pPr>
            <a:endParaRPr/>
          </a:p>
          <a:p>
            <a:pPr>
              <a:tabLst>
                <a:tab pos="800100" algn="l"/>
                <a:tab pos="2057400" algn="l"/>
              </a:tabLst>
              <a:defRPr sz="2000" b="1">
                <a:solidFill>
                  <a:srgbClr val="FF0000"/>
                </a:solidFill>
              </a:defRPr>
            </a:pPr>
            <a:r>
              <a:t>inherited latch, by interaction:</a:t>
            </a:r>
          </a:p>
          <a:p>
            <a:pPr>
              <a:tabLst>
                <a:tab pos="800100" algn="l"/>
                <a:tab pos="2057400" algn="l"/>
              </a:tabLst>
              <a:defRPr sz="2000"/>
            </a:pPr>
            <a:r>
              <a:t>for </a:t>
            </a:r>
            <a:r>
              <a:rPr u="sng"/>
              <a:t>photons</a:t>
            </a:r>
            <a:r>
              <a:t>, a bit is only set </a:t>
            </a:r>
            <a:br/>
            <a:r>
              <a:t>if the photon </a:t>
            </a:r>
            <a:r>
              <a:rPr b="1"/>
              <a:t>interacts</a:t>
            </a:r>
            <a:r>
              <a:t> in the associated region(s).</a:t>
            </a:r>
          </a:p>
        </p:txBody>
      </p:sp>
      <p:sp>
        <p:nvSpPr>
          <p:cNvPr id="810" name="Straight Arrow Connector 50"/>
          <p:cNvSpPr/>
          <p:nvPr/>
        </p:nvSpPr>
        <p:spPr>
          <a:xfrm flipH="1">
            <a:off x="2968443" y="1485900"/>
            <a:ext cx="221397" cy="4094505"/>
          </a:xfrm>
          <a:prstGeom prst="line">
            <a:avLst/>
          </a:prstGeom>
          <a:ln w="28575">
            <a:solidFill>
              <a:srgbClr val="000000"/>
            </a:solidFill>
            <a:prstDash val="sysDash"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1" name="Rectangle 53"/>
          <p:cNvSpPr txBox="1"/>
          <p:nvPr/>
        </p:nvSpPr>
        <p:spPr>
          <a:xfrm>
            <a:off x="1852044" y="4946312"/>
            <a:ext cx="1056603" cy="605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lnSpc>
                <a:spcPts val="2000"/>
              </a:lnSpc>
              <a:tabLst>
                <a:tab pos="800100" algn="l"/>
                <a:tab pos="2057400" algn="l"/>
              </a:tabLst>
            </a:pPr>
            <a:r>
              <a:t>secondary</a:t>
            </a:r>
            <a:br/>
            <a:r>
              <a:t>photon</a:t>
            </a:r>
          </a:p>
        </p:txBody>
      </p:sp>
      <p:grpSp>
        <p:nvGrpSpPr>
          <p:cNvPr id="819" name="Group 62"/>
          <p:cNvGrpSpPr/>
          <p:nvPr/>
        </p:nvGrpSpPr>
        <p:grpSpPr>
          <a:xfrm>
            <a:off x="2683847" y="5654878"/>
            <a:ext cx="1634379" cy="248743"/>
            <a:chOff x="0" y="0"/>
            <a:chExt cx="1634377" cy="248741"/>
          </a:xfrm>
        </p:grpSpPr>
        <p:sp>
          <p:nvSpPr>
            <p:cNvPr id="812" name="Rectangle 64"/>
            <p:cNvSpPr/>
            <p:nvPr/>
          </p:nvSpPr>
          <p:spPr>
            <a:xfrm>
              <a:off x="0" y="5721"/>
              <a:ext cx="228600" cy="228601"/>
            </a:xfrm>
            <a:prstGeom prst="rect">
              <a:avLst/>
            </a:prstGeom>
            <a:solidFill>
              <a:srgbClr val="FF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13" name="Rectangle 65"/>
            <p:cNvSpPr/>
            <p:nvPr/>
          </p:nvSpPr>
          <p:spPr>
            <a:xfrm>
              <a:off x="2286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14" name="Rectangle 66"/>
            <p:cNvSpPr/>
            <p:nvPr/>
          </p:nvSpPr>
          <p:spPr>
            <a:xfrm>
              <a:off x="4572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15" name="Rectangle 67"/>
            <p:cNvSpPr/>
            <p:nvPr/>
          </p:nvSpPr>
          <p:spPr>
            <a:xfrm>
              <a:off x="6858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16" name="Rectangle 68"/>
            <p:cNvSpPr/>
            <p:nvPr/>
          </p:nvSpPr>
          <p:spPr>
            <a:xfrm>
              <a:off x="9144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17" name="Rectangle 69"/>
            <p:cNvSpPr/>
            <p:nvPr/>
          </p:nvSpPr>
          <p:spPr>
            <a:xfrm>
              <a:off x="1143000" y="5721"/>
              <a:ext cx="228601" cy="228601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18" name="TextBox 70"/>
            <p:cNvSpPr txBox="1"/>
            <p:nvPr/>
          </p:nvSpPr>
          <p:spPr>
            <a:xfrm>
              <a:off x="1429317" y="0"/>
              <a:ext cx="205061" cy="248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sz="2000"/>
              </a:lvl1pPr>
            </a:lstStyle>
            <a:p>
              <a:r>
                <a:t>...</a:t>
              </a:r>
            </a:p>
          </p:txBody>
        </p:sp>
      </p:grpSp>
      <p:sp>
        <p:nvSpPr>
          <p:cNvPr id="820" name="Rectangle 83"/>
          <p:cNvSpPr txBox="1"/>
          <p:nvPr/>
        </p:nvSpPr>
        <p:spPr>
          <a:xfrm>
            <a:off x="351342" y="1183252"/>
            <a:ext cx="1923416" cy="553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lnSpc>
                <a:spcPts val="1800"/>
              </a:lnSpc>
              <a:tabLst>
                <a:tab pos="800100" algn="l"/>
                <a:tab pos="2057400" algn="l"/>
              </a:tabLst>
              <a:defRPr sz="1600" b="1"/>
            </a:pPr>
            <a:r>
              <a:t>latch bit associations </a:t>
            </a:r>
            <a:br/>
            <a:r>
              <a:rPr b="0"/>
              <a:t>(not region numbers!)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28</a:t>
            </a:fld>
            <a:endParaRPr/>
          </a:p>
        </p:txBody>
      </p:sp>
      <p:pic>
        <p:nvPicPr>
          <p:cNvPr id="823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8" y="1295400"/>
            <a:ext cx="5266944" cy="4377607"/>
          </a:xfrm>
          <a:prstGeom prst="rect">
            <a:avLst/>
          </a:prstGeom>
          <a:ln w="12700">
            <a:miter lim="400000"/>
          </a:ln>
        </p:spPr>
      </p:pic>
      <p:sp>
        <p:nvSpPr>
          <p:cNvPr id="824" name="Text Placeholder 2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Edit your BEAMnrc input file with</a:t>
            </a:r>
            <a:r>
              <a:rPr b="0">
                <a:solidFill>
                  <a:srgbClr val="3366FF"/>
                </a:solidFill>
                <a:latin typeface="Inconsolata Regular Bold"/>
                <a:ea typeface="Inconsolata Regular Bold"/>
                <a:cs typeface="Inconsolata Regular Bold"/>
                <a:sym typeface="Inconsolata Regular Bold"/>
              </a:rPr>
              <a:t> beamnrc_gui</a:t>
            </a:r>
          </a:p>
        </p:txBody>
      </p:sp>
      <p:pic>
        <p:nvPicPr>
          <p:cNvPr id="825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95400"/>
            <a:ext cx="2668123" cy="1724714"/>
          </a:xfrm>
          <a:prstGeom prst="rect">
            <a:avLst/>
          </a:prstGeom>
          <a:ln w="12700">
            <a:miter lim="400000"/>
          </a:ln>
        </p:spPr>
      </p:pic>
      <p:pic>
        <p:nvPicPr>
          <p:cNvPr id="826" name="Picture 2" descr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49973">
            <a:off x="6465341" y="1094476"/>
            <a:ext cx="1663502" cy="10979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6" grpId="1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29</a:t>
            </a:fld>
            <a:endParaRPr/>
          </a:p>
        </p:txBody>
      </p:sp>
      <p:sp>
        <p:nvSpPr>
          <p:cNvPr id="829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BEAMnrc main inputs: </a:t>
            </a:r>
            <a:r>
              <a:rPr i="1"/>
              <a:t>everything</a:t>
            </a:r>
            <a:r>
              <a:t> except geometry</a:t>
            </a:r>
          </a:p>
        </p:txBody>
      </p:sp>
      <p:pic>
        <p:nvPicPr>
          <p:cNvPr id="830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8077200" cy="4319948"/>
          </a:xfrm>
          <a:prstGeom prst="rect">
            <a:avLst/>
          </a:prstGeom>
          <a:ln w="12700">
            <a:miter lim="400000"/>
          </a:ln>
        </p:spPr>
      </p:pic>
      <p:pic>
        <p:nvPicPr>
          <p:cNvPr id="831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825355">
            <a:off x="348743" y="4572746"/>
            <a:ext cx="607364" cy="400861"/>
          </a:xfrm>
          <a:prstGeom prst="rect">
            <a:avLst/>
          </a:prstGeom>
          <a:ln w="12700">
            <a:miter lim="400000"/>
          </a:ln>
        </p:spPr>
      </p:pic>
      <p:sp>
        <p:nvSpPr>
          <p:cNvPr id="832" name="TextBox 15"/>
          <p:cNvSpPr txBox="1"/>
          <p:nvPr/>
        </p:nvSpPr>
        <p:spPr>
          <a:xfrm>
            <a:off x="746829" y="4871591"/>
            <a:ext cx="765097" cy="431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>
            <a:lvl1pPr>
              <a:defRPr sz="2000" b="1">
                <a:solidFill>
                  <a:srgbClr val="FF0000"/>
                </a:solidFill>
              </a:defRPr>
            </a:lvl1pPr>
          </a:lstStyle>
          <a:p>
            <a:r>
              <a:t>Help!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1" grpId="1" animBg="1" advAuto="0"/>
      <p:bldP spid="832" grpId="2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30</a:t>
            </a:fld>
            <a:endParaRPr/>
          </a:p>
        </p:txBody>
      </p:sp>
      <p:sp>
        <p:nvSpPr>
          <p:cNvPr id="835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BEAMnrc main inputs: the “easy” ones</a:t>
            </a:r>
          </a:p>
        </p:txBody>
      </p:sp>
      <p:pic>
        <p:nvPicPr>
          <p:cNvPr id="836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8077200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837" name="Rectangle 2"/>
          <p:cNvSpPr/>
          <p:nvPr/>
        </p:nvSpPr>
        <p:spPr>
          <a:xfrm>
            <a:off x="790111" y="1775534"/>
            <a:ext cx="3142696" cy="230820"/>
          </a:xfrm>
          <a:prstGeom prst="rect">
            <a:avLst/>
          </a:prstGeom>
          <a:solidFill>
            <a:srgbClr val="FFFF00">
              <a:alpha val="21176"/>
            </a:srgbClr>
          </a:solidFill>
          <a:ln w="25400">
            <a:solidFill>
              <a:srgbClr val="FFC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38" name="Rectangle 10"/>
          <p:cNvSpPr/>
          <p:nvPr/>
        </p:nvSpPr>
        <p:spPr>
          <a:xfrm>
            <a:off x="4172503" y="2574524"/>
            <a:ext cx="4367815" cy="981476"/>
          </a:xfrm>
          <a:prstGeom prst="rect">
            <a:avLst/>
          </a:prstGeom>
          <a:solidFill>
            <a:srgbClr val="FFFF00">
              <a:alpha val="21176"/>
            </a:srgbClr>
          </a:solidFill>
          <a:ln w="25400">
            <a:solidFill>
              <a:srgbClr val="FFC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39" name="Rectangle 11"/>
          <p:cNvSpPr/>
          <p:nvPr/>
        </p:nvSpPr>
        <p:spPr>
          <a:xfrm>
            <a:off x="4041057" y="5220479"/>
            <a:ext cx="1420061" cy="303396"/>
          </a:xfrm>
          <a:prstGeom prst="rect">
            <a:avLst/>
          </a:prstGeom>
          <a:solidFill>
            <a:srgbClr val="FFFF00">
              <a:alpha val="21176"/>
            </a:srgbClr>
          </a:solidFill>
          <a:ln w="25400">
            <a:solidFill>
              <a:srgbClr val="FFC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40" name="Rectangle 8"/>
          <p:cNvSpPr/>
          <p:nvPr/>
        </p:nvSpPr>
        <p:spPr>
          <a:xfrm>
            <a:off x="790111" y="3923982"/>
            <a:ext cx="3142696" cy="876618"/>
          </a:xfrm>
          <a:prstGeom prst="rect">
            <a:avLst/>
          </a:prstGeom>
          <a:solidFill>
            <a:srgbClr val="FFFF00">
              <a:alpha val="21176"/>
            </a:srgbClr>
          </a:solidFill>
          <a:ln w="25400">
            <a:solidFill>
              <a:srgbClr val="FFC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31</a:t>
            </a:fld>
            <a:endParaRPr/>
          </a:p>
        </p:txBody>
      </p:sp>
      <p:pic>
        <p:nvPicPr>
          <p:cNvPr id="843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8077200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844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Default medium</a:t>
            </a:r>
          </a:p>
        </p:txBody>
      </p:sp>
      <p:sp>
        <p:nvSpPr>
          <p:cNvPr id="845" name="Rectangle 9"/>
          <p:cNvSpPr/>
          <p:nvPr/>
        </p:nvSpPr>
        <p:spPr>
          <a:xfrm>
            <a:off x="790111" y="1775533"/>
            <a:ext cx="3142696" cy="230820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846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503" y="990603"/>
            <a:ext cx="2369417" cy="3924950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32</a:t>
            </a:fld>
            <a:endParaRPr/>
          </a:p>
        </p:txBody>
      </p:sp>
      <p:pic>
        <p:nvPicPr>
          <p:cNvPr id="849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8077200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850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Number of histories and seeds</a:t>
            </a:r>
          </a:p>
        </p:txBody>
      </p:sp>
      <p:sp>
        <p:nvSpPr>
          <p:cNvPr id="851" name="Rectangle 8"/>
          <p:cNvSpPr/>
          <p:nvPr/>
        </p:nvSpPr>
        <p:spPr>
          <a:xfrm>
            <a:off x="790111" y="3923982"/>
            <a:ext cx="3142696" cy="876618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52" name="Rectangle 18"/>
          <p:cNvSpPr/>
          <p:nvPr/>
        </p:nvSpPr>
        <p:spPr>
          <a:xfrm>
            <a:off x="554305" y="5750466"/>
            <a:ext cx="639827" cy="284227"/>
          </a:xfrm>
          <a:prstGeom prst="rect">
            <a:avLst/>
          </a:prstGeom>
          <a:solidFill>
            <a:srgbClr val="F2DCDB"/>
          </a:solidFill>
          <a:ln w="19050"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8288" tIns="18288" rIns="18288" bIns="18288">
            <a:spAutoFit/>
          </a:bodyPr>
          <a:lstStyle>
            <a:lvl1pPr>
              <a:defRPr>
                <a:solidFill>
                  <a:srgbClr val="FF0000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lvl1pPr>
          </a:lstStyle>
          <a:p>
            <a:r>
              <a:t>NCASE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33</a:t>
            </a:fld>
            <a:endParaRPr/>
          </a:p>
        </p:txBody>
      </p:sp>
      <p:pic>
        <p:nvPicPr>
          <p:cNvPr id="855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8077200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856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Number of histories and seeds</a:t>
            </a:r>
          </a:p>
        </p:txBody>
      </p:sp>
      <p:sp>
        <p:nvSpPr>
          <p:cNvPr id="857" name="Rectangle 10"/>
          <p:cNvSpPr/>
          <p:nvPr/>
        </p:nvSpPr>
        <p:spPr>
          <a:xfrm>
            <a:off x="4172503" y="2574525"/>
            <a:ext cx="4367815" cy="532743"/>
          </a:xfrm>
          <a:prstGeom prst="rect">
            <a:avLst/>
          </a:prstGeom>
          <a:solidFill>
            <a:srgbClr val="FFFF00">
              <a:alpha val="21176"/>
            </a:srgbClr>
          </a:solidFill>
          <a:ln w="25400">
            <a:solidFill>
              <a:srgbClr val="FFC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58" name="Rectangle 11"/>
          <p:cNvSpPr/>
          <p:nvPr/>
        </p:nvSpPr>
        <p:spPr>
          <a:xfrm>
            <a:off x="4041057" y="5220479"/>
            <a:ext cx="1420061" cy="303396"/>
          </a:xfrm>
          <a:prstGeom prst="rect">
            <a:avLst/>
          </a:prstGeom>
          <a:solidFill>
            <a:srgbClr val="FFFF00">
              <a:alpha val="21176"/>
            </a:srgbClr>
          </a:solidFill>
          <a:ln w="25400">
            <a:solidFill>
              <a:srgbClr val="FFC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59" name="Rectangle 8"/>
          <p:cNvSpPr/>
          <p:nvPr/>
        </p:nvSpPr>
        <p:spPr>
          <a:xfrm>
            <a:off x="790111" y="3923982"/>
            <a:ext cx="3142696" cy="876618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60" name="Rectangle 13"/>
          <p:cNvSpPr/>
          <p:nvPr/>
        </p:nvSpPr>
        <p:spPr>
          <a:xfrm>
            <a:off x="4172503" y="3107266"/>
            <a:ext cx="4367815" cy="457201"/>
          </a:xfrm>
          <a:prstGeom prst="rect">
            <a:avLst/>
          </a:prstGeom>
          <a:solidFill>
            <a:srgbClr val="FFFF00">
              <a:alpha val="21176"/>
            </a:srgbClr>
          </a:solidFill>
          <a:ln w="25400">
            <a:solidFill>
              <a:srgbClr val="FFC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61" name="Rectangle 2"/>
          <p:cNvSpPr/>
          <p:nvPr/>
        </p:nvSpPr>
        <p:spPr>
          <a:xfrm>
            <a:off x="4000543" y="1117600"/>
            <a:ext cx="4610058" cy="460586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62" name="TextBox 15"/>
          <p:cNvSpPr txBox="1"/>
          <p:nvPr/>
        </p:nvSpPr>
        <p:spPr>
          <a:xfrm>
            <a:off x="4667376" y="3882199"/>
            <a:ext cx="4088694" cy="1588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/>
          <a:p>
            <a:pPr>
              <a:defRPr sz="2400" b="1"/>
            </a:pPr>
            <a:r>
              <a:t>Remember:</a:t>
            </a:r>
            <a:br/>
            <a:r>
              <a:rPr b="0"/>
              <a:t>using the same seeds will run exactly the same simulation (on the same hardware)</a:t>
            </a:r>
          </a:p>
        </p:txBody>
      </p:sp>
      <p:pic>
        <p:nvPicPr>
          <p:cNvPr id="863" name="Picture 16" descr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073" y="1671829"/>
            <a:ext cx="1943101" cy="533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4" name="Picture 17" descr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615" y="2586514"/>
            <a:ext cx="3543301" cy="914401"/>
          </a:xfrm>
          <a:prstGeom prst="rect">
            <a:avLst/>
          </a:prstGeom>
          <a:ln w="12700">
            <a:miter lim="400000"/>
          </a:ln>
        </p:spPr>
      </p:pic>
      <p:sp>
        <p:nvSpPr>
          <p:cNvPr id="865" name="Rectangle 18"/>
          <p:cNvSpPr/>
          <p:nvPr/>
        </p:nvSpPr>
        <p:spPr>
          <a:xfrm>
            <a:off x="554305" y="5750466"/>
            <a:ext cx="639827" cy="284227"/>
          </a:xfrm>
          <a:prstGeom prst="rect">
            <a:avLst/>
          </a:prstGeom>
          <a:solidFill>
            <a:srgbClr val="F2DCDB"/>
          </a:solidFill>
          <a:ln w="19050"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8288" tIns="18288" rIns="18288" bIns="18288">
            <a:spAutoFit/>
          </a:bodyPr>
          <a:lstStyle>
            <a:lvl1pPr>
              <a:defRPr>
                <a:solidFill>
                  <a:srgbClr val="FF0000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lvl1pPr>
          </a:lstStyle>
          <a:p>
            <a:r>
              <a:t>NCASE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2" grpId="3" animBg="1" advAuto="0"/>
      <p:bldP spid="863" grpId="1" animBg="1" advAuto="0"/>
      <p:bldP spid="864" grpId="2" animBg="1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34</a:t>
            </a:fld>
            <a:endParaRPr/>
          </a:p>
        </p:txBody>
      </p:sp>
      <p:pic>
        <p:nvPicPr>
          <p:cNvPr id="86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8077200" cy="4319948"/>
          </a:xfrm>
          <a:prstGeom prst="rect">
            <a:avLst/>
          </a:prstGeom>
          <a:ln w="12700">
            <a:miter lim="400000"/>
          </a:ln>
        </p:spPr>
      </p:pic>
      <p:pic>
        <p:nvPicPr>
          <p:cNvPr id="869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330" y="2592280"/>
            <a:ext cx="4403745" cy="933803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  <p:sp>
        <p:nvSpPr>
          <p:cNvPr id="870" name="Rectangle 6"/>
          <p:cNvSpPr/>
          <p:nvPr/>
        </p:nvSpPr>
        <p:spPr>
          <a:xfrm>
            <a:off x="4172503" y="2574525"/>
            <a:ext cx="4385571" cy="230820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71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Source particle can be electron, photon or positron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35</a:t>
            </a:fld>
            <a:endParaRPr/>
          </a:p>
        </p:txBody>
      </p:sp>
      <p:pic>
        <p:nvPicPr>
          <p:cNvPr id="874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8077200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875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BEAMnrc offers 16 different source types</a:t>
            </a:r>
          </a:p>
        </p:txBody>
      </p:sp>
      <p:pic>
        <p:nvPicPr>
          <p:cNvPr id="876" name="Picture 3" descr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749" y="2866564"/>
            <a:ext cx="4385569" cy="3027561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  <p:sp>
        <p:nvSpPr>
          <p:cNvPr id="877" name="Rectangle 6"/>
          <p:cNvSpPr/>
          <p:nvPr/>
        </p:nvSpPr>
        <p:spPr>
          <a:xfrm>
            <a:off x="4172503" y="2849630"/>
            <a:ext cx="4385571" cy="230820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36</a:t>
            </a:fld>
            <a:endParaRPr/>
          </a:p>
        </p:txBody>
      </p:sp>
      <p:sp>
        <p:nvSpPr>
          <p:cNvPr id="880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Example: source 0, parallel beam from the front</a:t>
            </a:r>
          </a:p>
        </p:txBody>
      </p:sp>
      <p:pic>
        <p:nvPicPr>
          <p:cNvPr id="881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310" y="1048214"/>
            <a:ext cx="5415380" cy="4939127"/>
          </a:xfrm>
          <a:prstGeom prst="rect">
            <a:avLst/>
          </a:prstGeom>
          <a:ln w="12700">
            <a:miter lim="400000"/>
          </a:ln>
        </p:spPr>
      </p:pic>
      <p:sp>
        <p:nvSpPr>
          <p:cNvPr id="882" name="TextBox 9"/>
          <p:cNvSpPr txBox="1"/>
          <p:nvPr/>
        </p:nvSpPr>
        <p:spPr>
          <a:xfrm>
            <a:off x="5622229" y="4913076"/>
            <a:ext cx="2892105" cy="1041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/>
          <a:p>
            <a:pPr>
              <a:defRPr sz="2000" b="1">
                <a:solidFill>
                  <a:srgbClr val="FF0000"/>
                </a:solidFill>
              </a:defRPr>
            </a:pPr>
            <a:r>
              <a:t>See the BEAMnrc manual</a:t>
            </a:r>
            <a:br/>
            <a:r>
              <a:t>for the precise meaning </a:t>
            </a:r>
          </a:p>
          <a:p>
            <a:pPr>
              <a:defRPr sz="2000" b="1">
                <a:solidFill>
                  <a:srgbClr val="FF0000"/>
                </a:solidFill>
              </a:defRPr>
            </a:pPr>
            <a:r>
              <a:t>of the inputs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37</a:t>
            </a:fld>
            <a:endParaRPr/>
          </a:p>
        </p:txBody>
      </p:sp>
      <p:sp>
        <p:nvSpPr>
          <p:cNvPr id="885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Sources will be discussed in the next lecture</a:t>
            </a:r>
          </a:p>
        </p:txBody>
      </p:sp>
      <p:pic>
        <p:nvPicPr>
          <p:cNvPr id="886" name="Picture 16" descr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83" y="1286713"/>
            <a:ext cx="1700215" cy="1065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887" name="Picture 19" descr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741" y="1153217"/>
            <a:ext cx="1601630" cy="1330167"/>
          </a:xfrm>
          <a:prstGeom prst="rect">
            <a:avLst/>
          </a:prstGeom>
          <a:ln w="12700">
            <a:miter lim="400000"/>
          </a:ln>
        </p:spPr>
      </p:pic>
      <p:pic>
        <p:nvPicPr>
          <p:cNvPr id="888" name="Picture 20" descr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315" y="1153217"/>
            <a:ext cx="1601630" cy="13187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89" name="Picture 21" descr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888" y="1157178"/>
            <a:ext cx="1693070" cy="1494474"/>
          </a:xfrm>
          <a:prstGeom prst="rect">
            <a:avLst/>
          </a:prstGeom>
          <a:ln w="12700">
            <a:miter lim="400000"/>
          </a:ln>
        </p:spPr>
      </p:pic>
      <p:pic>
        <p:nvPicPr>
          <p:cNvPr id="890" name="Picture 22" descr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583" y="2773733"/>
            <a:ext cx="1697356" cy="1217296"/>
          </a:xfrm>
          <a:prstGeom prst="rect">
            <a:avLst/>
          </a:prstGeom>
          <a:ln w="12700">
            <a:miter lim="400000"/>
          </a:ln>
        </p:spPr>
      </p:pic>
      <p:pic>
        <p:nvPicPr>
          <p:cNvPr id="891" name="Picture 23" descr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9741" y="2812309"/>
            <a:ext cx="1645922" cy="11787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2" name="Picture 24" descr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7315" y="2812309"/>
            <a:ext cx="1648779" cy="1318737"/>
          </a:xfrm>
          <a:prstGeom prst="rect">
            <a:avLst/>
          </a:prstGeom>
          <a:ln w="12700">
            <a:miter lim="400000"/>
          </a:ln>
        </p:spPr>
      </p:pic>
      <p:pic>
        <p:nvPicPr>
          <p:cNvPr id="893" name="Picture 25" descr="Picture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9179" y="2743317"/>
            <a:ext cx="1648779" cy="1318737"/>
          </a:xfrm>
          <a:prstGeom prst="rect">
            <a:avLst/>
          </a:prstGeom>
          <a:ln w="12700">
            <a:miter lim="400000"/>
          </a:ln>
        </p:spPr>
      </p:pic>
      <p:pic>
        <p:nvPicPr>
          <p:cNvPr id="894" name="Picture 26" descr="Picture 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583" y="4412202"/>
            <a:ext cx="1661637" cy="1637348"/>
          </a:xfrm>
          <a:prstGeom prst="rect">
            <a:avLst/>
          </a:prstGeom>
          <a:ln w="12700">
            <a:miter lim="400000"/>
          </a:ln>
        </p:spPr>
      </p:pic>
      <p:pic>
        <p:nvPicPr>
          <p:cNvPr id="895" name="Picture 28" descr="Picture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04981" y="4252593"/>
            <a:ext cx="1686391" cy="1527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6" name="Picture 29" descr="Picture 2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02755" y="4362015"/>
            <a:ext cx="1277304" cy="1231584"/>
          </a:xfrm>
          <a:prstGeom prst="rect">
            <a:avLst/>
          </a:prstGeom>
          <a:ln w="12700">
            <a:miter lim="400000"/>
          </a:ln>
        </p:spPr>
      </p:pic>
      <p:pic>
        <p:nvPicPr>
          <p:cNvPr id="897" name="Picture 30" descr="Picture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89169" y="4442024"/>
            <a:ext cx="1728790" cy="11515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38</a:t>
            </a:fld>
            <a:endParaRPr/>
          </a:p>
        </p:txBody>
      </p:sp>
      <p:pic>
        <p:nvPicPr>
          <p:cNvPr id="900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8077200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901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Default </a:t>
            </a:r>
            <a:r>
              <a:rPr>
                <a:solidFill>
                  <a:srgbClr val="FF0000"/>
                </a:solidFill>
              </a:rPr>
              <a:t>ECUT</a:t>
            </a:r>
            <a:r>
              <a:t> and </a:t>
            </a:r>
            <a:r>
              <a:rPr>
                <a:solidFill>
                  <a:srgbClr val="FF0000"/>
                </a:solidFill>
              </a:rPr>
              <a:t>PCUT</a:t>
            </a:r>
          </a:p>
        </p:txBody>
      </p:sp>
      <p:sp>
        <p:nvSpPr>
          <p:cNvPr id="902" name="Rectangle 6"/>
          <p:cNvSpPr/>
          <p:nvPr/>
        </p:nvSpPr>
        <p:spPr>
          <a:xfrm>
            <a:off x="4172503" y="3095967"/>
            <a:ext cx="4367815" cy="460033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39</a:t>
            </a:fld>
            <a:endParaRPr/>
          </a:p>
        </p:txBody>
      </p:sp>
      <p:pic>
        <p:nvPicPr>
          <p:cNvPr id="905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8077200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906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Default </a:t>
            </a:r>
            <a:r>
              <a:rPr>
                <a:solidFill>
                  <a:srgbClr val="FF0000"/>
                </a:solidFill>
              </a:rPr>
              <a:t>ECUT</a:t>
            </a:r>
            <a:r>
              <a:t> and </a:t>
            </a:r>
            <a:r>
              <a:rPr>
                <a:solidFill>
                  <a:srgbClr val="FF0000"/>
                </a:solidFill>
              </a:rPr>
              <a:t>PCUT</a:t>
            </a:r>
          </a:p>
        </p:txBody>
      </p:sp>
      <p:sp>
        <p:nvSpPr>
          <p:cNvPr id="907" name="Rectangle 10"/>
          <p:cNvSpPr/>
          <p:nvPr/>
        </p:nvSpPr>
        <p:spPr>
          <a:xfrm>
            <a:off x="790111" y="1775534"/>
            <a:ext cx="3142696" cy="230820"/>
          </a:xfrm>
          <a:prstGeom prst="rect">
            <a:avLst/>
          </a:prstGeom>
          <a:solidFill>
            <a:srgbClr val="FFFF00">
              <a:alpha val="21176"/>
            </a:srgbClr>
          </a:solidFill>
          <a:ln w="25400">
            <a:solidFill>
              <a:srgbClr val="FFC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908" name="Rectangle 12"/>
          <p:cNvSpPr/>
          <p:nvPr/>
        </p:nvSpPr>
        <p:spPr>
          <a:xfrm>
            <a:off x="790111" y="3923982"/>
            <a:ext cx="3142696" cy="876618"/>
          </a:xfrm>
          <a:prstGeom prst="rect">
            <a:avLst/>
          </a:prstGeom>
          <a:solidFill>
            <a:srgbClr val="FFFF00">
              <a:alpha val="21176"/>
            </a:srgbClr>
          </a:solidFill>
          <a:ln w="25400">
            <a:solidFill>
              <a:srgbClr val="FFC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909" name="Rectangle 6"/>
          <p:cNvSpPr/>
          <p:nvPr/>
        </p:nvSpPr>
        <p:spPr>
          <a:xfrm>
            <a:off x="4172503" y="3095967"/>
            <a:ext cx="4367815" cy="460033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910" name="Rectangle 13"/>
          <p:cNvSpPr/>
          <p:nvPr/>
        </p:nvSpPr>
        <p:spPr>
          <a:xfrm>
            <a:off x="381001" y="1117600"/>
            <a:ext cx="3577208" cy="460586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1" name="TextBox 14"/>
          <p:cNvSpPr txBox="1"/>
          <p:nvPr/>
        </p:nvSpPr>
        <p:spPr>
          <a:xfrm>
            <a:off x="579119" y="1272732"/>
            <a:ext cx="3089834" cy="4415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30188" indent="-230188">
              <a:lnSpc>
                <a:spcPts val="2000"/>
              </a:lnSpc>
              <a:buSzPct val="100000"/>
              <a:buFont typeface="Arial"/>
              <a:buChar char="•"/>
            </a:pPr>
            <a:r>
              <a:t>Global </a:t>
            </a:r>
            <a:r>
              <a:rPr b="1">
                <a:solidFill>
                  <a:srgbClr val="FF0000"/>
                </a:solidFill>
              </a:rPr>
              <a:t>ECUT</a:t>
            </a:r>
            <a:r>
              <a:rPr>
                <a:solidFill>
                  <a:srgbClr val="FF0000"/>
                </a:solidFill>
              </a:rPr>
              <a:t> </a:t>
            </a:r>
            <a:r>
              <a:t>and </a:t>
            </a:r>
            <a:r>
              <a:rPr b="1">
                <a:solidFill>
                  <a:srgbClr val="FF0000"/>
                </a:solidFill>
              </a:rPr>
              <a:t>PCUT</a:t>
            </a:r>
            <a:r>
              <a:rPr>
                <a:solidFill>
                  <a:srgbClr val="FF0000"/>
                </a:solidFill>
              </a:rPr>
              <a:t> </a:t>
            </a:r>
            <a:r>
              <a:t>are applied to all regions by default. Input value is in MeV.</a:t>
            </a:r>
            <a:br/>
            <a:endParaRPr/>
          </a:p>
          <a:p>
            <a:pPr marL="230188" indent="-230188">
              <a:lnSpc>
                <a:spcPts val="2000"/>
              </a:lnSpc>
              <a:buSzPct val="100000"/>
              <a:buFont typeface="Arial"/>
              <a:buChar char="•"/>
            </a:pPr>
            <a:r>
              <a:t>They can be </a:t>
            </a:r>
            <a:r>
              <a:rPr b="1"/>
              <a:t>overridden</a:t>
            </a:r>
            <a:r>
              <a:t> (increased) in each region, via CM input parameters.</a:t>
            </a:r>
            <a:br/>
            <a:endParaRPr/>
          </a:p>
          <a:p>
            <a:pPr marL="230188" indent="-230188">
              <a:lnSpc>
                <a:spcPts val="2000"/>
              </a:lnSpc>
              <a:buSzPct val="100000"/>
              <a:buFont typeface="Arial"/>
              <a:buChar char="•"/>
            </a:pPr>
            <a:r>
              <a:t>It is common in linacs to have </a:t>
            </a:r>
            <a:r>
              <a:rPr b="1"/>
              <a:t>larger</a:t>
            </a:r>
            <a:r>
              <a:t> </a:t>
            </a:r>
            <a:r>
              <a:rPr b="1"/>
              <a:t>cutoff values </a:t>
            </a:r>
            <a:r>
              <a:t>because we care about what reaches the bottom of the linac.</a:t>
            </a:r>
            <a:br/>
            <a:endParaRPr/>
          </a:p>
          <a:p>
            <a:pPr marL="230188" indent="-230188">
              <a:lnSpc>
                <a:spcPts val="2000"/>
              </a:lnSpc>
              <a:buSzPct val="100000"/>
              <a:buFont typeface="Arial"/>
              <a:buChar char="•"/>
            </a:pPr>
            <a:r>
              <a:t>For example, </a:t>
            </a:r>
            <a:r>
              <a:rPr b="1"/>
              <a:t>ECUT = 0.700 PCUT = 0.189  </a:t>
            </a:r>
            <a:r>
              <a:t>is a common choice (this is why there is a 700icru pegs data set!)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" grpId="1" build="p" bldLvl="5" animBg="1" advAuto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40</a:t>
            </a:fld>
            <a:endParaRPr/>
          </a:p>
        </p:txBody>
      </p:sp>
      <p:pic>
        <p:nvPicPr>
          <p:cNvPr id="914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8077200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915" name="Rectangle 13"/>
          <p:cNvSpPr/>
          <p:nvPr/>
        </p:nvSpPr>
        <p:spPr>
          <a:xfrm>
            <a:off x="4041057" y="5220479"/>
            <a:ext cx="1420061" cy="303396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916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EGSnrc parameters discussed in previous lectures</a:t>
            </a:r>
          </a:p>
        </p:txBody>
      </p:sp>
      <p:pic>
        <p:nvPicPr>
          <p:cNvPr id="917" name="Picture 3" descr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409" y="1040957"/>
            <a:ext cx="6114708" cy="3749798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  <p:pic>
        <p:nvPicPr>
          <p:cNvPr id="918" name="Picture 2" descr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49973">
            <a:off x="4082088" y="4921113"/>
            <a:ext cx="1368765" cy="7868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7" grpId="1" animBg="1" advAuto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41</a:t>
            </a:fld>
            <a:endParaRPr/>
          </a:p>
        </p:txBody>
      </p:sp>
      <p:sp>
        <p:nvSpPr>
          <p:cNvPr id="921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BEAMnrc main inputs: VRTs discussed in other lecture</a:t>
            </a:r>
          </a:p>
        </p:txBody>
      </p:sp>
      <p:pic>
        <p:nvPicPr>
          <p:cNvPr id="922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8077200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923" name="Rectangle 10"/>
          <p:cNvSpPr/>
          <p:nvPr/>
        </p:nvSpPr>
        <p:spPr>
          <a:xfrm>
            <a:off x="4172503" y="1775534"/>
            <a:ext cx="4367815" cy="806800"/>
          </a:xfrm>
          <a:prstGeom prst="rect">
            <a:avLst/>
          </a:prstGeom>
          <a:solidFill>
            <a:srgbClr val="FFFF00">
              <a:alpha val="21176"/>
            </a:srgbClr>
          </a:solidFill>
          <a:ln w="25400">
            <a:solidFill>
              <a:srgbClr val="FFC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924" name="Rectangle 7"/>
          <p:cNvSpPr/>
          <p:nvPr/>
        </p:nvSpPr>
        <p:spPr>
          <a:xfrm>
            <a:off x="4172503" y="3537517"/>
            <a:ext cx="4367815" cy="806800"/>
          </a:xfrm>
          <a:prstGeom prst="rect">
            <a:avLst/>
          </a:prstGeom>
          <a:solidFill>
            <a:srgbClr val="FFFF00">
              <a:alpha val="21176"/>
            </a:srgbClr>
          </a:solidFill>
          <a:ln w="25400">
            <a:solidFill>
              <a:srgbClr val="FFC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42</a:t>
            </a:fld>
            <a:endParaRPr/>
          </a:p>
        </p:txBody>
      </p:sp>
      <p:sp>
        <p:nvSpPr>
          <p:cNvPr id="927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BEAMnrc main inputs: scoring and output</a:t>
            </a:r>
          </a:p>
        </p:txBody>
      </p:sp>
      <p:pic>
        <p:nvPicPr>
          <p:cNvPr id="92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8077200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929" name="Rectangle 2"/>
          <p:cNvSpPr/>
          <p:nvPr/>
        </p:nvSpPr>
        <p:spPr>
          <a:xfrm>
            <a:off x="790111" y="2033900"/>
            <a:ext cx="3142696" cy="1871529"/>
          </a:xfrm>
          <a:prstGeom prst="rect">
            <a:avLst/>
          </a:prstGeom>
          <a:solidFill>
            <a:srgbClr val="FFFF00">
              <a:alpha val="21176"/>
            </a:srgbClr>
          </a:solidFill>
          <a:ln w="25400">
            <a:solidFill>
              <a:srgbClr val="FFC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930" name="Rectangle 10"/>
          <p:cNvSpPr/>
          <p:nvPr/>
        </p:nvSpPr>
        <p:spPr>
          <a:xfrm>
            <a:off x="4172503" y="4341262"/>
            <a:ext cx="4367815" cy="512749"/>
          </a:xfrm>
          <a:prstGeom prst="rect">
            <a:avLst/>
          </a:prstGeom>
          <a:solidFill>
            <a:srgbClr val="FFFF00">
              <a:alpha val="21176"/>
            </a:srgbClr>
          </a:solidFill>
          <a:ln w="25400">
            <a:solidFill>
              <a:srgbClr val="FFC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43</a:t>
            </a:fld>
            <a:endParaRPr/>
          </a:p>
        </p:txBody>
      </p:sp>
      <p:sp>
        <p:nvSpPr>
          <p:cNvPr id="933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BEAMnrc main inputs: scoring planes</a:t>
            </a:r>
          </a:p>
        </p:txBody>
      </p:sp>
      <p:pic>
        <p:nvPicPr>
          <p:cNvPr id="934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8077200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935" name="Rectangle 5"/>
          <p:cNvSpPr/>
          <p:nvPr/>
        </p:nvSpPr>
        <p:spPr>
          <a:xfrm>
            <a:off x="790111" y="2854376"/>
            <a:ext cx="3142696" cy="211112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936" name="Rectangle 6"/>
          <p:cNvSpPr/>
          <p:nvPr/>
        </p:nvSpPr>
        <p:spPr>
          <a:xfrm>
            <a:off x="4174245" y="4349891"/>
            <a:ext cx="4363005" cy="211112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937" name="Rectangle 39"/>
          <p:cNvSpPr/>
          <p:nvPr/>
        </p:nvSpPr>
        <p:spPr>
          <a:xfrm>
            <a:off x="381001" y="1117600"/>
            <a:ext cx="3577208" cy="460586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968" name="Group 3"/>
          <p:cNvGrpSpPr/>
          <p:nvPr/>
        </p:nvGrpSpPr>
        <p:grpSpPr>
          <a:xfrm>
            <a:off x="287234" y="1355610"/>
            <a:ext cx="3577120" cy="4580186"/>
            <a:chOff x="0" y="0"/>
            <a:chExt cx="3577118" cy="4580185"/>
          </a:xfrm>
        </p:grpSpPr>
        <p:grpSp>
          <p:nvGrpSpPr>
            <p:cNvPr id="963" name="Group 8"/>
            <p:cNvGrpSpPr/>
            <p:nvPr/>
          </p:nvGrpSpPr>
          <p:grpSpPr>
            <a:xfrm>
              <a:off x="-1" y="0"/>
              <a:ext cx="3122627" cy="4580186"/>
              <a:chOff x="0" y="0"/>
              <a:chExt cx="3122625" cy="4580185"/>
            </a:xfrm>
          </p:grpSpPr>
          <p:sp>
            <p:nvSpPr>
              <p:cNvPr id="938" name="Rectangle 9"/>
              <p:cNvSpPr/>
              <p:nvPr/>
            </p:nvSpPr>
            <p:spPr>
              <a:xfrm>
                <a:off x="722325" y="57150"/>
                <a:ext cx="2400301" cy="4000501"/>
              </a:xfrm>
              <a:prstGeom prst="rect">
                <a:avLst/>
              </a:prstGeom>
              <a:solidFill>
                <a:srgbClr val="CAF2C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39" name="Rectangle 11"/>
              <p:cNvSpPr/>
              <p:nvPr/>
            </p:nvSpPr>
            <p:spPr>
              <a:xfrm>
                <a:off x="722325" y="57150"/>
                <a:ext cx="2400301" cy="457201"/>
              </a:xfrm>
              <a:prstGeom prst="rect">
                <a:avLst/>
              </a:prstGeom>
              <a:solidFill>
                <a:srgbClr val="FAC09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40" name="Rectangle 12"/>
              <p:cNvSpPr/>
              <p:nvPr/>
            </p:nvSpPr>
            <p:spPr>
              <a:xfrm>
                <a:off x="722325" y="514350"/>
                <a:ext cx="2400301" cy="228601"/>
              </a:xfrm>
              <a:prstGeom prst="rect">
                <a:avLst/>
              </a:prstGeom>
              <a:solidFill>
                <a:srgbClr val="FAC09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41" name="Rectangle 13"/>
              <p:cNvSpPr/>
              <p:nvPr/>
            </p:nvSpPr>
            <p:spPr>
              <a:xfrm>
                <a:off x="722325" y="1200150"/>
                <a:ext cx="2400301" cy="571501"/>
              </a:xfrm>
              <a:prstGeom prst="rect">
                <a:avLst/>
              </a:prstGeom>
              <a:solidFill>
                <a:srgbClr val="FAC09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42" name="Rectangle 14"/>
              <p:cNvSpPr/>
              <p:nvPr/>
            </p:nvSpPr>
            <p:spPr>
              <a:xfrm>
                <a:off x="722325" y="2000250"/>
                <a:ext cx="2400301" cy="228601"/>
              </a:xfrm>
              <a:prstGeom prst="rect">
                <a:avLst/>
              </a:prstGeom>
              <a:solidFill>
                <a:srgbClr val="FAC09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43" name="Rectangle 15"/>
              <p:cNvSpPr/>
              <p:nvPr/>
            </p:nvSpPr>
            <p:spPr>
              <a:xfrm>
                <a:off x="722325" y="2228850"/>
                <a:ext cx="2400301" cy="342901"/>
              </a:xfrm>
              <a:prstGeom prst="rect">
                <a:avLst/>
              </a:prstGeom>
              <a:solidFill>
                <a:srgbClr val="FAC09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44" name="Rectangle 16"/>
              <p:cNvSpPr/>
              <p:nvPr/>
            </p:nvSpPr>
            <p:spPr>
              <a:xfrm>
                <a:off x="722325" y="2686050"/>
                <a:ext cx="2400301" cy="1371601"/>
              </a:xfrm>
              <a:prstGeom prst="rect">
                <a:avLst/>
              </a:prstGeom>
              <a:solidFill>
                <a:srgbClr val="FAC09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45" name="Rectangle 17"/>
              <p:cNvSpPr/>
              <p:nvPr/>
            </p:nvSpPr>
            <p:spPr>
              <a:xfrm>
                <a:off x="722325" y="57150"/>
                <a:ext cx="2400301" cy="457201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46" name="Rectangle 18"/>
              <p:cNvSpPr/>
              <p:nvPr/>
            </p:nvSpPr>
            <p:spPr>
              <a:xfrm>
                <a:off x="722325" y="514350"/>
                <a:ext cx="2400301" cy="228601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47" name="Rectangle 19"/>
              <p:cNvSpPr/>
              <p:nvPr/>
            </p:nvSpPr>
            <p:spPr>
              <a:xfrm>
                <a:off x="722325" y="742950"/>
                <a:ext cx="2400301" cy="1028701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48" name="Rectangle 20"/>
              <p:cNvSpPr/>
              <p:nvPr/>
            </p:nvSpPr>
            <p:spPr>
              <a:xfrm>
                <a:off x="722325" y="1771650"/>
                <a:ext cx="2400301" cy="457201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49" name="Rectangle 21"/>
              <p:cNvSpPr/>
              <p:nvPr/>
            </p:nvSpPr>
            <p:spPr>
              <a:xfrm>
                <a:off x="722325" y="2228850"/>
                <a:ext cx="2400301" cy="342901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50" name="Rectangle 22"/>
              <p:cNvSpPr/>
              <p:nvPr/>
            </p:nvSpPr>
            <p:spPr>
              <a:xfrm>
                <a:off x="722325" y="2571750"/>
                <a:ext cx="2400301" cy="457201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51" name="Rectangle 23"/>
              <p:cNvSpPr/>
              <p:nvPr/>
            </p:nvSpPr>
            <p:spPr>
              <a:xfrm>
                <a:off x="722325" y="3028950"/>
                <a:ext cx="2400301" cy="1028701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grpSp>
            <p:nvGrpSpPr>
              <p:cNvPr id="955" name="Group 24"/>
              <p:cNvGrpSpPr/>
              <p:nvPr/>
            </p:nvGrpSpPr>
            <p:grpSpPr>
              <a:xfrm>
                <a:off x="1865325" y="0"/>
                <a:ext cx="355601" cy="4580186"/>
                <a:chOff x="0" y="0"/>
                <a:chExt cx="355600" cy="4580185"/>
              </a:xfrm>
            </p:grpSpPr>
            <p:sp>
              <p:nvSpPr>
                <p:cNvPr id="952" name="Oval 32"/>
                <p:cNvSpPr/>
                <p:nvPr/>
              </p:nvSpPr>
              <p:spPr>
                <a:xfrm>
                  <a:off x="0" y="0"/>
                  <a:ext cx="114300" cy="114300"/>
                </a:xfrm>
                <a:prstGeom prst="ellipse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953" name="Straight Arrow Connector 33"/>
                <p:cNvSpPr/>
                <p:nvPr/>
              </p:nvSpPr>
              <p:spPr>
                <a:xfrm flipH="1">
                  <a:off x="57149" y="114299"/>
                  <a:ext cx="2" cy="4328585"/>
                </a:xfrm>
                <a:prstGeom prst="line">
                  <a:avLst/>
                </a:prstGeom>
                <a:noFill/>
                <a:ln w="28575" cap="flat">
                  <a:solidFill>
                    <a:srgbClr val="000000"/>
                  </a:solidFill>
                  <a:prstDash val="solid"/>
                  <a:round/>
                  <a:tailEnd type="stealth" w="med" len="med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954" name="TextBox 34"/>
                <p:cNvSpPr txBox="1"/>
                <p:nvPr/>
              </p:nvSpPr>
              <p:spPr>
                <a:xfrm>
                  <a:off x="228600" y="4286250"/>
                  <a:ext cx="127001" cy="29393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0" tIns="0" rIns="0" bIns="0" numCol="1" anchor="t">
                  <a:spAutoFit/>
                </a:bodyPr>
                <a:lstStyle>
                  <a:lvl1pPr>
                    <a:defRPr sz="2200"/>
                  </a:lvl1pPr>
                </a:lstStyle>
                <a:p>
                  <a:r>
                    <a:t>z</a:t>
                  </a:r>
                </a:p>
              </p:txBody>
            </p:sp>
          </p:grpSp>
          <p:sp>
            <p:nvSpPr>
              <p:cNvPr id="956" name="TextBox 25"/>
              <p:cNvSpPr txBox="1"/>
              <p:nvPr/>
            </p:nvSpPr>
            <p:spPr>
              <a:xfrm>
                <a:off x="0" y="171449"/>
                <a:ext cx="501043" cy="24164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b="1"/>
                </a:lvl1pPr>
              </a:lstStyle>
              <a:p>
                <a:r>
                  <a:t>CM 1</a:t>
                </a:r>
              </a:p>
            </p:txBody>
          </p:sp>
          <p:sp>
            <p:nvSpPr>
              <p:cNvPr id="957" name="TextBox 26"/>
              <p:cNvSpPr txBox="1"/>
              <p:nvPr/>
            </p:nvSpPr>
            <p:spPr>
              <a:xfrm>
                <a:off x="0" y="514350"/>
                <a:ext cx="501043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b="1"/>
                </a:lvl1pPr>
              </a:lstStyle>
              <a:p>
                <a:r>
                  <a:t>CM 2</a:t>
                </a:r>
              </a:p>
            </p:txBody>
          </p:sp>
          <p:sp>
            <p:nvSpPr>
              <p:cNvPr id="958" name="TextBox 27"/>
              <p:cNvSpPr txBox="1"/>
              <p:nvPr/>
            </p:nvSpPr>
            <p:spPr>
              <a:xfrm>
                <a:off x="0" y="1085850"/>
                <a:ext cx="501043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b="1"/>
                </a:lvl1pPr>
              </a:lstStyle>
              <a:p>
                <a:r>
                  <a:t>CM 3</a:t>
                </a:r>
              </a:p>
            </p:txBody>
          </p:sp>
          <p:sp>
            <p:nvSpPr>
              <p:cNvPr id="959" name="TextBox 28"/>
              <p:cNvSpPr txBox="1"/>
              <p:nvPr/>
            </p:nvSpPr>
            <p:spPr>
              <a:xfrm>
                <a:off x="0" y="1885950"/>
                <a:ext cx="501043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b="1"/>
                </a:lvl1pPr>
              </a:lstStyle>
              <a:p>
                <a:r>
                  <a:t>CM 4</a:t>
                </a:r>
              </a:p>
            </p:txBody>
          </p:sp>
          <p:sp>
            <p:nvSpPr>
              <p:cNvPr id="960" name="TextBox 29"/>
              <p:cNvSpPr txBox="1"/>
              <p:nvPr/>
            </p:nvSpPr>
            <p:spPr>
              <a:xfrm>
                <a:off x="0" y="2228850"/>
                <a:ext cx="501043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b="1"/>
                </a:lvl1pPr>
              </a:lstStyle>
              <a:p>
                <a:r>
                  <a:t>CM 5</a:t>
                </a:r>
              </a:p>
            </p:txBody>
          </p:sp>
          <p:sp>
            <p:nvSpPr>
              <p:cNvPr id="961" name="TextBox 30"/>
              <p:cNvSpPr txBox="1"/>
              <p:nvPr/>
            </p:nvSpPr>
            <p:spPr>
              <a:xfrm>
                <a:off x="0" y="2686050"/>
                <a:ext cx="501043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b="1"/>
                </a:lvl1pPr>
              </a:lstStyle>
              <a:p>
                <a:r>
                  <a:t>CM 6</a:t>
                </a:r>
              </a:p>
            </p:txBody>
          </p:sp>
          <p:sp>
            <p:nvSpPr>
              <p:cNvPr id="962" name="TextBox 31"/>
              <p:cNvSpPr txBox="1"/>
              <p:nvPr/>
            </p:nvSpPr>
            <p:spPr>
              <a:xfrm>
                <a:off x="0" y="3371850"/>
                <a:ext cx="501043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b="1"/>
                </a:lvl1pPr>
              </a:lstStyle>
              <a:p>
                <a:r>
                  <a:t>CM 7</a:t>
                </a:r>
              </a:p>
            </p:txBody>
          </p:sp>
        </p:grpSp>
        <p:sp>
          <p:nvSpPr>
            <p:cNvPr id="964" name="Straight Connector 35"/>
            <p:cNvSpPr/>
            <p:nvPr/>
          </p:nvSpPr>
          <p:spPr>
            <a:xfrm>
              <a:off x="582625" y="1771650"/>
              <a:ext cx="2734734" cy="1"/>
            </a:xfrm>
            <a:prstGeom prst="line">
              <a:avLst/>
            </a:prstGeom>
            <a:noFill/>
            <a:ln w="5715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65" name="Straight Connector 36"/>
            <p:cNvSpPr/>
            <p:nvPr/>
          </p:nvSpPr>
          <p:spPr>
            <a:xfrm>
              <a:off x="582625" y="4056477"/>
              <a:ext cx="2734734" cy="1"/>
            </a:xfrm>
            <a:prstGeom prst="line">
              <a:avLst/>
            </a:prstGeom>
            <a:noFill/>
            <a:ln w="5715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66" name="TextBox 37"/>
            <p:cNvSpPr txBox="1"/>
            <p:nvPr/>
          </p:nvSpPr>
          <p:spPr>
            <a:xfrm>
              <a:off x="3448556" y="1608951"/>
              <a:ext cx="128563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>
                  <a:solidFill>
                    <a:srgbClr val="FF0000"/>
                  </a:solid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967" name="TextBox 38"/>
            <p:cNvSpPr txBox="1"/>
            <p:nvPr/>
          </p:nvSpPr>
          <p:spPr>
            <a:xfrm>
              <a:off x="3448556" y="3917977"/>
              <a:ext cx="128563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>
                  <a:solidFill>
                    <a:srgbClr val="FF0000"/>
                  </a:solidFill>
                </a:defRPr>
              </a:lvl1pPr>
            </a:lstStyle>
            <a:p>
              <a:r>
                <a:t>2</a:t>
              </a:r>
            </a:p>
          </p:txBody>
        </p:sp>
      </p:grp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44</a:t>
            </a:fld>
            <a:endParaRPr/>
          </a:p>
        </p:txBody>
      </p:sp>
      <p:sp>
        <p:nvSpPr>
          <p:cNvPr id="971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BEAMnrc main inputs: scoring planes</a:t>
            </a:r>
          </a:p>
        </p:txBody>
      </p:sp>
      <p:pic>
        <p:nvPicPr>
          <p:cNvPr id="972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8077200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973" name="Rectangle 5"/>
          <p:cNvSpPr/>
          <p:nvPr/>
        </p:nvSpPr>
        <p:spPr>
          <a:xfrm>
            <a:off x="790111" y="2854376"/>
            <a:ext cx="3142696" cy="211112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974" name="Rectangle 6"/>
          <p:cNvSpPr/>
          <p:nvPr/>
        </p:nvSpPr>
        <p:spPr>
          <a:xfrm>
            <a:off x="4174245" y="4349891"/>
            <a:ext cx="4363005" cy="211112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975" name="Rectangle 39"/>
          <p:cNvSpPr/>
          <p:nvPr/>
        </p:nvSpPr>
        <p:spPr>
          <a:xfrm>
            <a:off x="381001" y="1117600"/>
            <a:ext cx="3577208" cy="460586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76" name="Picture 40" descr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62" y="1160076"/>
            <a:ext cx="3003083" cy="4610913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  <p:pic>
        <p:nvPicPr>
          <p:cNvPr id="977" name="Picture 41" descr="Picture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9705" y="1145136"/>
            <a:ext cx="4626271" cy="4626271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45</a:t>
            </a:fld>
            <a:endParaRPr/>
          </a:p>
        </p:txBody>
      </p:sp>
      <p:sp>
        <p:nvSpPr>
          <p:cNvPr id="980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BEAMnrc main inputs: scoring planes</a:t>
            </a:r>
          </a:p>
        </p:txBody>
      </p:sp>
      <p:pic>
        <p:nvPicPr>
          <p:cNvPr id="981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8077200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982" name="Rectangle 5"/>
          <p:cNvSpPr/>
          <p:nvPr/>
        </p:nvSpPr>
        <p:spPr>
          <a:xfrm>
            <a:off x="790111" y="2854376"/>
            <a:ext cx="3142696" cy="211112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983" name="Rectangle 6"/>
          <p:cNvSpPr/>
          <p:nvPr/>
        </p:nvSpPr>
        <p:spPr>
          <a:xfrm>
            <a:off x="4174245" y="4349891"/>
            <a:ext cx="4363005" cy="211112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46</a:t>
            </a:fld>
            <a:endParaRPr/>
          </a:p>
        </p:txBody>
      </p:sp>
      <p:grpSp>
        <p:nvGrpSpPr>
          <p:cNvPr id="1016" name="Group 43"/>
          <p:cNvGrpSpPr/>
          <p:nvPr/>
        </p:nvGrpSpPr>
        <p:grpSpPr>
          <a:xfrm>
            <a:off x="4696864" y="1355610"/>
            <a:ext cx="3577120" cy="4580186"/>
            <a:chOff x="0" y="0"/>
            <a:chExt cx="3577118" cy="4580185"/>
          </a:xfrm>
        </p:grpSpPr>
        <p:grpSp>
          <p:nvGrpSpPr>
            <p:cNvPr id="1011" name="Group 44"/>
            <p:cNvGrpSpPr/>
            <p:nvPr/>
          </p:nvGrpSpPr>
          <p:grpSpPr>
            <a:xfrm>
              <a:off x="-1" y="0"/>
              <a:ext cx="3122627" cy="4580186"/>
              <a:chOff x="0" y="0"/>
              <a:chExt cx="3122625" cy="4580185"/>
            </a:xfrm>
          </p:grpSpPr>
          <p:sp>
            <p:nvSpPr>
              <p:cNvPr id="986" name="Rectangle 49"/>
              <p:cNvSpPr/>
              <p:nvPr/>
            </p:nvSpPr>
            <p:spPr>
              <a:xfrm>
                <a:off x="722325" y="57150"/>
                <a:ext cx="2400301" cy="4000501"/>
              </a:xfrm>
              <a:prstGeom prst="rect">
                <a:avLst/>
              </a:prstGeom>
              <a:solidFill>
                <a:srgbClr val="CAF2C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87" name="Rectangle 50"/>
              <p:cNvSpPr/>
              <p:nvPr/>
            </p:nvSpPr>
            <p:spPr>
              <a:xfrm>
                <a:off x="722325" y="57150"/>
                <a:ext cx="2400301" cy="457201"/>
              </a:xfrm>
              <a:prstGeom prst="rect">
                <a:avLst/>
              </a:prstGeom>
              <a:solidFill>
                <a:srgbClr val="FAC09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88" name="Rectangle 51"/>
              <p:cNvSpPr/>
              <p:nvPr/>
            </p:nvSpPr>
            <p:spPr>
              <a:xfrm>
                <a:off x="722325" y="514350"/>
                <a:ext cx="2400301" cy="228601"/>
              </a:xfrm>
              <a:prstGeom prst="rect">
                <a:avLst/>
              </a:prstGeom>
              <a:solidFill>
                <a:srgbClr val="FAC09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89" name="Rectangle 52"/>
              <p:cNvSpPr/>
              <p:nvPr/>
            </p:nvSpPr>
            <p:spPr>
              <a:xfrm>
                <a:off x="722325" y="1200150"/>
                <a:ext cx="2400301" cy="571501"/>
              </a:xfrm>
              <a:prstGeom prst="rect">
                <a:avLst/>
              </a:prstGeom>
              <a:solidFill>
                <a:srgbClr val="FAC09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90" name="Rectangle 53"/>
              <p:cNvSpPr/>
              <p:nvPr/>
            </p:nvSpPr>
            <p:spPr>
              <a:xfrm>
                <a:off x="722325" y="2000250"/>
                <a:ext cx="2400301" cy="228601"/>
              </a:xfrm>
              <a:prstGeom prst="rect">
                <a:avLst/>
              </a:prstGeom>
              <a:solidFill>
                <a:srgbClr val="FAC09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91" name="Rectangle 54"/>
              <p:cNvSpPr/>
              <p:nvPr/>
            </p:nvSpPr>
            <p:spPr>
              <a:xfrm>
                <a:off x="722325" y="2228850"/>
                <a:ext cx="2400301" cy="342901"/>
              </a:xfrm>
              <a:prstGeom prst="rect">
                <a:avLst/>
              </a:prstGeom>
              <a:solidFill>
                <a:srgbClr val="FAC09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92" name="Rectangle 55"/>
              <p:cNvSpPr/>
              <p:nvPr/>
            </p:nvSpPr>
            <p:spPr>
              <a:xfrm>
                <a:off x="722325" y="2686050"/>
                <a:ext cx="2400301" cy="1371601"/>
              </a:xfrm>
              <a:prstGeom prst="rect">
                <a:avLst/>
              </a:prstGeom>
              <a:solidFill>
                <a:srgbClr val="FAC09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93" name="Rectangle 56"/>
              <p:cNvSpPr/>
              <p:nvPr/>
            </p:nvSpPr>
            <p:spPr>
              <a:xfrm>
                <a:off x="722325" y="57150"/>
                <a:ext cx="2400301" cy="457201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94" name="Rectangle 57"/>
              <p:cNvSpPr/>
              <p:nvPr/>
            </p:nvSpPr>
            <p:spPr>
              <a:xfrm>
                <a:off x="722325" y="514350"/>
                <a:ext cx="2400301" cy="228601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95" name="Rectangle 58"/>
              <p:cNvSpPr/>
              <p:nvPr/>
            </p:nvSpPr>
            <p:spPr>
              <a:xfrm>
                <a:off x="722325" y="742950"/>
                <a:ext cx="2400301" cy="1028701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96" name="Rectangle 59"/>
              <p:cNvSpPr/>
              <p:nvPr/>
            </p:nvSpPr>
            <p:spPr>
              <a:xfrm>
                <a:off x="722325" y="1771650"/>
                <a:ext cx="2400301" cy="457201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97" name="Rectangle 60"/>
              <p:cNvSpPr/>
              <p:nvPr/>
            </p:nvSpPr>
            <p:spPr>
              <a:xfrm>
                <a:off x="722325" y="2228850"/>
                <a:ext cx="2400301" cy="342901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98" name="Rectangle 61"/>
              <p:cNvSpPr/>
              <p:nvPr/>
            </p:nvSpPr>
            <p:spPr>
              <a:xfrm>
                <a:off x="722325" y="2571750"/>
                <a:ext cx="2400301" cy="457201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99" name="Rectangle 62"/>
              <p:cNvSpPr/>
              <p:nvPr/>
            </p:nvSpPr>
            <p:spPr>
              <a:xfrm>
                <a:off x="722325" y="3028950"/>
                <a:ext cx="2400301" cy="1028701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grpSp>
            <p:nvGrpSpPr>
              <p:cNvPr id="1003" name="Group 63"/>
              <p:cNvGrpSpPr/>
              <p:nvPr/>
            </p:nvGrpSpPr>
            <p:grpSpPr>
              <a:xfrm>
                <a:off x="1865325" y="0"/>
                <a:ext cx="355601" cy="4580186"/>
                <a:chOff x="0" y="0"/>
                <a:chExt cx="355600" cy="4580185"/>
              </a:xfrm>
            </p:grpSpPr>
            <p:sp>
              <p:nvSpPr>
                <p:cNvPr id="1000" name="Oval 71"/>
                <p:cNvSpPr/>
                <p:nvPr/>
              </p:nvSpPr>
              <p:spPr>
                <a:xfrm>
                  <a:off x="0" y="0"/>
                  <a:ext cx="114300" cy="114300"/>
                </a:xfrm>
                <a:prstGeom prst="ellipse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001" name="Straight Arrow Connector 72"/>
                <p:cNvSpPr/>
                <p:nvPr/>
              </p:nvSpPr>
              <p:spPr>
                <a:xfrm flipH="1">
                  <a:off x="57149" y="114299"/>
                  <a:ext cx="2" cy="4328585"/>
                </a:xfrm>
                <a:prstGeom prst="line">
                  <a:avLst/>
                </a:prstGeom>
                <a:noFill/>
                <a:ln w="28575" cap="flat">
                  <a:solidFill>
                    <a:srgbClr val="000000"/>
                  </a:solidFill>
                  <a:prstDash val="solid"/>
                  <a:round/>
                  <a:tailEnd type="stealth" w="med" len="med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1002" name="TextBox 73"/>
                <p:cNvSpPr txBox="1"/>
                <p:nvPr/>
              </p:nvSpPr>
              <p:spPr>
                <a:xfrm>
                  <a:off x="228600" y="4286250"/>
                  <a:ext cx="127001" cy="29393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0" tIns="0" rIns="0" bIns="0" numCol="1" anchor="t">
                  <a:spAutoFit/>
                </a:bodyPr>
                <a:lstStyle>
                  <a:lvl1pPr>
                    <a:defRPr sz="2200"/>
                  </a:lvl1pPr>
                </a:lstStyle>
                <a:p>
                  <a:r>
                    <a:t>z</a:t>
                  </a:r>
                </a:p>
              </p:txBody>
            </p:sp>
          </p:grpSp>
          <p:sp>
            <p:nvSpPr>
              <p:cNvPr id="1004" name="TextBox 64"/>
              <p:cNvSpPr txBox="1"/>
              <p:nvPr/>
            </p:nvSpPr>
            <p:spPr>
              <a:xfrm>
                <a:off x="0" y="171449"/>
                <a:ext cx="501043" cy="24164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b="1"/>
                </a:lvl1pPr>
              </a:lstStyle>
              <a:p>
                <a:r>
                  <a:t>CM 1</a:t>
                </a:r>
              </a:p>
            </p:txBody>
          </p:sp>
          <p:sp>
            <p:nvSpPr>
              <p:cNvPr id="1005" name="TextBox 65"/>
              <p:cNvSpPr txBox="1"/>
              <p:nvPr/>
            </p:nvSpPr>
            <p:spPr>
              <a:xfrm>
                <a:off x="0" y="514350"/>
                <a:ext cx="501043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b="1"/>
                </a:lvl1pPr>
              </a:lstStyle>
              <a:p>
                <a:r>
                  <a:t>CM 2</a:t>
                </a:r>
              </a:p>
            </p:txBody>
          </p:sp>
          <p:sp>
            <p:nvSpPr>
              <p:cNvPr id="1006" name="TextBox 66"/>
              <p:cNvSpPr txBox="1"/>
              <p:nvPr/>
            </p:nvSpPr>
            <p:spPr>
              <a:xfrm>
                <a:off x="0" y="1085850"/>
                <a:ext cx="501043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b="1"/>
                </a:lvl1pPr>
              </a:lstStyle>
              <a:p>
                <a:r>
                  <a:t>CM 3</a:t>
                </a:r>
              </a:p>
            </p:txBody>
          </p:sp>
          <p:sp>
            <p:nvSpPr>
              <p:cNvPr id="1007" name="TextBox 67"/>
              <p:cNvSpPr txBox="1"/>
              <p:nvPr/>
            </p:nvSpPr>
            <p:spPr>
              <a:xfrm>
                <a:off x="0" y="1885950"/>
                <a:ext cx="501043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b="1"/>
                </a:lvl1pPr>
              </a:lstStyle>
              <a:p>
                <a:r>
                  <a:t>CM 4</a:t>
                </a:r>
              </a:p>
            </p:txBody>
          </p:sp>
          <p:sp>
            <p:nvSpPr>
              <p:cNvPr id="1008" name="TextBox 68"/>
              <p:cNvSpPr txBox="1"/>
              <p:nvPr/>
            </p:nvSpPr>
            <p:spPr>
              <a:xfrm>
                <a:off x="0" y="2228850"/>
                <a:ext cx="501043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b="1"/>
                </a:lvl1pPr>
              </a:lstStyle>
              <a:p>
                <a:r>
                  <a:t>CM 5</a:t>
                </a:r>
              </a:p>
            </p:txBody>
          </p:sp>
          <p:sp>
            <p:nvSpPr>
              <p:cNvPr id="1009" name="TextBox 69"/>
              <p:cNvSpPr txBox="1"/>
              <p:nvPr/>
            </p:nvSpPr>
            <p:spPr>
              <a:xfrm>
                <a:off x="0" y="2686050"/>
                <a:ext cx="501043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b="1"/>
                </a:lvl1pPr>
              </a:lstStyle>
              <a:p>
                <a:r>
                  <a:t>CM 6</a:t>
                </a:r>
              </a:p>
            </p:txBody>
          </p:sp>
          <p:sp>
            <p:nvSpPr>
              <p:cNvPr id="1010" name="TextBox 70"/>
              <p:cNvSpPr txBox="1"/>
              <p:nvPr/>
            </p:nvSpPr>
            <p:spPr>
              <a:xfrm>
                <a:off x="0" y="3371850"/>
                <a:ext cx="501043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b="1"/>
                </a:lvl1pPr>
              </a:lstStyle>
              <a:p>
                <a:r>
                  <a:t>CM 7</a:t>
                </a:r>
              </a:p>
            </p:txBody>
          </p:sp>
        </p:grpSp>
        <p:sp>
          <p:nvSpPr>
            <p:cNvPr id="1012" name="Straight Connector 45"/>
            <p:cNvSpPr/>
            <p:nvPr/>
          </p:nvSpPr>
          <p:spPr>
            <a:xfrm>
              <a:off x="582625" y="1771650"/>
              <a:ext cx="2734734" cy="1"/>
            </a:xfrm>
            <a:prstGeom prst="line">
              <a:avLst/>
            </a:prstGeom>
            <a:noFill/>
            <a:ln w="5715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13" name="Straight Connector 46"/>
            <p:cNvSpPr/>
            <p:nvPr/>
          </p:nvSpPr>
          <p:spPr>
            <a:xfrm>
              <a:off x="582625" y="4056477"/>
              <a:ext cx="2734734" cy="1"/>
            </a:xfrm>
            <a:prstGeom prst="line">
              <a:avLst/>
            </a:prstGeom>
            <a:noFill/>
            <a:ln w="5715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14" name="TextBox 47"/>
            <p:cNvSpPr txBox="1"/>
            <p:nvPr/>
          </p:nvSpPr>
          <p:spPr>
            <a:xfrm>
              <a:off x="3448556" y="1608951"/>
              <a:ext cx="128563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>
                  <a:solidFill>
                    <a:srgbClr val="FF0000"/>
                  </a:solid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1015" name="TextBox 48"/>
            <p:cNvSpPr txBox="1"/>
            <p:nvPr/>
          </p:nvSpPr>
          <p:spPr>
            <a:xfrm>
              <a:off x="3448556" y="3917977"/>
              <a:ext cx="128563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>
                  <a:solidFill>
                    <a:srgbClr val="FF0000"/>
                  </a:solidFill>
                </a:defRPr>
              </a:lvl1pPr>
            </a:lstStyle>
            <a:p>
              <a:r>
                <a:t>2</a:t>
              </a:r>
            </a:p>
          </p:txBody>
        </p:sp>
      </p:grpSp>
      <p:pic>
        <p:nvPicPr>
          <p:cNvPr id="1017" name="Picture 2" descr="Picture 2"/>
          <p:cNvPicPr>
            <a:picLocks noChangeAspect="1"/>
          </p:cNvPicPr>
          <p:nvPr/>
        </p:nvPicPr>
        <p:blipFill>
          <a:blip r:embed="rId2"/>
          <a:srcRect r="57208"/>
          <a:stretch>
            <a:fillRect/>
          </a:stretch>
        </p:blipFill>
        <p:spPr>
          <a:xfrm>
            <a:off x="533399" y="1295400"/>
            <a:ext cx="3456434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1018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By default, phase space is stored at scoring planes</a:t>
            </a:r>
          </a:p>
        </p:txBody>
      </p:sp>
      <p:sp>
        <p:nvSpPr>
          <p:cNvPr id="1019" name="Rectangle 6"/>
          <p:cNvSpPr/>
          <p:nvPr/>
        </p:nvSpPr>
        <p:spPr>
          <a:xfrm>
            <a:off x="790111" y="2855495"/>
            <a:ext cx="3142696" cy="211112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020" name="Rectangle 9"/>
          <p:cNvSpPr/>
          <p:nvPr/>
        </p:nvSpPr>
        <p:spPr>
          <a:xfrm>
            <a:off x="554305" y="5750466"/>
            <a:ext cx="754127" cy="284227"/>
          </a:xfrm>
          <a:prstGeom prst="rect">
            <a:avLst/>
          </a:prstGeom>
          <a:solidFill>
            <a:srgbClr val="F2DCDB"/>
          </a:solidFill>
          <a:ln w="19050"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8288" tIns="18288" rIns="18288" bIns="18288">
            <a:spAutoFit/>
          </a:bodyPr>
          <a:lstStyle>
            <a:lvl1pPr>
              <a:defRPr>
                <a:solidFill>
                  <a:srgbClr val="FF0000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lvl1pPr>
          </a:lstStyle>
          <a:p>
            <a:r>
              <a:t>IO_OPT</a:t>
            </a:r>
          </a:p>
        </p:txBody>
      </p:sp>
      <p:pic>
        <p:nvPicPr>
          <p:cNvPr id="1021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451" y="2825830"/>
            <a:ext cx="3785716" cy="1571430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1" grpId="1" animBg="1" advAuto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47</a:t>
            </a:fld>
            <a:endParaRPr/>
          </a:p>
        </p:txBody>
      </p:sp>
      <p:grpSp>
        <p:nvGrpSpPr>
          <p:cNvPr id="1054" name="Group 12"/>
          <p:cNvGrpSpPr/>
          <p:nvPr/>
        </p:nvGrpSpPr>
        <p:grpSpPr>
          <a:xfrm>
            <a:off x="4696864" y="1355610"/>
            <a:ext cx="3577120" cy="4580186"/>
            <a:chOff x="0" y="0"/>
            <a:chExt cx="3577118" cy="4580185"/>
          </a:xfrm>
        </p:grpSpPr>
        <p:grpSp>
          <p:nvGrpSpPr>
            <p:cNvPr id="1049" name="Group 13"/>
            <p:cNvGrpSpPr/>
            <p:nvPr/>
          </p:nvGrpSpPr>
          <p:grpSpPr>
            <a:xfrm>
              <a:off x="-1" y="0"/>
              <a:ext cx="3122627" cy="4580186"/>
              <a:chOff x="0" y="0"/>
              <a:chExt cx="3122625" cy="4580185"/>
            </a:xfrm>
          </p:grpSpPr>
          <p:sp>
            <p:nvSpPr>
              <p:cNvPr id="1024" name="Rectangle 18"/>
              <p:cNvSpPr/>
              <p:nvPr/>
            </p:nvSpPr>
            <p:spPr>
              <a:xfrm>
                <a:off x="722325" y="57150"/>
                <a:ext cx="2400301" cy="4000501"/>
              </a:xfrm>
              <a:prstGeom prst="rect">
                <a:avLst/>
              </a:prstGeom>
              <a:solidFill>
                <a:srgbClr val="CAF2C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25" name="Rectangle 19"/>
              <p:cNvSpPr/>
              <p:nvPr/>
            </p:nvSpPr>
            <p:spPr>
              <a:xfrm>
                <a:off x="722325" y="57150"/>
                <a:ext cx="2400301" cy="457201"/>
              </a:xfrm>
              <a:prstGeom prst="rect">
                <a:avLst/>
              </a:prstGeom>
              <a:solidFill>
                <a:srgbClr val="FAC09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26" name="Rectangle 20"/>
              <p:cNvSpPr/>
              <p:nvPr/>
            </p:nvSpPr>
            <p:spPr>
              <a:xfrm>
                <a:off x="722325" y="514350"/>
                <a:ext cx="2400301" cy="228601"/>
              </a:xfrm>
              <a:prstGeom prst="rect">
                <a:avLst/>
              </a:prstGeom>
              <a:solidFill>
                <a:srgbClr val="FAC09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27" name="Rectangle 21"/>
              <p:cNvSpPr/>
              <p:nvPr/>
            </p:nvSpPr>
            <p:spPr>
              <a:xfrm>
                <a:off x="722325" y="1200150"/>
                <a:ext cx="2400301" cy="571501"/>
              </a:xfrm>
              <a:prstGeom prst="rect">
                <a:avLst/>
              </a:prstGeom>
              <a:solidFill>
                <a:srgbClr val="FAC09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28" name="Rectangle 22"/>
              <p:cNvSpPr/>
              <p:nvPr/>
            </p:nvSpPr>
            <p:spPr>
              <a:xfrm>
                <a:off x="722325" y="2000250"/>
                <a:ext cx="2400301" cy="228601"/>
              </a:xfrm>
              <a:prstGeom prst="rect">
                <a:avLst/>
              </a:prstGeom>
              <a:solidFill>
                <a:srgbClr val="FAC09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29" name="Rectangle 24"/>
              <p:cNvSpPr/>
              <p:nvPr/>
            </p:nvSpPr>
            <p:spPr>
              <a:xfrm>
                <a:off x="722325" y="2228850"/>
                <a:ext cx="2400301" cy="342901"/>
              </a:xfrm>
              <a:prstGeom prst="rect">
                <a:avLst/>
              </a:prstGeom>
              <a:solidFill>
                <a:srgbClr val="FAC09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30" name="Rectangle 25"/>
              <p:cNvSpPr/>
              <p:nvPr/>
            </p:nvSpPr>
            <p:spPr>
              <a:xfrm>
                <a:off x="722325" y="2686050"/>
                <a:ext cx="2400301" cy="1371601"/>
              </a:xfrm>
              <a:prstGeom prst="rect">
                <a:avLst/>
              </a:prstGeom>
              <a:solidFill>
                <a:srgbClr val="FAC09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31" name="Rectangle 26"/>
              <p:cNvSpPr/>
              <p:nvPr/>
            </p:nvSpPr>
            <p:spPr>
              <a:xfrm>
                <a:off x="722325" y="57150"/>
                <a:ext cx="2400301" cy="457201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32" name="Rectangle 27"/>
              <p:cNvSpPr/>
              <p:nvPr/>
            </p:nvSpPr>
            <p:spPr>
              <a:xfrm>
                <a:off x="722325" y="514350"/>
                <a:ext cx="2400301" cy="228601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33" name="Rectangle 28"/>
              <p:cNvSpPr/>
              <p:nvPr/>
            </p:nvSpPr>
            <p:spPr>
              <a:xfrm>
                <a:off x="722325" y="742950"/>
                <a:ext cx="2400301" cy="1028701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34" name="Rectangle 29"/>
              <p:cNvSpPr/>
              <p:nvPr/>
            </p:nvSpPr>
            <p:spPr>
              <a:xfrm>
                <a:off x="722325" y="1771650"/>
                <a:ext cx="2400301" cy="457201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35" name="Rectangle 30"/>
              <p:cNvSpPr/>
              <p:nvPr/>
            </p:nvSpPr>
            <p:spPr>
              <a:xfrm>
                <a:off x="722325" y="2228850"/>
                <a:ext cx="2400301" cy="342901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36" name="Rectangle 31"/>
              <p:cNvSpPr/>
              <p:nvPr/>
            </p:nvSpPr>
            <p:spPr>
              <a:xfrm>
                <a:off x="722325" y="2571750"/>
                <a:ext cx="2400301" cy="457201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37" name="Rectangle 32"/>
              <p:cNvSpPr/>
              <p:nvPr/>
            </p:nvSpPr>
            <p:spPr>
              <a:xfrm>
                <a:off x="722325" y="3028950"/>
                <a:ext cx="2400301" cy="1028701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grpSp>
            <p:nvGrpSpPr>
              <p:cNvPr id="1041" name="Group 33"/>
              <p:cNvGrpSpPr/>
              <p:nvPr/>
            </p:nvGrpSpPr>
            <p:grpSpPr>
              <a:xfrm>
                <a:off x="1865325" y="0"/>
                <a:ext cx="355601" cy="4580186"/>
                <a:chOff x="0" y="0"/>
                <a:chExt cx="355600" cy="4580185"/>
              </a:xfrm>
            </p:grpSpPr>
            <p:sp>
              <p:nvSpPr>
                <p:cNvPr id="1038" name="Oval 41"/>
                <p:cNvSpPr/>
                <p:nvPr/>
              </p:nvSpPr>
              <p:spPr>
                <a:xfrm>
                  <a:off x="0" y="0"/>
                  <a:ext cx="114300" cy="114300"/>
                </a:xfrm>
                <a:prstGeom prst="ellipse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039" name="Straight Arrow Connector 42"/>
                <p:cNvSpPr/>
                <p:nvPr/>
              </p:nvSpPr>
              <p:spPr>
                <a:xfrm flipH="1">
                  <a:off x="57149" y="114299"/>
                  <a:ext cx="2" cy="4328585"/>
                </a:xfrm>
                <a:prstGeom prst="line">
                  <a:avLst/>
                </a:prstGeom>
                <a:noFill/>
                <a:ln w="28575" cap="flat">
                  <a:solidFill>
                    <a:srgbClr val="000000"/>
                  </a:solidFill>
                  <a:prstDash val="solid"/>
                  <a:round/>
                  <a:tailEnd type="stealth" w="med" len="med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1040" name="TextBox 43"/>
                <p:cNvSpPr txBox="1"/>
                <p:nvPr/>
              </p:nvSpPr>
              <p:spPr>
                <a:xfrm>
                  <a:off x="228600" y="4286250"/>
                  <a:ext cx="127001" cy="29393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0" tIns="0" rIns="0" bIns="0" numCol="1" anchor="t">
                  <a:spAutoFit/>
                </a:bodyPr>
                <a:lstStyle>
                  <a:lvl1pPr>
                    <a:defRPr sz="2200"/>
                  </a:lvl1pPr>
                </a:lstStyle>
                <a:p>
                  <a:r>
                    <a:t>z</a:t>
                  </a:r>
                </a:p>
              </p:txBody>
            </p:sp>
          </p:grpSp>
          <p:sp>
            <p:nvSpPr>
              <p:cNvPr id="1042" name="TextBox 34"/>
              <p:cNvSpPr txBox="1"/>
              <p:nvPr/>
            </p:nvSpPr>
            <p:spPr>
              <a:xfrm>
                <a:off x="0" y="171449"/>
                <a:ext cx="501043" cy="24164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b="1"/>
                </a:lvl1pPr>
              </a:lstStyle>
              <a:p>
                <a:r>
                  <a:t>CM 1</a:t>
                </a:r>
              </a:p>
            </p:txBody>
          </p:sp>
          <p:sp>
            <p:nvSpPr>
              <p:cNvPr id="1043" name="TextBox 35"/>
              <p:cNvSpPr txBox="1"/>
              <p:nvPr/>
            </p:nvSpPr>
            <p:spPr>
              <a:xfrm>
                <a:off x="0" y="514350"/>
                <a:ext cx="501043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b="1"/>
                </a:lvl1pPr>
              </a:lstStyle>
              <a:p>
                <a:r>
                  <a:t>CM 2</a:t>
                </a:r>
              </a:p>
            </p:txBody>
          </p:sp>
          <p:sp>
            <p:nvSpPr>
              <p:cNvPr id="1044" name="TextBox 36"/>
              <p:cNvSpPr txBox="1"/>
              <p:nvPr/>
            </p:nvSpPr>
            <p:spPr>
              <a:xfrm>
                <a:off x="0" y="1085850"/>
                <a:ext cx="501043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b="1"/>
                </a:lvl1pPr>
              </a:lstStyle>
              <a:p>
                <a:r>
                  <a:t>CM 3</a:t>
                </a:r>
              </a:p>
            </p:txBody>
          </p:sp>
          <p:sp>
            <p:nvSpPr>
              <p:cNvPr id="1045" name="TextBox 37"/>
              <p:cNvSpPr txBox="1"/>
              <p:nvPr/>
            </p:nvSpPr>
            <p:spPr>
              <a:xfrm>
                <a:off x="0" y="1885950"/>
                <a:ext cx="501043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b="1"/>
                </a:lvl1pPr>
              </a:lstStyle>
              <a:p>
                <a:r>
                  <a:t>CM 4</a:t>
                </a:r>
              </a:p>
            </p:txBody>
          </p:sp>
          <p:sp>
            <p:nvSpPr>
              <p:cNvPr id="1046" name="TextBox 38"/>
              <p:cNvSpPr txBox="1"/>
              <p:nvPr/>
            </p:nvSpPr>
            <p:spPr>
              <a:xfrm>
                <a:off x="0" y="2228850"/>
                <a:ext cx="501043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b="1"/>
                </a:lvl1pPr>
              </a:lstStyle>
              <a:p>
                <a:r>
                  <a:t>CM 5</a:t>
                </a:r>
              </a:p>
            </p:txBody>
          </p:sp>
          <p:sp>
            <p:nvSpPr>
              <p:cNvPr id="1047" name="TextBox 39"/>
              <p:cNvSpPr txBox="1"/>
              <p:nvPr/>
            </p:nvSpPr>
            <p:spPr>
              <a:xfrm>
                <a:off x="0" y="2686050"/>
                <a:ext cx="501043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b="1"/>
                </a:lvl1pPr>
              </a:lstStyle>
              <a:p>
                <a:r>
                  <a:t>CM 6</a:t>
                </a:r>
              </a:p>
            </p:txBody>
          </p:sp>
          <p:sp>
            <p:nvSpPr>
              <p:cNvPr id="1048" name="TextBox 40"/>
              <p:cNvSpPr txBox="1"/>
              <p:nvPr/>
            </p:nvSpPr>
            <p:spPr>
              <a:xfrm>
                <a:off x="0" y="3371850"/>
                <a:ext cx="501043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b="1"/>
                </a:lvl1pPr>
              </a:lstStyle>
              <a:p>
                <a:r>
                  <a:t>CM 7</a:t>
                </a:r>
              </a:p>
            </p:txBody>
          </p:sp>
        </p:grpSp>
        <p:sp>
          <p:nvSpPr>
            <p:cNvPr id="1050" name="Straight Connector 14"/>
            <p:cNvSpPr/>
            <p:nvPr/>
          </p:nvSpPr>
          <p:spPr>
            <a:xfrm>
              <a:off x="582625" y="1771650"/>
              <a:ext cx="2734734" cy="1"/>
            </a:xfrm>
            <a:prstGeom prst="line">
              <a:avLst/>
            </a:prstGeom>
            <a:noFill/>
            <a:ln w="5715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51" name="Straight Connector 15"/>
            <p:cNvSpPr/>
            <p:nvPr/>
          </p:nvSpPr>
          <p:spPr>
            <a:xfrm>
              <a:off x="582625" y="4056477"/>
              <a:ext cx="2734734" cy="1"/>
            </a:xfrm>
            <a:prstGeom prst="line">
              <a:avLst/>
            </a:prstGeom>
            <a:noFill/>
            <a:ln w="5715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52" name="TextBox 16"/>
            <p:cNvSpPr txBox="1"/>
            <p:nvPr/>
          </p:nvSpPr>
          <p:spPr>
            <a:xfrm>
              <a:off x="3448556" y="1608951"/>
              <a:ext cx="128563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>
                  <a:solidFill>
                    <a:srgbClr val="FF0000"/>
                  </a:solid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1053" name="TextBox 17"/>
            <p:cNvSpPr txBox="1"/>
            <p:nvPr/>
          </p:nvSpPr>
          <p:spPr>
            <a:xfrm>
              <a:off x="3448556" y="3917977"/>
              <a:ext cx="128563" cy="24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="1">
                  <a:solidFill>
                    <a:srgbClr val="FF0000"/>
                  </a:solidFill>
                </a:defRPr>
              </a:lvl1pPr>
            </a:lstStyle>
            <a:p>
              <a:r>
                <a:t>2</a:t>
              </a:r>
            </a:p>
          </p:txBody>
        </p:sp>
      </p:grpSp>
      <p:pic>
        <p:nvPicPr>
          <p:cNvPr id="1055" name="Picture 2" descr="Picture 2"/>
          <p:cNvPicPr>
            <a:picLocks noChangeAspect="1"/>
          </p:cNvPicPr>
          <p:nvPr/>
        </p:nvPicPr>
        <p:blipFill>
          <a:blip r:embed="rId2"/>
          <a:srcRect r="57208"/>
          <a:stretch>
            <a:fillRect/>
          </a:stretch>
        </p:blipFill>
        <p:spPr>
          <a:xfrm>
            <a:off x="533399" y="1295400"/>
            <a:ext cx="3456434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1056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By default, phase space is stored at scoring planes</a:t>
            </a:r>
          </a:p>
        </p:txBody>
      </p:sp>
      <p:sp>
        <p:nvSpPr>
          <p:cNvPr id="1057" name="Rectangle 6"/>
          <p:cNvSpPr/>
          <p:nvPr/>
        </p:nvSpPr>
        <p:spPr>
          <a:xfrm>
            <a:off x="790111" y="2855495"/>
            <a:ext cx="3142696" cy="211112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1058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451" y="2825830"/>
            <a:ext cx="3785716" cy="1571430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  <p:sp>
        <p:nvSpPr>
          <p:cNvPr id="1059" name="Rectangle 9"/>
          <p:cNvSpPr/>
          <p:nvPr/>
        </p:nvSpPr>
        <p:spPr>
          <a:xfrm>
            <a:off x="554305" y="5750466"/>
            <a:ext cx="754127" cy="284227"/>
          </a:xfrm>
          <a:prstGeom prst="rect">
            <a:avLst/>
          </a:prstGeom>
          <a:solidFill>
            <a:srgbClr val="F2DCDB"/>
          </a:solidFill>
          <a:ln w="19050"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8288" tIns="18288" rIns="18288" bIns="18288">
            <a:spAutoFit/>
          </a:bodyPr>
          <a:lstStyle>
            <a:lvl1pPr>
              <a:defRPr>
                <a:solidFill>
                  <a:srgbClr val="FF0000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lvl1pPr>
          </a:lstStyle>
          <a:p>
            <a:r>
              <a:t>IO_OPT</a:t>
            </a:r>
          </a:p>
        </p:txBody>
      </p:sp>
      <p:graphicFrame>
        <p:nvGraphicFramePr>
          <p:cNvPr id="1060" name="Table 7"/>
          <p:cNvGraphicFramePr/>
          <p:nvPr/>
        </p:nvGraphicFramePr>
        <p:xfrm>
          <a:off x="1676102" y="2826153"/>
          <a:ext cx="3861209" cy="1556102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1133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7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016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chemeClr val="accent1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File names</a:t>
                      </a:r>
                    </a:p>
                  </a:txBody>
                  <a:tcPr marL="45720" marR="45720" anchor="ctr" horzOverflow="overflow">
                    <a:lnR w="12700">
                      <a:solidFill>
                        <a:schemeClr val="accent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5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EGSnrc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chemeClr val="accent1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inputfile.egsphsp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45720" marR="45720" anchor="ctr" horzOverflow="overflow">
                    <a:lnR w="12700">
                      <a:solidFill>
                        <a:schemeClr val="accent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5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IAEA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chemeClr val="accent1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inputfile.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b="1"/>
                        <a:t>.IAEAheader</a:t>
                      </a:r>
                    </a:p>
                    <a:p>
                      <a:pPr algn="l">
                        <a:defRPr sz="1800"/>
                      </a:pPr>
                      <a:r>
                        <a:t>inputfile.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b="1"/>
                        <a:t>.IAEAphsp</a:t>
                      </a:r>
                    </a:p>
                  </a:txBody>
                  <a:tcPr marL="45720" marR="45720" anchor="ctr" horzOverflow="overflow">
                    <a:lnR w="12700">
                      <a:solidFill>
                        <a:schemeClr val="accent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83599" y="6248399"/>
            <a:ext cx="12700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48</a:t>
            </a:fld>
            <a:endParaRPr/>
          </a:p>
        </p:txBody>
      </p:sp>
      <p:pic>
        <p:nvPicPr>
          <p:cNvPr id="1063" name="Picture 2" descr="Picture 2"/>
          <p:cNvPicPr>
            <a:picLocks noChangeAspect="1"/>
          </p:cNvPicPr>
          <p:nvPr/>
        </p:nvPicPr>
        <p:blipFill>
          <a:blip r:embed="rId2"/>
          <a:srcRect r="57208"/>
          <a:stretch>
            <a:fillRect/>
          </a:stretch>
        </p:blipFill>
        <p:spPr>
          <a:xfrm>
            <a:off x="533399" y="1295400"/>
            <a:ext cx="3456434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1064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Inspect particle histories in detail with IWATCH</a:t>
            </a:r>
          </a:p>
        </p:txBody>
      </p:sp>
      <p:pic>
        <p:nvPicPr>
          <p:cNvPr id="1065" name="Picture 3" descr="Picture 3"/>
          <p:cNvPicPr>
            <a:picLocks noChangeAspect="1"/>
          </p:cNvPicPr>
          <p:nvPr/>
        </p:nvPicPr>
        <p:blipFill>
          <a:blip r:embed="rId3"/>
          <a:srcRect t="1" b="43215"/>
          <a:stretch>
            <a:fillRect/>
          </a:stretch>
        </p:blipFill>
        <p:spPr>
          <a:xfrm>
            <a:off x="1970076" y="3386173"/>
            <a:ext cx="6648992" cy="2535447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  <p:grpSp>
        <p:nvGrpSpPr>
          <p:cNvPr id="1068" name="Group 2"/>
          <p:cNvGrpSpPr/>
          <p:nvPr/>
        </p:nvGrpSpPr>
        <p:grpSpPr>
          <a:xfrm>
            <a:off x="3549008" y="2651380"/>
            <a:ext cx="4748326" cy="379686"/>
            <a:chOff x="0" y="0"/>
            <a:chExt cx="4748324" cy="379685"/>
          </a:xfrm>
        </p:grpSpPr>
        <p:sp>
          <p:nvSpPr>
            <p:cNvPr id="1066" name="TextBox 10"/>
            <p:cNvSpPr txBox="1"/>
            <p:nvPr/>
          </p:nvSpPr>
          <p:spPr>
            <a:xfrm>
              <a:off x="329587" y="1814"/>
              <a:ext cx="4418738" cy="3484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2400" b="1"/>
              </a:pPr>
              <a:r>
                <a:t>Output to screen or </a:t>
              </a:r>
              <a:r>
                <a:rPr b="0">
                  <a:solidFill>
                    <a:srgbClr val="0000FF"/>
                  </a:solidFill>
                  <a:latin typeface="Inconsolata Regular Bold"/>
                  <a:ea typeface="Inconsolata Regular Bold"/>
                  <a:cs typeface="Inconsolata Regular Bold"/>
                  <a:sym typeface="Inconsolata Regular Bold"/>
                </a:rPr>
                <a:t>.egslog </a:t>
              </a:r>
              <a:r>
                <a:t>file</a:t>
              </a:r>
            </a:p>
          </p:txBody>
        </p:sp>
        <p:sp>
          <p:nvSpPr>
            <p:cNvPr id="1067" name="Right Brace 19"/>
            <p:cNvSpPr/>
            <p:nvPr/>
          </p:nvSpPr>
          <p:spPr>
            <a:xfrm>
              <a:off x="0" y="-1"/>
              <a:ext cx="193641" cy="3796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965" y="0"/>
                    <a:pt x="10800" y="1586"/>
                    <a:pt x="10800" y="3543"/>
                  </a:cubicBezTo>
                  <a:lnTo>
                    <a:pt x="10800" y="7257"/>
                  </a:lnTo>
                  <a:cubicBezTo>
                    <a:pt x="10800" y="9214"/>
                    <a:pt x="15635" y="10800"/>
                    <a:pt x="21600" y="10800"/>
                  </a:cubicBezTo>
                  <a:cubicBezTo>
                    <a:pt x="15635" y="10800"/>
                    <a:pt x="10800" y="12386"/>
                    <a:pt x="10800" y="14343"/>
                  </a:cubicBezTo>
                  <a:lnTo>
                    <a:pt x="10800" y="18057"/>
                  </a:lnTo>
                  <a:cubicBezTo>
                    <a:pt x="10800" y="20014"/>
                    <a:pt x="5965" y="21600"/>
                    <a:pt x="0" y="21600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</p:grpSp>
      <p:sp>
        <p:nvSpPr>
          <p:cNvPr id="1069" name="Rectangle 6"/>
          <p:cNvSpPr/>
          <p:nvPr/>
        </p:nvSpPr>
        <p:spPr>
          <a:xfrm>
            <a:off x="790111" y="2059618"/>
            <a:ext cx="3142696" cy="211112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1070" name="Picture 2" descr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675" y="2019154"/>
            <a:ext cx="3785716" cy="1583335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  <p:sp>
        <p:nvSpPr>
          <p:cNvPr id="1071" name="Rectangle 12"/>
          <p:cNvSpPr/>
          <p:nvPr/>
        </p:nvSpPr>
        <p:spPr>
          <a:xfrm>
            <a:off x="554305" y="5750466"/>
            <a:ext cx="754127" cy="284227"/>
          </a:xfrm>
          <a:prstGeom prst="rect">
            <a:avLst/>
          </a:prstGeom>
          <a:solidFill>
            <a:srgbClr val="F2DCDB"/>
          </a:solidFill>
          <a:ln w="19050"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8288" tIns="18288" rIns="18288" bIns="18288">
            <a:spAutoFit/>
          </a:bodyPr>
          <a:lstStyle>
            <a:lvl1pPr>
              <a:defRPr>
                <a:solidFill>
                  <a:srgbClr val="FF0000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lvl1pPr>
          </a:lstStyle>
          <a:p>
            <a:r>
              <a:t>IWATCH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" grpId="3" animBg="1" advAuto="0"/>
      <p:bldP spid="1068" grpId="2" animBg="1" advAuto="0"/>
      <p:bldP spid="1070" grpId="1" animBg="1" advAuto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83599" y="6248399"/>
            <a:ext cx="12700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49</a:t>
            </a:fld>
            <a:endParaRPr/>
          </a:p>
        </p:txBody>
      </p:sp>
      <p:pic>
        <p:nvPicPr>
          <p:cNvPr id="1074" name="Picture 2" descr="Picture 2"/>
          <p:cNvPicPr>
            <a:picLocks noChangeAspect="1"/>
          </p:cNvPicPr>
          <p:nvPr/>
        </p:nvPicPr>
        <p:blipFill>
          <a:blip r:embed="rId2"/>
          <a:srcRect r="57208"/>
          <a:stretch>
            <a:fillRect/>
          </a:stretch>
        </p:blipFill>
        <p:spPr>
          <a:xfrm>
            <a:off x="533399" y="1295400"/>
            <a:ext cx="3456434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1075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Data arrays must be stored for recovery</a:t>
            </a:r>
          </a:p>
        </p:txBody>
      </p:sp>
      <p:sp>
        <p:nvSpPr>
          <p:cNvPr id="1076" name="Rectangle 6"/>
          <p:cNvSpPr/>
          <p:nvPr/>
        </p:nvSpPr>
        <p:spPr>
          <a:xfrm>
            <a:off x="790111" y="2593028"/>
            <a:ext cx="3142696" cy="211112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077" name="Rectangle 7"/>
          <p:cNvSpPr/>
          <p:nvPr/>
        </p:nvSpPr>
        <p:spPr>
          <a:xfrm>
            <a:off x="790111" y="3126428"/>
            <a:ext cx="3142696" cy="211112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078" name="Rectangle 10"/>
          <p:cNvSpPr/>
          <p:nvPr/>
        </p:nvSpPr>
        <p:spPr>
          <a:xfrm>
            <a:off x="554305" y="5750466"/>
            <a:ext cx="982727" cy="284227"/>
          </a:xfrm>
          <a:prstGeom prst="rect">
            <a:avLst/>
          </a:prstGeom>
          <a:solidFill>
            <a:srgbClr val="F2DCDB"/>
          </a:solidFill>
          <a:ln w="19050"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8288" tIns="18288" rIns="18288" bIns="18288">
            <a:spAutoFit/>
          </a:bodyPr>
          <a:lstStyle>
            <a:lvl1pPr>
              <a:defRPr>
                <a:solidFill>
                  <a:srgbClr val="FF0000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lvl1pPr>
          </a:lstStyle>
          <a:p>
            <a:r>
              <a:t>IRESTART</a:t>
            </a:r>
          </a:p>
        </p:txBody>
      </p:sp>
      <p:sp>
        <p:nvSpPr>
          <p:cNvPr id="1079" name="Rectangle 11"/>
          <p:cNvSpPr/>
          <p:nvPr/>
        </p:nvSpPr>
        <p:spPr>
          <a:xfrm>
            <a:off x="1781973" y="5750466"/>
            <a:ext cx="525527" cy="284227"/>
          </a:xfrm>
          <a:prstGeom prst="rect">
            <a:avLst/>
          </a:prstGeom>
          <a:solidFill>
            <a:srgbClr val="F2DCDB"/>
          </a:solidFill>
          <a:ln w="19050"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8288" tIns="18288" rIns="18288" bIns="18288">
            <a:spAutoFit/>
          </a:bodyPr>
          <a:lstStyle>
            <a:lvl1pPr>
              <a:defRPr>
                <a:solidFill>
                  <a:srgbClr val="FF0000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lvl1pPr>
          </a:lstStyle>
          <a:p>
            <a:r>
              <a:t>IDAT</a:t>
            </a:r>
          </a:p>
        </p:txBody>
      </p:sp>
      <p:sp>
        <p:nvSpPr>
          <p:cNvPr id="1080" name="TextBox 16"/>
          <p:cNvSpPr txBox="1"/>
          <p:nvPr/>
        </p:nvSpPr>
        <p:spPr>
          <a:xfrm>
            <a:off x="4474722" y="1573181"/>
            <a:ext cx="3214570" cy="760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/>
            </a:pPr>
            <a:r>
              <a:t>By default, run a </a:t>
            </a:r>
            <a:br/>
            <a:r>
              <a:rPr b="1"/>
              <a:t>fresh simulation</a:t>
            </a:r>
          </a:p>
        </p:txBody>
      </p:sp>
      <p:sp>
        <p:nvSpPr>
          <p:cNvPr id="1081" name="TextBox 17"/>
          <p:cNvSpPr txBox="1"/>
          <p:nvPr/>
        </p:nvSpPr>
        <p:spPr>
          <a:xfrm>
            <a:off x="6678726" y="3063654"/>
            <a:ext cx="2102072" cy="760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 b="1"/>
            </a:pPr>
            <a:r>
              <a:t>Recover, </a:t>
            </a:r>
            <a:r>
              <a:rPr b="0"/>
              <a:t>or run more histories</a:t>
            </a:r>
          </a:p>
        </p:txBody>
      </p:sp>
      <p:pic>
        <p:nvPicPr>
          <p:cNvPr id="1082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650" y="2521207"/>
            <a:ext cx="4142859" cy="1321430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  <p:pic>
        <p:nvPicPr>
          <p:cNvPr id="1083" name="Picture 2" descr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49973">
            <a:off x="4009819" y="2758885"/>
            <a:ext cx="1368766" cy="7868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1" grpId="2" animBg="1" advAuto="0"/>
      <p:bldP spid="1083" grpId="1" animBg="1" advAuto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83599" y="6248399"/>
            <a:ext cx="12700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50</a:t>
            </a:fld>
            <a:endParaRPr/>
          </a:p>
        </p:txBody>
      </p:sp>
      <p:pic>
        <p:nvPicPr>
          <p:cNvPr id="1086" name="Picture 2" descr="Picture 2"/>
          <p:cNvPicPr>
            <a:picLocks noChangeAspect="1"/>
          </p:cNvPicPr>
          <p:nvPr/>
        </p:nvPicPr>
        <p:blipFill>
          <a:blip r:embed="rId2"/>
          <a:srcRect r="57208"/>
          <a:stretch>
            <a:fillRect/>
          </a:stretch>
        </p:blipFill>
        <p:spPr>
          <a:xfrm>
            <a:off x="533399" y="1295400"/>
            <a:ext cx="3456434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1087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By default, RNG seeds are stored at start of batch</a:t>
            </a:r>
          </a:p>
        </p:txBody>
      </p:sp>
      <p:sp>
        <p:nvSpPr>
          <p:cNvPr id="1088" name="Rectangle 6"/>
          <p:cNvSpPr/>
          <p:nvPr/>
        </p:nvSpPr>
        <p:spPr>
          <a:xfrm>
            <a:off x="790111" y="2322095"/>
            <a:ext cx="3142696" cy="211112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1089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145" y="2284143"/>
            <a:ext cx="3511906" cy="1071430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  <p:sp>
        <p:nvSpPr>
          <p:cNvPr id="1090" name="TextBox 14"/>
          <p:cNvSpPr txBox="1"/>
          <p:nvPr/>
        </p:nvSpPr>
        <p:spPr>
          <a:xfrm>
            <a:off x="5695911" y="1491240"/>
            <a:ext cx="2860747" cy="1588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>
              <a:defRPr sz="2400"/>
            </a:lvl1pPr>
          </a:lstStyle>
          <a:p>
            <a:r>
              <a:t>BEAMnrc stores seeds periodically, to recover from crashes or improve statistics.</a:t>
            </a:r>
          </a:p>
        </p:txBody>
      </p:sp>
      <p:sp>
        <p:nvSpPr>
          <p:cNvPr id="1091" name="Rectangle 11"/>
          <p:cNvSpPr/>
          <p:nvPr/>
        </p:nvSpPr>
        <p:spPr>
          <a:xfrm>
            <a:off x="1830515" y="2585873"/>
            <a:ext cx="3031794" cy="263164"/>
          </a:xfrm>
          <a:prstGeom prst="rect">
            <a:avLst/>
          </a:prstGeom>
          <a:solidFill>
            <a:srgbClr val="FFFF00">
              <a:alpha val="21176"/>
            </a:srgbClr>
          </a:solidFill>
          <a:ln w="25400">
            <a:solidFill>
              <a:srgbClr val="FFC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092" name="Rectangle 12"/>
          <p:cNvSpPr/>
          <p:nvPr/>
        </p:nvSpPr>
        <p:spPr>
          <a:xfrm>
            <a:off x="1834187" y="2829809"/>
            <a:ext cx="3031793" cy="263164"/>
          </a:xfrm>
          <a:prstGeom prst="rect">
            <a:avLst/>
          </a:prstGeom>
          <a:solidFill>
            <a:srgbClr val="FFFF00">
              <a:alpha val="21176"/>
            </a:srgbClr>
          </a:solidFill>
          <a:ln w="25400">
            <a:solidFill>
              <a:srgbClr val="FFC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093" name="Bent-Up Arrow 13"/>
          <p:cNvSpPr/>
          <p:nvPr/>
        </p:nvSpPr>
        <p:spPr>
          <a:xfrm rot="16200000">
            <a:off x="4384776" y="3220820"/>
            <a:ext cx="1769481" cy="6514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400"/>
                </a:moveTo>
                <a:lnTo>
                  <a:pt x="20308" y="20400"/>
                </a:lnTo>
                <a:lnTo>
                  <a:pt x="20308" y="4608"/>
                </a:lnTo>
                <a:lnTo>
                  <a:pt x="19458" y="4608"/>
                </a:lnTo>
                <a:lnTo>
                  <a:pt x="20529" y="0"/>
                </a:lnTo>
                <a:lnTo>
                  <a:pt x="21600" y="4608"/>
                </a:lnTo>
                <a:lnTo>
                  <a:pt x="20750" y="4608"/>
                </a:lnTo>
                <a:lnTo>
                  <a:pt x="2075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0000"/>
          </a:solidFill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ln w="38100" cap="flat">
                  <a:solidFill>
                    <a:srgbClr val="000000"/>
                  </a:solidFill>
                  <a:prstDash val="solid"/>
                  <a:round/>
                </a:ln>
              </a:defRPr>
            </a:pPr>
            <a:endParaRPr/>
          </a:p>
        </p:txBody>
      </p:sp>
      <p:grpSp>
        <p:nvGrpSpPr>
          <p:cNvPr id="1097" name="Group 4"/>
          <p:cNvGrpSpPr/>
          <p:nvPr/>
        </p:nvGrpSpPr>
        <p:grpSpPr>
          <a:xfrm>
            <a:off x="3387084" y="2693907"/>
            <a:ext cx="4980661" cy="2873254"/>
            <a:chOff x="0" y="0"/>
            <a:chExt cx="4980659" cy="2873252"/>
          </a:xfrm>
        </p:grpSpPr>
        <p:sp>
          <p:nvSpPr>
            <p:cNvPr id="1094" name="Bent-Up Arrow 15"/>
            <p:cNvSpPr/>
            <p:nvPr/>
          </p:nvSpPr>
          <p:spPr>
            <a:xfrm rot="5400000">
              <a:off x="638245" y="1087752"/>
              <a:ext cx="1112014" cy="7117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0400"/>
                  </a:moveTo>
                  <a:lnTo>
                    <a:pt x="19599" y="20400"/>
                  </a:lnTo>
                  <a:lnTo>
                    <a:pt x="19599" y="4800"/>
                  </a:lnTo>
                  <a:lnTo>
                    <a:pt x="18367" y="4800"/>
                  </a:lnTo>
                  <a:lnTo>
                    <a:pt x="19983" y="0"/>
                  </a:lnTo>
                  <a:lnTo>
                    <a:pt x="21600" y="4800"/>
                  </a:lnTo>
                  <a:lnTo>
                    <a:pt x="20367" y="4800"/>
                  </a:lnTo>
                  <a:lnTo>
                    <a:pt x="20367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0000"/>
            </a:solidFill>
            <a:ln w="12700" cap="flat">
              <a:noFill/>
              <a:miter lim="400000"/>
            </a:ln>
            <a:effectLst>
              <a:outerShdw blurRad="292100" dist="139700" dir="2700000" rotWithShape="0">
                <a:srgbClr val="333333">
                  <a:alpha val="64999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ln w="38100" cap="flat">
                    <a:solidFill>
                      <a:srgbClr val="000000"/>
                    </a:solidFill>
                    <a:prstDash val="solid"/>
                    <a:round/>
                  </a:ln>
                </a:defRPr>
              </a:pPr>
              <a:endParaRPr/>
            </a:p>
          </p:txBody>
        </p:sp>
        <p:sp>
          <p:nvSpPr>
            <p:cNvPr id="1095" name="TextBox 16"/>
            <p:cNvSpPr txBox="1"/>
            <p:nvPr/>
          </p:nvSpPr>
          <p:spPr>
            <a:xfrm>
              <a:off x="1537647" y="1605285"/>
              <a:ext cx="3443013" cy="12679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/>
            <a:p>
              <a:pPr>
                <a:defRPr sz="2400"/>
              </a:pPr>
              <a:r>
                <a:t>Storing the seeds at every history is very slow! Stored in </a:t>
              </a:r>
              <a:r>
                <a:rPr>
                  <a:solidFill>
                    <a:srgbClr val="0000FF"/>
                  </a:solidFill>
                  <a:latin typeface="Inconsolata Regular Regular"/>
                  <a:ea typeface="Inconsolata Regular Regular"/>
                  <a:cs typeface="Inconsolata Regular Regular"/>
                  <a:sym typeface="Inconsolata Regular Regular"/>
                </a:rPr>
                <a:t>.egsrns</a:t>
              </a:r>
              <a:r>
                <a:t> file</a:t>
              </a:r>
            </a:p>
          </p:txBody>
        </p:sp>
        <p:pic>
          <p:nvPicPr>
            <p:cNvPr id="1096" name="Picture 2" descr="Picture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149973">
              <a:off x="45496" y="85969"/>
              <a:ext cx="1368765" cy="7868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-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00000 0.034733" pathEditMode="relative">
                                      <p:cBhvr>
                                        <p:cTn id="17" dur="500" fill="hold"/>
                                        <p:tgtEl>
                                          <p:spTgt spid="10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200"/>
                                        <p:tgtEl>
                                          <p:spTgt spid="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"/>
                            </p:stCondLst>
                            <p:childTnLst>
                              <p:par>
                                <p:cTn id="30" presetID="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9" grpId="1" animBg="1" advAuto="0"/>
      <p:bldP spid="1090" grpId="3" animBg="1" advAuto="0"/>
      <p:bldP spid="1091" grpId="8" animBg="1" advAuto="0"/>
      <p:bldP spid="1092" grpId="2" animBg="1" advAuto="0"/>
      <p:bldP spid="1092" grpId="6" animBg="1" advAuto="0"/>
      <p:bldP spid="1093" grpId="7" animBg="1" advAuto="0"/>
      <p:bldP spid="1097" grpId="5" animBg="1" advAuto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83599" y="6248399"/>
            <a:ext cx="12700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51</a:t>
            </a:fld>
            <a:endParaRPr/>
          </a:p>
        </p:txBody>
      </p:sp>
      <p:pic>
        <p:nvPicPr>
          <p:cNvPr id="1100" name="Picture 2" descr="Picture 2"/>
          <p:cNvPicPr>
            <a:picLocks noChangeAspect="1"/>
          </p:cNvPicPr>
          <p:nvPr/>
        </p:nvPicPr>
        <p:blipFill>
          <a:blip r:embed="rId2"/>
          <a:srcRect r="57208"/>
          <a:stretch>
            <a:fillRect/>
          </a:stretch>
        </p:blipFill>
        <p:spPr>
          <a:xfrm>
            <a:off x="533399" y="1295400"/>
            <a:ext cx="3456434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1101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Data arrays must be stored for recovery</a:t>
            </a:r>
          </a:p>
        </p:txBody>
      </p:sp>
      <p:sp>
        <p:nvSpPr>
          <p:cNvPr id="1102" name="Rectangle 6"/>
          <p:cNvSpPr/>
          <p:nvPr/>
        </p:nvSpPr>
        <p:spPr>
          <a:xfrm>
            <a:off x="790111" y="2593028"/>
            <a:ext cx="3142696" cy="211112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103" name="Rectangle 7"/>
          <p:cNvSpPr/>
          <p:nvPr/>
        </p:nvSpPr>
        <p:spPr>
          <a:xfrm>
            <a:off x="790111" y="3126428"/>
            <a:ext cx="3142696" cy="211112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104" name="Rectangle 10"/>
          <p:cNvSpPr/>
          <p:nvPr/>
        </p:nvSpPr>
        <p:spPr>
          <a:xfrm>
            <a:off x="554305" y="5750466"/>
            <a:ext cx="982727" cy="284227"/>
          </a:xfrm>
          <a:prstGeom prst="rect">
            <a:avLst/>
          </a:prstGeom>
          <a:solidFill>
            <a:srgbClr val="F2DCDB"/>
          </a:solidFill>
          <a:ln w="19050"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8288" tIns="18288" rIns="18288" bIns="18288">
            <a:spAutoFit/>
          </a:bodyPr>
          <a:lstStyle>
            <a:lvl1pPr>
              <a:defRPr>
                <a:solidFill>
                  <a:srgbClr val="FF0000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lvl1pPr>
          </a:lstStyle>
          <a:p>
            <a:r>
              <a:t>IRESTART</a:t>
            </a:r>
          </a:p>
        </p:txBody>
      </p:sp>
      <p:sp>
        <p:nvSpPr>
          <p:cNvPr id="1105" name="Rectangle 11"/>
          <p:cNvSpPr/>
          <p:nvPr/>
        </p:nvSpPr>
        <p:spPr>
          <a:xfrm>
            <a:off x="1781973" y="5750466"/>
            <a:ext cx="525527" cy="284227"/>
          </a:xfrm>
          <a:prstGeom prst="rect">
            <a:avLst/>
          </a:prstGeom>
          <a:solidFill>
            <a:srgbClr val="F2DCDB"/>
          </a:solidFill>
          <a:ln w="19050"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8288" tIns="18288" rIns="18288" bIns="18288">
            <a:spAutoFit/>
          </a:bodyPr>
          <a:lstStyle>
            <a:lvl1pPr>
              <a:defRPr>
                <a:solidFill>
                  <a:srgbClr val="FF0000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lvl1pPr>
          </a:lstStyle>
          <a:p>
            <a:r>
              <a:t>IDAT</a:t>
            </a:r>
          </a:p>
        </p:txBody>
      </p:sp>
      <p:sp>
        <p:nvSpPr>
          <p:cNvPr id="1106" name="TextBox 16"/>
          <p:cNvSpPr txBox="1"/>
          <p:nvPr/>
        </p:nvSpPr>
        <p:spPr>
          <a:xfrm>
            <a:off x="4474722" y="1573181"/>
            <a:ext cx="3214570" cy="760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/>
            </a:pPr>
            <a:r>
              <a:t>By default, run a </a:t>
            </a:r>
            <a:br/>
            <a:r>
              <a:rPr b="1"/>
              <a:t>fresh simulation</a:t>
            </a:r>
          </a:p>
        </p:txBody>
      </p:sp>
      <p:sp>
        <p:nvSpPr>
          <p:cNvPr id="1107" name="TextBox 17"/>
          <p:cNvSpPr txBox="1"/>
          <p:nvPr/>
        </p:nvSpPr>
        <p:spPr>
          <a:xfrm>
            <a:off x="6678726" y="3063654"/>
            <a:ext cx="2102072" cy="760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 b="1"/>
            </a:pPr>
            <a:r>
              <a:t>Recover, </a:t>
            </a:r>
            <a:r>
              <a:rPr b="0"/>
              <a:t>or run more histories</a:t>
            </a:r>
          </a:p>
        </p:txBody>
      </p:sp>
      <p:pic>
        <p:nvPicPr>
          <p:cNvPr id="1108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650" y="2521207"/>
            <a:ext cx="4142859" cy="1321430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  <p:sp>
        <p:nvSpPr>
          <p:cNvPr id="1109" name="TextBox 12"/>
          <p:cNvSpPr txBox="1"/>
          <p:nvPr/>
        </p:nvSpPr>
        <p:spPr>
          <a:xfrm>
            <a:off x="4474722" y="4123775"/>
            <a:ext cx="3214570" cy="1176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/>
            </a:pPr>
            <a:r>
              <a:t>Combine </a:t>
            </a:r>
            <a:r>
              <a:rPr>
                <a:solidFill>
                  <a:srgbClr val="0000FF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rPr>
              <a:t>.egsdat</a:t>
            </a:r>
            <a:r>
              <a:t> files from parallel runs and analyze the results</a:t>
            </a:r>
          </a:p>
        </p:txBody>
      </p:sp>
      <p:pic>
        <p:nvPicPr>
          <p:cNvPr id="1110" name="Picture 2" descr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49973">
            <a:off x="4009819" y="3168239"/>
            <a:ext cx="1368766" cy="7868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83599" y="6248399"/>
            <a:ext cx="12700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52</a:t>
            </a:fld>
            <a:endParaRPr/>
          </a:p>
        </p:txBody>
      </p:sp>
      <p:pic>
        <p:nvPicPr>
          <p:cNvPr id="1113" name="Picture 2" descr="Picture 2"/>
          <p:cNvPicPr>
            <a:picLocks noChangeAspect="1"/>
          </p:cNvPicPr>
          <p:nvPr/>
        </p:nvPicPr>
        <p:blipFill>
          <a:blip r:embed="rId2"/>
          <a:srcRect r="57208"/>
          <a:stretch>
            <a:fillRect/>
          </a:stretch>
        </p:blipFill>
        <p:spPr>
          <a:xfrm>
            <a:off x="533399" y="1295400"/>
            <a:ext cx="3456434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1114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Data arrays must be stored for recovery</a:t>
            </a:r>
          </a:p>
        </p:txBody>
      </p:sp>
      <p:sp>
        <p:nvSpPr>
          <p:cNvPr id="1115" name="Rectangle 6"/>
          <p:cNvSpPr/>
          <p:nvPr/>
        </p:nvSpPr>
        <p:spPr>
          <a:xfrm>
            <a:off x="790111" y="2593028"/>
            <a:ext cx="3142696" cy="211112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1116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650" y="5824995"/>
            <a:ext cx="3607144" cy="821431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  <p:sp>
        <p:nvSpPr>
          <p:cNvPr id="1117" name="Rectangle 7"/>
          <p:cNvSpPr/>
          <p:nvPr/>
        </p:nvSpPr>
        <p:spPr>
          <a:xfrm>
            <a:off x="790111" y="3126428"/>
            <a:ext cx="3142696" cy="211112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118" name="Rectangle 10"/>
          <p:cNvSpPr/>
          <p:nvPr/>
        </p:nvSpPr>
        <p:spPr>
          <a:xfrm>
            <a:off x="554305" y="5750466"/>
            <a:ext cx="982727" cy="284227"/>
          </a:xfrm>
          <a:prstGeom prst="rect">
            <a:avLst/>
          </a:prstGeom>
          <a:solidFill>
            <a:srgbClr val="F2DCDB"/>
          </a:solidFill>
          <a:ln w="19050"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8288" tIns="18288" rIns="18288" bIns="18288">
            <a:spAutoFit/>
          </a:bodyPr>
          <a:lstStyle>
            <a:lvl1pPr>
              <a:defRPr>
                <a:solidFill>
                  <a:srgbClr val="FF0000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lvl1pPr>
          </a:lstStyle>
          <a:p>
            <a:r>
              <a:t>IRESTART</a:t>
            </a:r>
          </a:p>
        </p:txBody>
      </p:sp>
      <p:sp>
        <p:nvSpPr>
          <p:cNvPr id="1119" name="Rectangle 11"/>
          <p:cNvSpPr/>
          <p:nvPr/>
        </p:nvSpPr>
        <p:spPr>
          <a:xfrm>
            <a:off x="1781973" y="5750466"/>
            <a:ext cx="525527" cy="284227"/>
          </a:xfrm>
          <a:prstGeom prst="rect">
            <a:avLst/>
          </a:prstGeom>
          <a:solidFill>
            <a:srgbClr val="F2DCDB"/>
          </a:solidFill>
          <a:ln w="19050"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8288" tIns="18288" rIns="18288" bIns="18288">
            <a:spAutoFit/>
          </a:bodyPr>
          <a:lstStyle>
            <a:lvl1pPr>
              <a:defRPr>
                <a:solidFill>
                  <a:srgbClr val="FF0000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lvl1pPr>
          </a:lstStyle>
          <a:p>
            <a:r>
              <a:t>IDAT</a:t>
            </a:r>
          </a:p>
        </p:txBody>
      </p:sp>
      <p:sp>
        <p:nvSpPr>
          <p:cNvPr id="1120" name="TextBox 16"/>
          <p:cNvSpPr txBox="1"/>
          <p:nvPr/>
        </p:nvSpPr>
        <p:spPr>
          <a:xfrm>
            <a:off x="4474722" y="1573181"/>
            <a:ext cx="3214570" cy="760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/>
            </a:pPr>
            <a:r>
              <a:t>By default, run a </a:t>
            </a:r>
            <a:br/>
            <a:r>
              <a:rPr b="1"/>
              <a:t>fresh simulation</a:t>
            </a:r>
          </a:p>
        </p:txBody>
      </p:sp>
      <p:sp>
        <p:nvSpPr>
          <p:cNvPr id="1121" name="TextBox 17"/>
          <p:cNvSpPr txBox="1"/>
          <p:nvPr/>
        </p:nvSpPr>
        <p:spPr>
          <a:xfrm>
            <a:off x="6678726" y="3063654"/>
            <a:ext cx="2102072" cy="760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 b="1"/>
            </a:pPr>
            <a:r>
              <a:t>Recover, </a:t>
            </a:r>
            <a:r>
              <a:rPr b="0"/>
              <a:t>or run more histories</a:t>
            </a:r>
          </a:p>
        </p:txBody>
      </p:sp>
      <p:sp>
        <p:nvSpPr>
          <p:cNvPr id="1122" name="TextBox 18"/>
          <p:cNvSpPr txBox="1"/>
          <p:nvPr/>
        </p:nvSpPr>
        <p:spPr>
          <a:xfrm>
            <a:off x="4474722" y="4123775"/>
            <a:ext cx="3214570" cy="1176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/>
            </a:pPr>
            <a:r>
              <a:t>Combine </a:t>
            </a:r>
            <a:r>
              <a:rPr>
                <a:solidFill>
                  <a:srgbClr val="0000FF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rPr>
              <a:t>.egsdat</a:t>
            </a:r>
            <a:r>
              <a:t> files from parallel runs and analyze the results</a:t>
            </a:r>
          </a:p>
        </p:txBody>
      </p:sp>
      <p:pic>
        <p:nvPicPr>
          <p:cNvPr id="1123" name="Picture 2" descr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5650" y="2521207"/>
            <a:ext cx="4142859" cy="1321430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  <p:pic>
        <p:nvPicPr>
          <p:cNvPr id="1124" name="Picture 2" descr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149973">
            <a:off x="4009819" y="3168239"/>
            <a:ext cx="1368766" cy="786802"/>
          </a:xfrm>
          <a:prstGeom prst="rect">
            <a:avLst/>
          </a:prstGeom>
          <a:ln w="12700">
            <a:miter lim="400000"/>
          </a:ln>
        </p:spPr>
      </p:pic>
      <p:sp>
        <p:nvSpPr>
          <p:cNvPr id="1125" name="TextBox 12"/>
          <p:cNvSpPr txBox="1"/>
          <p:nvPr/>
        </p:nvSpPr>
        <p:spPr>
          <a:xfrm>
            <a:off x="4369770" y="3021658"/>
            <a:ext cx="4316572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400" b="1">
                <a:solidFill>
                  <a:srgbClr val="FF0000"/>
                </a:solidFill>
              </a:defRPr>
            </a:lvl1pPr>
          </a:lstStyle>
          <a:p>
            <a:r>
              <a:t>Restart and analysis require:</a:t>
            </a:r>
          </a:p>
        </p:txBody>
      </p:sp>
      <p:sp>
        <p:nvSpPr>
          <p:cNvPr id="1126" name="TextBox 24"/>
          <p:cNvSpPr txBox="1"/>
          <p:nvPr/>
        </p:nvSpPr>
        <p:spPr>
          <a:xfrm>
            <a:off x="4369770" y="4386174"/>
            <a:ext cx="4316572" cy="1129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 b="1"/>
            </a:pPr>
            <a:r>
              <a:t>No reason to turn this off</a:t>
            </a:r>
            <a:br/>
            <a:r>
              <a:rPr b="0"/>
              <a:t>(unless you have thousands of doze scoring zones)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" dur="500" fill="hold"/>
                                        <p:tgtEl>
                                          <p:spTgt spid="1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xit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3" dur="500" fill="hold"/>
                                        <p:tgtEl>
                                          <p:spTgt spid="1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xit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7" dur="500" fill="hold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-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01219 -0.175536" pathEditMode="relative">
                                      <p:cBhvr>
                                        <p:cTn id="21" dur="500" fill="hold"/>
                                        <p:tgtEl>
                                          <p:spTgt spid="1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00000 -0.556739" pathEditMode="relative">
                                      <p:cBhvr>
                                        <p:cTn id="24" dur="500" fill="hold"/>
                                        <p:tgtEl>
                                          <p:spTgt spid="1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00000 -0.689212" pathEditMode="relative">
                                      <p:cBhvr>
                                        <p:cTn id="27" dur="500" fill="hold"/>
                                        <p:tgtEl>
                                          <p:spTgt spid="1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00000 -0.333370" pathEditMode="relative">
                                      <p:cBhvr>
                                        <p:cTn id="30" dur="500" fill="hold"/>
                                        <p:tgtEl>
                                          <p:spTgt spid="1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00000 -0.334880" pathEditMode="relative">
                                      <p:cBhvr>
                                        <p:cTn id="37" dur="500" fill="hold"/>
                                        <p:tgtEl>
                                          <p:spTgt spid="1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" grpId="9" animBg="1" advAuto="0"/>
      <p:bldP spid="1120" grpId="1" animBg="1" advAuto="0"/>
      <p:bldP spid="1121" grpId="3" animBg="1" advAuto="0"/>
      <p:bldP spid="1122" grpId="4" animBg="1" advAuto="0"/>
      <p:bldP spid="1124" grpId="2" animBg="1" advAuto="0"/>
      <p:bldP spid="1125" grpId="11" animBg="1" advAuto="0"/>
      <p:bldP spid="1126" grpId="12" animBg="1" advAuto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83599" y="6248399"/>
            <a:ext cx="12700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53</a:t>
            </a:fld>
            <a:endParaRPr/>
          </a:p>
        </p:txBody>
      </p:sp>
      <p:grpSp>
        <p:nvGrpSpPr>
          <p:cNvPr id="1165" name="Group 27"/>
          <p:cNvGrpSpPr/>
          <p:nvPr/>
        </p:nvGrpSpPr>
        <p:grpSpPr>
          <a:xfrm>
            <a:off x="4463129" y="1267980"/>
            <a:ext cx="4086817" cy="4324210"/>
            <a:chOff x="0" y="0"/>
            <a:chExt cx="4086815" cy="4324208"/>
          </a:xfrm>
        </p:grpSpPr>
        <p:sp>
          <p:nvSpPr>
            <p:cNvPr id="1129" name="Trapezoid 28"/>
            <p:cNvSpPr/>
            <p:nvPr/>
          </p:nvSpPr>
          <p:spPr>
            <a:xfrm>
              <a:off x="1590914" y="1981197"/>
              <a:ext cx="735713" cy="835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5400" y="0"/>
                  </a:lnTo>
                  <a:lnTo>
                    <a:pt x="162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FF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30" name="Freeform 29"/>
            <p:cNvSpPr/>
            <p:nvPr/>
          </p:nvSpPr>
          <p:spPr>
            <a:xfrm>
              <a:off x="0" y="3064117"/>
              <a:ext cx="1496583" cy="7033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450"/>
                  </a:lnTo>
                  <a:lnTo>
                    <a:pt x="13708" y="21600"/>
                  </a:lnTo>
                  <a:lnTo>
                    <a:pt x="831" y="21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31" name="Freeform 30"/>
            <p:cNvSpPr/>
            <p:nvPr/>
          </p:nvSpPr>
          <p:spPr>
            <a:xfrm flipH="1">
              <a:off x="2552994" y="3064117"/>
              <a:ext cx="1496583" cy="7033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450"/>
                  </a:lnTo>
                  <a:lnTo>
                    <a:pt x="13708" y="21600"/>
                  </a:lnTo>
                  <a:lnTo>
                    <a:pt x="831" y="21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32" name="Rectangle 31"/>
            <p:cNvSpPr txBox="1"/>
            <p:nvPr/>
          </p:nvSpPr>
          <p:spPr>
            <a:xfrm>
              <a:off x="1888652" y="2198510"/>
              <a:ext cx="220003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tabLst>
                  <a:tab pos="800100" algn="l"/>
                  <a:tab pos="2057400" algn="l"/>
                </a:tabLst>
                <a:defRPr b="1"/>
              </a:lvl1pPr>
            </a:lstStyle>
            <a:p>
              <a:r>
                <a:t>4</a:t>
              </a:r>
            </a:p>
          </p:txBody>
        </p:sp>
        <p:sp>
          <p:nvSpPr>
            <p:cNvPr id="1133" name="Rectangle 32"/>
            <p:cNvSpPr txBox="1"/>
            <p:nvPr/>
          </p:nvSpPr>
          <p:spPr>
            <a:xfrm>
              <a:off x="503411" y="3266893"/>
              <a:ext cx="220004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tabLst>
                  <a:tab pos="800100" algn="l"/>
                  <a:tab pos="2057400" algn="l"/>
                </a:tabLst>
                <a:defRPr b="1"/>
              </a:lvl1pPr>
            </a:lstStyle>
            <a:p>
              <a:r>
                <a:t>5</a:t>
              </a:r>
            </a:p>
          </p:txBody>
        </p:sp>
        <p:sp>
          <p:nvSpPr>
            <p:cNvPr id="1134" name="Rectangle 33"/>
            <p:cNvSpPr txBox="1"/>
            <p:nvPr/>
          </p:nvSpPr>
          <p:spPr>
            <a:xfrm>
              <a:off x="3416933" y="3266893"/>
              <a:ext cx="220004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tabLst>
                  <a:tab pos="800100" algn="l"/>
                  <a:tab pos="2057400" algn="l"/>
                </a:tabLst>
                <a:defRPr b="1"/>
              </a:lvl1pPr>
            </a:lstStyle>
            <a:p>
              <a:r>
                <a:t>6</a:t>
              </a:r>
            </a:p>
          </p:txBody>
        </p:sp>
        <p:sp>
          <p:nvSpPr>
            <p:cNvPr id="1135" name="Freeform 34"/>
            <p:cNvSpPr/>
            <p:nvPr/>
          </p:nvSpPr>
          <p:spPr>
            <a:xfrm>
              <a:off x="653972" y="773959"/>
              <a:ext cx="1150738" cy="10832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450"/>
                  </a:lnTo>
                  <a:lnTo>
                    <a:pt x="13708" y="21600"/>
                  </a:lnTo>
                  <a:lnTo>
                    <a:pt x="831" y="21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>
                  <a:solidFill>
                    <a:srgbClr val="FF0000"/>
                  </a:solidFill>
                </a:defRPr>
              </a:pPr>
              <a:endParaRPr/>
            </a:p>
          </p:txBody>
        </p:sp>
        <p:sp>
          <p:nvSpPr>
            <p:cNvPr id="1136" name="Freeform 35"/>
            <p:cNvSpPr/>
            <p:nvPr/>
          </p:nvSpPr>
          <p:spPr>
            <a:xfrm flipH="1">
              <a:off x="2175705" y="773959"/>
              <a:ext cx="1125582" cy="10832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450"/>
                  </a:lnTo>
                  <a:lnTo>
                    <a:pt x="13708" y="21600"/>
                  </a:lnTo>
                  <a:lnTo>
                    <a:pt x="831" y="21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endParaRPr/>
            </a:p>
          </p:txBody>
        </p:sp>
        <p:sp>
          <p:nvSpPr>
            <p:cNvPr id="1137" name="Rectangle 36"/>
            <p:cNvSpPr/>
            <p:nvPr/>
          </p:nvSpPr>
          <p:spPr>
            <a:xfrm>
              <a:off x="1641222" y="201386"/>
              <a:ext cx="735713" cy="311290"/>
            </a:xfrm>
            <a:prstGeom prst="rect">
              <a:avLst/>
            </a:prstGeom>
            <a:solidFill>
              <a:srgbClr val="FFFF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38" name="Rectangle 37"/>
            <p:cNvSpPr txBox="1"/>
            <p:nvPr/>
          </p:nvSpPr>
          <p:spPr>
            <a:xfrm>
              <a:off x="1060519" y="1109503"/>
              <a:ext cx="220004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tabLst>
                  <a:tab pos="800100" algn="l"/>
                  <a:tab pos="2057400" algn="l"/>
                </a:tabLst>
                <a:defRPr b="1"/>
              </a:lvl1pPr>
            </a:lstStyle>
            <a:p>
              <a:r>
                <a:t>2</a:t>
              </a:r>
            </a:p>
          </p:txBody>
        </p:sp>
        <p:sp>
          <p:nvSpPr>
            <p:cNvPr id="1139" name="Rectangle 38"/>
            <p:cNvSpPr txBox="1"/>
            <p:nvPr/>
          </p:nvSpPr>
          <p:spPr>
            <a:xfrm>
              <a:off x="2731842" y="1109503"/>
              <a:ext cx="220003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tabLst>
                  <a:tab pos="800100" algn="l"/>
                  <a:tab pos="2057400" algn="l"/>
                </a:tabLst>
                <a:defRPr b="1"/>
              </a:lvl1pPr>
            </a:lstStyle>
            <a:p>
              <a:r>
                <a:t>3</a:t>
              </a:r>
            </a:p>
          </p:txBody>
        </p:sp>
        <p:sp>
          <p:nvSpPr>
            <p:cNvPr id="1140" name="Rectangle 39"/>
            <p:cNvSpPr txBox="1"/>
            <p:nvPr/>
          </p:nvSpPr>
          <p:spPr>
            <a:xfrm>
              <a:off x="1903708" y="201385"/>
              <a:ext cx="220004" cy="3330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tabLst>
                  <a:tab pos="800100" algn="l"/>
                  <a:tab pos="2057400" algn="l"/>
                </a:tabLst>
                <a:defRPr b="1"/>
              </a:lvl1pPr>
            </a:lstStyle>
            <a:p>
              <a:r>
                <a:t>1</a:t>
              </a:r>
            </a:p>
          </p:txBody>
        </p:sp>
        <p:grpSp>
          <p:nvGrpSpPr>
            <p:cNvPr id="1148" name="Group 40"/>
            <p:cNvGrpSpPr/>
            <p:nvPr/>
          </p:nvGrpSpPr>
          <p:grpSpPr>
            <a:xfrm>
              <a:off x="2622587" y="4075466"/>
              <a:ext cx="1464229" cy="248743"/>
              <a:chOff x="0" y="0"/>
              <a:chExt cx="1464227" cy="248741"/>
            </a:xfrm>
          </p:grpSpPr>
          <p:sp>
            <p:nvSpPr>
              <p:cNvPr id="1141" name="Rectangle 57"/>
              <p:cNvSpPr/>
              <p:nvPr/>
            </p:nvSpPr>
            <p:spPr>
              <a:xfrm>
                <a:off x="0" y="5040"/>
                <a:ext cx="201386" cy="201387"/>
              </a:xfrm>
              <a:prstGeom prst="rect">
                <a:avLst/>
              </a:prstGeom>
              <a:solidFill>
                <a:srgbClr val="FF0000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42" name="Rectangle 58"/>
              <p:cNvSpPr/>
              <p:nvPr/>
            </p:nvSpPr>
            <p:spPr>
              <a:xfrm>
                <a:off x="201386" y="5040"/>
                <a:ext cx="201387" cy="201387"/>
              </a:xfrm>
              <a:prstGeom prst="rect">
                <a:avLst/>
              </a:prstGeom>
              <a:solidFill>
                <a:srgbClr val="D9D9D9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43" name="Rectangle 59"/>
              <p:cNvSpPr/>
              <p:nvPr/>
            </p:nvSpPr>
            <p:spPr>
              <a:xfrm>
                <a:off x="402773" y="5040"/>
                <a:ext cx="201387" cy="201387"/>
              </a:xfrm>
              <a:prstGeom prst="rect">
                <a:avLst/>
              </a:prstGeom>
              <a:solidFill>
                <a:srgbClr val="FF0000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44" name="Rectangle 60"/>
              <p:cNvSpPr/>
              <p:nvPr/>
            </p:nvSpPr>
            <p:spPr>
              <a:xfrm>
                <a:off x="604160" y="5040"/>
                <a:ext cx="201387" cy="201387"/>
              </a:xfrm>
              <a:prstGeom prst="rect">
                <a:avLst/>
              </a:prstGeom>
              <a:solidFill>
                <a:srgbClr val="FF0000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45" name="Rectangle 61"/>
              <p:cNvSpPr/>
              <p:nvPr/>
            </p:nvSpPr>
            <p:spPr>
              <a:xfrm>
                <a:off x="805547" y="5040"/>
                <a:ext cx="201387" cy="201387"/>
              </a:xfrm>
              <a:prstGeom prst="rect">
                <a:avLst/>
              </a:prstGeom>
              <a:solidFill>
                <a:srgbClr val="D9D9D9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46" name="Rectangle 62"/>
              <p:cNvSpPr/>
              <p:nvPr/>
            </p:nvSpPr>
            <p:spPr>
              <a:xfrm>
                <a:off x="1006934" y="5040"/>
                <a:ext cx="201387" cy="201387"/>
              </a:xfrm>
              <a:prstGeom prst="rect">
                <a:avLst/>
              </a:prstGeom>
              <a:solidFill>
                <a:srgbClr val="D9D9D9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47" name="TextBox 63"/>
              <p:cNvSpPr txBox="1"/>
              <p:nvPr/>
            </p:nvSpPr>
            <p:spPr>
              <a:xfrm>
                <a:off x="1259167" y="0"/>
                <a:ext cx="205061" cy="24874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sz="2000"/>
                </a:lvl1pPr>
              </a:lstStyle>
              <a:p>
                <a:r>
                  <a:t>...</a:t>
                </a:r>
              </a:p>
            </p:txBody>
          </p:sp>
        </p:grpSp>
        <p:sp>
          <p:nvSpPr>
            <p:cNvPr id="1149" name="Straight Arrow Connector 41"/>
            <p:cNvSpPr/>
            <p:nvPr/>
          </p:nvSpPr>
          <p:spPr>
            <a:xfrm flipH="1">
              <a:off x="850147" y="2688887"/>
              <a:ext cx="1164551" cy="578006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ysDash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grpSp>
          <p:nvGrpSpPr>
            <p:cNvPr id="1157" name="Group 42"/>
            <p:cNvGrpSpPr/>
            <p:nvPr/>
          </p:nvGrpSpPr>
          <p:grpSpPr>
            <a:xfrm>
              <a:off x="245987" y="4070425"/>
              <a:ext cx="1464228" cy="248743"/>
              <a:chOff x="0" y="0"/>
              <a:chExt cx="1464227" cy="248741"/>
            </a:xfrm>
          </p:grpSpPr>
          <p:sp>
            <p:nvSpPr>
              <p:cNvPr id="1150" name="Rectangle 50"/>
              <p:cNvSpPr/>
              <p:nvPr/>
            </p:nvSpPr>
            <p:spPr>
              <a:xfrm>
                <a:off x="0" y="5040"/>
                <a:ext cx="201386" cy="201387"/>
              </a:xfrm>
              <a:prstGeom prst="rect">
                <a:avLst/>
              </a:prstGeom>
              <a:solidFill>
                <a:srgbClr val="D9D9D9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51" name="Rectangle 51"/>
              <p:cNvSpPr/>
              <p:nvPr/>
            </p:nvSpPr>
            <p:spPr>
              <a:xfrm>
                <a:off x="201386" y="5040"/>
                <a:ext cx="201387" cy="201387"/>
              </a:xfrm>
              <a:prstGeom prst="rect">
                <a:avLst/>
              </a:prstGeom>
              <a:solidFill>
                <a:srgbClr val="D9D9D9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52" name="Rectangle 52"/>
              <p:cNvSpPr/>
              <p:nvPr/>
            </p:nvSpPr>
            <p:spPr>
              <a:xfrm>
                <a:off x="402773" y="5040"/>
                <a:ext cx="201387" cy="201387"/>
              </a:xfrm>
              <a:prstGeom prst="rect">
                <a:avLst/>
              </a:prstGeom>
              <a:solidFill>
                <a:srgbClr val="D9D9D9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53" name="Rectangle 53"/>
              <p:cNvSpPr/>
              <p:nvPr/>
            </p:nvSpPr>
            <p:spPr>
              <a:xfrm>
                <a:off x="604160" y="5040"/>
                <a:ext cx="201387" cy="201387"/>
              </a:xfrm>
              <a:prstGeom prst="rect">
                <a:avLst/>
              </a:prstGeom>
              <a:solidFill>
                <a:srgbClr val="FF0000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54" name="Rectangle 54"/>
              <p:cNvSpPr/>
              <p:nvPr/>
            </p:nvSpPr>
            <p:spPr>
              <a:xfrm>
                <a:off x="805547" y="5040"/>
                <a:ext cx="201387" cy="201387"/>
              </a:xfrm>
              <a:prstGeom prst="rect">
                <a:avLst/>
              </a:prstGeom>
              <a:solidFill>
                <a:srgbClr val="FF0000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55" name="Rectangle 55"/>
              <p:cNvSpPr/>
              <p:nvPr/>
            </p:nvSpPr>
            <p:spPr>
              <a:xfrm>
                <a:off x="1006934" y="5040"/>
                <a:ext cx="201387" cy="201387"/>
              </a:xfrm>
              <a:prstGeom prst="rect">
                <a:avLst/>
              </a:prstGeom>
              <a:solidFill>
                <a:srgbClr val="D9D9D9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56" name="TextBox 56"/>
              <p:cNvSpPr txBox="1"/>
              <p:nvPr/>
            </p:nvSpPr>
            <p:spPr>
              <a:xfrm>
                <a:off x="1259167" y="0"/>
                <a:ext cx="205061" cy="24874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sz="2000"/>
                </a:lvl1pPr>
              </a:lstStyle>
              <a:p>
                <a:r>
                  <a:t>...</a:t>
                </a:r>
              </a:p>
            </p:txBody>
          </p:sp>
        </p:grpSp>
        <p:sp>
          <p:nvSpPr>
            <p:cNvPr id="1158" name="Straight Arrow Connector 43"/>
            <p:cNvSpPr/>
            <p:nvPr/>
          </p:nvSpPr>
          <p:spPr>
            <a:xfrm>
              <a:off x="2226175" y="402773"/>
              <a:ext cx="922257" cy="706730"/>
            </a:xfrm>
            <a:prstGeom prst="line">
              <a:avLst/>
            </a:prstGeom>
            <a:noFill/>
            <a:ln w="38100" cap="flat">
              <a:solidFill>
                <a:srgbClr val="0000FF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59" name="Straight Arrow Connector 44"/>
            <p:cNvSpPr/>
            <p:nvPr/>
          </p:nvSpPr>
          <p:spPr>
            <a:xfrm>
              <a:off x="2226175" y="0"/>
              <a:ext cx="1" cy="402774"/>
            </a:xfrm>
            <a:prstGeom prst="line">
              <a:avLst/>
            </a:prstGeom>
            <a:noFill/>
            <a:ln w="38100" cap="flat">
              <a:solidFill>
                <a:srgbClr val="0000FF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60" name="Rectangle 45"/>
            <p:cNvSpPr txBox="1"/>
            <p:nvPr/>
          </p:nvSpPr>
          <p:spPr>
            <a:xfrm>
              <a:off x="263543" y="136154"/>
              <a:ext cx="1228612" cy="605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r">
                <a:lnSpc>
                  <a:spcPts val="2000"/>
                </a:lnSpc>
                <a:tabLst>
                  <a:tab pos="800100" algn="l"/>
                  <a:tab pos="2057400" algn="l"/>
                </a:tabLst>
              </a:pPr>
              <a:r>
                <a:t>latch bit</a:t>
              </a:r>
              <a:br/>
              <a:r>
                <a:t>associations</a:t>
              </a:r>
            </a:p>
          </p:txBody>
        </p:sp>
        <p:sp>
          <p:nvSpPr>
            <p:cNvPr id="1161" name="Straight Arrow Connector 46"/>
            <p:cNvSpPr/>
            <p:nvPr/>
          </p:nvSpPr>
          <p:spPr>
            <a:xfrm>
              <a:off x="2014697" y="2688887"/>
              <a:ext cx="809277" cy="1320971"/>
            </a:xfrm>
            <a:prstGeom prst="line">
              <a:avLst/>
            </a:prstGeom>
            <a:noFill/>
            <a:ln w="38100" cap="flat">
              <a:solidFill>
                <a:srgbClr val="0000FF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62" name="Rectangle 47"/>
            <p:cNvSpPr txBox="1"/>
            <p:nvPr/>
          </p:nvSpPr>
          <p:spPr>
            <a:xfrm>
              <a:off x="411288" y="2700697"/>
              <a:ext cx="1056604" cy="351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r">
                <a:lnSpc>
                  <a:spcPts val="2000"/>
                </a:lnSpc>
                <a:tabLst>
                  <a:tab pos="800100" algn="l"/>
                  <a:tab pos="2057400" algn="l"/>
                </a:tabLst>
              </a:lvl1pPr>
            </a:lstStyle>
            <a:p>
              <a:r>
                <a:t>secondary</a:t>
              </a:r>
            </a:p>
          </p:txBody>
        </p:sp>
        <p:sp>
          <p:nvSpPr>
            <p:cNvPr id="1163" name="Straight Arrow Connector 48"/>
            <p:cNvSpPr/>
            <p:nvPr/>
          </p:nvSpPr>
          <p:spPr>
            <a:xfrm flipH="1">
              <a:off x="2014698" y="1109503"/>
              <a:ext cx="1133736" cy="1579384"/>
            </a:xfrm>
            <a:prstGeom prst="line">
              <a:avLst/>
            </a:prstGeom>
            <a:noFill/>
            <a:ln w="38100" cap="flat">
              <a:solidFill>
                <a:srgbClr val="0000FF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64" name="Straight Arrow Connector 49"/>
            <p:cNvSpPr/>
            <p:nvPr/>
          </p:nvSpPr>
          <p:spPr>
            <a:xfrm>
              <a:off x="850147" y="3266893"/>
              <a:ext cx="337394" cy="742965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ysDash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166" name="Picture 2" descr="Picture 2"/>
          <p:cNvPicPr>
            <a:picLocks noChangeAspect="1"/>
          </p:cNvPicPr>
          <p:nvPr/>
        </p:nvPicPr>
        <p:blipFill>
          <a:blip r:embed="rId2"/>
          <a:srcRect r="57208"/>
          <a:stretch>
            <a:fillRect/>
          </a:stretch>
        </p:blipFill>
        <p:spPr>
          <a:xfrm>
            <a:off x="533399" y="1295400"/>
            <a:ext cx="3456434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1167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By default, LATCH bits are inherited, and by passage</a:t>
            </a:r>
          </a:p>
        </p:txBody>
      </p:sp>
      <p:sp>
        <p:nvSpPr>
          <p:cNvPr id="1168" name="Rectangle 6"/>
          <p:cNvSpPr/>
          <p:nvPr/>
        </p:nvSpPr>
        <p:spPr>
          <a:xfrm>
            <a:off x="790111" y="3388895"/>
            <a:ext cx="3142696" cy="211112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1169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719" y="3364495"/>
            <a:ext cx="3940477" cy="1071430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9" grpId="1" animBg="1" advAuto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83599" y="6248399"/>
            <a:ext cx="12700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54</a:t>
            </a:fld>
            <a:endParaRPr/>
          </a:p>
        </p:txBody>
      </p:sp>
      <p:pic>
        <p:nvPicPr>
          <p:cNvPr id="1172" name="Picture 2" descr="Picture 2"/>
          <p:cNvPicPr>
            <a:picLocks noChangeAspect="1"/>
          </p:cNvPicPr>
          <p:nvPr/>
        </p:nvPicPr>
        <p:blipFill>
          <a:blip r:embed="rId2"/>
          <a:srcRect r="57208"/>
          <a:stretch>
            <a:fillRect/>
          </a:stretch>
        </p:blipFill>
        <p:spPr>
          <a:xfrm>
            <a:off x="533399" y="1295400"/>
            <a:ext cx="3456434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1173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You can keep track of the last interaction position</a:t>
            </a:r>
          </a:p>
        </p:txBody>
      </p:sp>
      <p:sp>
        <p:nvSpPr>
          <p:cNvPr id="1174" name="Rectangle 6"/>
          <p:cNvSpPr/>
          <p:nvPr/>
        </p:nvSpPr>
        <p:spPr>
          <a:xfrm>
            <a:off x="790111" y="3659828"/>
            <a:ext cx="3142696" cy="211112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175" name="Rectangle 7"/>
          <p:cNvSpPr/>
          <p:nvPr/>
        </p:nvSpPr>
        <p:spPr>
          <a:xfrm>
            <a:off x="554305" y="5750466"/>
            <a:ext cx="754127" cy="284227"/>
          </a:xfrm>
          <a:prstGeom prst="rect">
            <a:avLst/>
          </a:prstGeom>
          <a:solidFill>
            <a:srgbClr val="F2DCDB"/>
          </a:solidFill>
          <a:ln w="19050"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8288" tIns="18288" rIns="18288" bIns="18288">
            <a:spAutoFit/>
          </a:bodyPr>
          <a:lstStyle>
            <a:lvl1pPr>
              <a:defRPr>
                <a:solidFill>
                  <a:srgbClr val="FF0000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lvl1pPr>
          </a:lstStyle>
          <a:p>
            <a:r>
              <a:t>IZLAST</a:t>
            </a: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83599" y="6248399"/>
            <a:ext cx="12700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55</a:t>
            </a:fld>
            <a:endParaRPr/>
          </a:p>
        </p:txBody>
      </p:sp>
      <p:pic>
        <p:nvPicPr>
          <p:cNvPr id="1178" name="Picture 2" descr="Picture 2"/>
          <p:cNvPicPr>
            <a:picLocks noChangeAspect="1"/>
          </p:cNvPicPr>
          <p:nvPr/>
        </p:nvPicPr>
        <p:blipFill>
          <a:blip r:embed="rId2"/>
          <a:srcRect r="57208"/>
          <a:stretch>
            <a:fillRect/>
          </a:stretch>
        </p:blipFill>
        <p:spPr>
          <a:xfrm>
            <a:off x="533399" y="1295400"/>
            <a:ext cx="3456434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1179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You can keep track of the last interaction position</a:t>
            </a:r>
          </a:p>
        </p:txBody>
      </p:sp>
      <p:sp>
        <p:nvSpPr>
          <p:cNvPr id="1180" name="Rectangle 6"/>
          <p:cNvSpPr/>
          <p:nvPr/>
        </p:nvSpPr>
        <p:spPr>
          <a:xfrm>
            <a:off x="790111" y="3659828"/>
            <a:ext cx="3142696" cy="211112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1181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985" y="3635428"/>
            <a:ext cx="4047620" cy="1071430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  <p:sp>
        <p:nvSpPr>
          <p:cNvPr id="1182" name="Rectangle 7"/>
          <p:cNvSpPr/>
          <p:nvPr/>
        </p:nvSpPr>
        <p:spPr>
          <a:xfrm>
            <a:off x="554305" y="5750466"/>
            <a:ext cx="754127" cy="284227"/>
          </a:xfrm>
          <a:prstGeom prst="rect">
            <a:avLst/>
          </a:prstGeom>
          <a:solidFill>
            <a:srgbClr val="F2DCDB"/>
          </a:solidFill>
          <a:ln w="19050"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8288" tIns="18288" rIns="18288" bIns="18288">
            <a:spAutoFit/>
          </a:bodyPr>
          <a:lstStyle>
            <a:lvl1pPr>
              <a:defRPr>
                <a:solidFill>
                  <a:srgbClr val="FF0000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lvl1pPr>
          </a:lstStyle>
          <a:p>
            <a:r>
              <a:t>IZLAST</a:t>
            </a:r>
          </a:p>
        </p:txBody>
      </p:sp>
      <p:sp>
        <p:nvSpPr>
          <p:cNvPr id="1183" name="Rectangle 25"/>
          <p:cNvSpPr txBox="1"/>
          <p:nvPr/>
        </p:nvSpPr>
        <p:spPr>
          <a:xfrm>
            <a:off x="4075119" y="4000382"/>
            <a:ext cx="1914077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tabLst>
                <a:tab pos="800100" algn="l"/>
                <a:tab pos="2057400" algn="l"/>
              </a:tabLst>
              <a:defRPr b="1">
                <a:solidFill>
                  <a:srgbClr val="FF0000"/>
                </a:solidFill>
              </a:defRPr>
            </a:lvl1pPr>
          </a:lstStyle>
          <a:p>
            <a:r>
              <a:t>in phase space file!</a:t>
            </a: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83599" y="6248399"/>
            <a:ext cx="12700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56</a:t>
            </a:fld>
            <a:endParaRPr/>
          </a:p>
        </p:txBody>
      </p:sp>
      <p:pic>
        <p:nvPicPr>
          <p:cNvPr id="1186" name="Picture 2" descr="Picture 2"/>
          <p:cNvPicPr>
            <a:picLocks noChangeAspect="1"/>
          </p:cNvPicPr>
          <p:nvPr/>
        </p:nvPicPr>
        <p:blipFill>
          <a:blip r:embed="rId2"/>
          <a:srcRect l="42640"/>
          <a:stretch>
            <a:fillRect/>
          </a:stretch>
        </p:blipFill>
        <p:spPr>
          <a:xfrm>
            <a:off x="3977640" y="1295400"/>
            <a:ext cx="4633101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1187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Beyond total dose: components and contaminants</a:t>
            </a:r>
          </a:p>
        </p:txBody>
      </p:sp>
      <p:sp>
        <p:nvSpPr>
          <p:cNvPr id="1188" name="Rectangle 6"/>
          <p:cNvSpPr/>
          <p:nvPr/>
        </p:nvSpPr>
        <p:spPr>
          <a:xfrm>
            <a:off x="4168311" y="4625028"/>
            <a:ext cx="4357622" cy="211112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1189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743" y="4599328"/>
            <a:ext cx="5714287" cy="833335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  <p:grpSp>
        <p:nvGrpSpPr>
          <p:cNvPr id="1192" name="Group 3"/>
          <p:cNvGrpSpPr/>
          <p:nvPr/>
        </p:nvGrpSpPr>
        <p:grpSpPr>
          <a:xfrm>
            <a:off x="490903" y="2537467"/>
            <a:ext cx="5876192" cy="2796533"/>
            <a:chOff x="0" y="0"/>
            <a:chExt cx="5876190" cy="2796532"/>
          </a:xfrm>
        </p:grpSpPr>
        <p:pic>
          <p:nvPicPr>
            <p:cNvPr id="1190" name="Picture 3" descr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-1"/>
              <a:ext cx="5876191" cy="1800002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292100" dist="139700" dir="2700000" rotWithShape="0">
                <a:srgbClr val="333333">
                  <a:alpha val="64999"/>
                </a:srgbClr>
              </a:outerShdw>
            </a:effectLst>
          </p:spPr>
        </p:pic>
        <p:sp>
          <p:nvSpPr>
            <p:cNvPr id="1191" name="Bent-Up Arrow 2"/>
            <p:cNvSpPr/>
            <p:nvPr/>
          </p:nvSpPr>
          <p:spPr>
            <a:xfrm flipH="1">
              <a:off x="1659626" y="1907532"/>
              <a:ext cx="609602" cy="889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0777"/>
                  </a:moveTo>
                  <a:lnTo>
                    <a:pt x="18474" y="20777"/>
                  </a:lnTo>
                  <a:lnTo>
                    <a:pt x="18474" y="3291"/>
                  </a:lnTo>
                  <a:lnTo>
                    <a:pt x="16549" y="3291"/>
                  </a:lnTo>
                  <a:lnTo>
                    <a:pt x="19074" y="0"/>
                  </a:lnTo>
                  <a:lnTo>
                    <a:pt x="21600" y="3291"/>
                  </a:lnTo>
                  <a:lnTo>
                    <a:pt x="19674" y="3291"/>
                  </a:lnTo>
                  <a:lnTo>
                    <a:pt x="19674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0000"/>
            </a:solidFill>
            <a:ln w="12700" cap="flat">
              <a:noFill/>
              <a:miter lim="400000"/>
            </a:ln>
            <a:effectLst>
              <a:outerShdw blurRad="292100" dist="139700" dir="2700000" rotWithShape="0">
                <a:srgbClr val="333333">
                  <a:alpha val="64999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ln w="38100" cap="flat">
                    <a:solidFill>
                      <a:srgbClr val="000000"/>
                    </a:solidFill>
                    <a:prstDash val="solid"/>
                    <a:round/>
                  </a:ln>
                </a:defRPr>
              </a:pPr>
              <a:endParaRPr/>
            </a:p>
          </p:txBody>
        </p:sp>
      </p:grpSp>
      <p:grpSp>
        <p:nvGrpSpPr>
          <p:cNvPr id="1195" name="Group 5"/>
          <p:cNvGrpSpPr/>
          <p:nvPr/>
        </p:nvGrpSpPr>
        <p:grpSpPr>
          <a:xfrm>
            <a:off x="511387" y="1225605"/>
            <a:ext cx="3489958" cy="2070616"/>
            <a:chOff x="0" y="0"/>
            <a:chExt cx="3489957" cy="2070615"/>
          </a:xfrm>
        </p:grpSpPr>
        <p:sp>
          <p:nvSpPr>
            <p:cNvPr id="1193" name="Rectangle 4"/>
            <p:cNvSpPr txBox="1"/>
            <p:nvPr/>
          </p:nvSpPr>
          <p:spPr>
            <a:xfrm>
              <a:off x="0" y="0"/>
              <a:ext cx="3489959" cy="12093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r>
                <a:t>As soon as a particle of this type </a:t>
              </a:r>
              <a:br/>
              <a:r>
                <a:t>enters the specified CM, the dose </a:t>
              </a:r>
              <a:br/>
              <a:r>
                <a:t>resulting from it (and descendants)</a:t>
              </a:r>
              <a:br/>
              <a:r>
                <a:t>is tallied under </a:t>
              </a:r>
              <a:r>
                <a:rPr b="1">
                  <a:solidFill>
                    <a:srgbClr val="FF0000"/>
                  </a:solidFill>
                </a:rPr>
                <a:t>contaminant dose.</a:t>
              </a:r>
            </a:p>
          </p:txBody>
        </p:sp>
        <p:pic>
          <p:nvPicPr>
            <p:cNvPr id="1194" name="Picture 2" descr="Picture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149973">
              <a:off x="471425" y="1197844"/>
              <a:ext cx="1368764" cy="7868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196" name="Rectangle 14"/>
          <p:cNvSpPr/>
          <p:nvPr/>
        </p:nvSpPr>
        <p:spPr>
          <a:xfrm>
            <a:off x="554305" y="5750466"/>
            <a:ext cx="1211327" cy="284227"/>
          </a:xfrm>
          <a:prstGeom prst="rect">
            <a:avLst/>
          </a:prstGeom>
          <a:solidFill>
            <a:srgbClr val="F2DCDB"/>
          </a:solidFill>
          <a:ln w="19050"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8288" tIns="18288" rIns="18288" bIns="18288">
            <a:spAutoFit/>
          </a:bodyPr>
          <a:lstStyle>
            <a:lvl1pPr>
              <a:defRPr>
                <a:solidFill>
                  <a:srgbClr val="FF0000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lvl1pPr>
          </a:lstStyle>
          <a:p>
            <a:r>
              <a:t>ICM_CONTAM</a:t>
            </a:r>
          </a:p>
        </p:txBody>
      </p:sp>
      <p:pic>
        <p:nvPicPr>
          <p:cNvPr id="1197" name="Picture 2" descr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1246" y="4912809"/>
            <a:ext cx="3035717" cy="5238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250"/>
                                        <p:tgtEl>
                                          <p:spTgt spid="1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9" grpId="1" animBg="1" advAuto="0"/>
      <p:bldP spid="1192" grpId="3" animBg="1" advAuto="0"/>
      <p:bldP spid="1195" grpId="4" animBg="1" advAuto="0"/>
      <p:bldP spid="1197" grpId="2" animBg="1" advAuto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83599" y="6248399"/>
            <a:ext cx="12700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57</a:t>
            </a:fld>
            <a:endParaRPr/>
          </a:p>
        </p:txBody>
      </p:sp>
      <p:pic>
        <p:nvPicPr>
          <p:cNvPr id="1200" name="Picture 8" descr="Picture 8"/>
          <p:cNvPicPr>
            <a:picLocks noChangeAspect="1"/>
          </p:cNvPicPr>
          <p:nvPr/>
        </p:nvPicPr>
        <p:blipFill>
          <a:blip r:embed="rId2"/>
          <a:srcRect t="4090" r="50186" b="11119"/>
          <a:stretch>
            <a:fillRect/>
          </a:stretch>
        </p:blipFill>
        <p:spPr>
          <a:xfrm>
            <a:off x="4250587" y="1018137"/>
            <a:ext cx="4554946" cy="45763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1" name="Picture 2" descr="Picture 2"/>
          <p:cNvPicPr>
            <a:picLocks noChangeAspect="1"/>
          </p:cNvPicPr>
          <p:nvPr/>
        </p:nvPicPr>
        <p:blipFill>
          <a:blip r:embed="rId3"/>
          <a:srcRect r="57208"/>
          <a:stretch>
            <a:fillRect/>
          </a:stretch>
        </p:blipFill>
        <p:spPr>
          <a:xfrm>
            <a:off x="533399" y="1295400"/>
            <a:ext cx="3456434" cy="4319948"/>
          </a:xfrm>
          <a:prstGeom prst="rect">
            <a:avLst/>
          </a:prstGeom>
          <a:ln w="12700">
            <a:miter lim="400000"/>
          </a:ln>
        </p:spPr>
      </p:pic>
      <p:sp>
        <p:nvSpPr>
          <p:cNvPr id="1202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You can keep track of the last interaction position</a:t>
            </a:r>
          </a:p>
        </p:txBody>
      </p:sp>
      <p:sp>
        <p:nvSpPr>
          <p:cNvPr id="1203" name="Rectangle 6"/>
          <p:cNvSpPr/>
          <p:nvPr/>
        </p:nvSpPr>
        <p:spPr>
          <a:xfrm>
            <a:off x="790111" y="3659828"/>
            <a:ext cx="3142696" cy="211112"/>
          </a:xfrm>
          <a:prstGeom prst="rect">
            <a:avLst/>
          </a:prstGeom>
          <a:solidFill>
            <a:srgbClr val="E6B9B8">
              <a:alpha val="21176"/>
            </a:srgbClr>
          </a:solidFill>
          <a:ln w="25400">
            <a:solidFill>
              <a:srgbClr val="FF0000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1204" name="Picture 2" descr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6985" y="3635428"/>
            <a:ext cx="4047620" cy="1071430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  <p:sp>
        <p:nvSpPr>
          <p:cNvPr id="1205" name="Rectangle 7"/>
          <p:cNvSpPr/>
          <p:nvPr/>
        </p:nvSpPr>
        <p:spPr>
          <a:xfrm>
            <a:off x="554305" y="5750466"/>
            <a:ext cx="754127" cy="284227"/>
          </a:xfrm>
          <a:prstGeom prst="rect">
            <a:avLst/>
          </a:prstGeom>
          <a:solidFill>
            <a:srgbClr val="F2DCDB"/>
          </a:solidFill>
          <a:ln w="19050"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8288" tIns="18288" rIns="18288" bIns="18288">
            <a:spAutoFit/>
          </a:bodyPr>
          <a:lstStyle>
            <a:lvl1pPr>
              <a:defRPr>
                <a:solidFill>
                  <a:srgbClr val="FF0000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lvl1pPr>
          </a:lstStyle>
          <a:p>
            <a:r>
              <a:t>IZLAST</a:t>
            </a:r>
          </a:p>
        </p:txBody>
      </p:sp>
      <p:grpSp>
        <p:nvGrpSpPr>
          <p:cNvPr id="1208" name="Group 4"/>
          <p:cNvGrpSpPr/>
          <p:nvPr/>
        </p:nvGrpSpPr>
        <p:grpSpPr>
          <a:xfrm>
            <a:off x="5537251" y="3487851"/>
            <a:ext cx="462784" cy="125075"/>
            <a:chOff x="0" y="0"/>
            <a:chExt cx="462782" cy="125074"/>
          </a:xfrm>
        </p:grpSpPr>
        <p:sp>
          <p:nvSpPr>
            <p:cNvPr id="1206" name="Straight Connector 3"/>
            <p:cNvSpPr/>
            <p:nvPr/>
          </p:nvSpPr>
          <p:spPr>
            <a:xfrm>
              <a:off x="0" y="63912"/>
              <a:ext cx="462784" cy="1"/>
            </a:xfrm>
            <a:prstGeom prst="line">
              <a:avLst/>
            </a:prstGeom>
            <a:noFill/>
            <a:ln w="25400" cap="flat">
              <a:solidFill>
                <a:srgbClr val="FFFF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07" name="Oval 10"/>
            <p:cNvSpPr/>
            <p:nvPr/>
          </p:nvSpPr>
          <p:spPr>
            <a:xfrm>
              <a:off x="175153" y="-1"/>
              <a:ext cx="125075" cy="125076"/>
            </a:xfrm>
            <a:prstGeom prst="ellipse">
              <a:avLst/>
            </a:prstGeom>
            <a:solidFill>
              <a:srgbClr val="FFFF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1211" name="Group 32"/>
          <p:cNvGrpSpPr/>
          <p:nvPr/>
        </p:nvGrpSpPr>
        <p:grpSpPr>
          <a:xfrm>
            <a:off x="5747117" y="3816120"/>
            <a:ext cx="462784" cy="125075"/>
            <a:chOff x="0" y="0"/>
            <a:chExt cx="462782" cy="125074"/>
          </a:xfrm>
        </p:grpSpPr>
        <p:sp>
          <p:nvSpPr>
            <p:cNvPr id="1209" name="Straight Connector 33"/>
            <p:cNvSpPr/>
            <p:nvPr/>
          </p:nvSpPr>
          <p:spPr>
            <a:xfrm>
              <a:off x="0" y="63912"/>
              <a:ext cx="462784" cy="1"/>
            </a:xfrm>
            <a:prstGeom prst="line">
              <a:avLst/>
            </a:prstGeom>
            <a:noFill/>
            <a:ln w="25400" cap="flat">
              <a:solidFill>
                <a:srgbClr val="FFFF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10" name="Oval 34"/>
            <p:cNvSpPr/>
            <p:nvPr/>
          </p:nvSpPr>
          <p:spPr>
            <a:xfrm>
              <a:off x="175153" y="-1"/>
              <a:ext cx="125075" cy="125076"/>
            </a:xfrm>
            <a:prstGeom prst="ellipse">
              <a:avLst/>
            </a:prstGeom>
            <a:solidFill>
              <a:srgbClr val="FFFF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1214" name="Group 35"/>
          <p:cNvGrpSpPr/>
          <p:nvPr/>
        </p:nvGrpSpPr>
        <p:grpSpPr>
          <a:xfrm>
            <a:off x="6387481" y="3982946"/>
            <a:ext cx="462784" cy="125075"/>
            <a:chOff x="0" y="0"/>
            <a:chExt cx="462782" cy="125074"/>
          </a:xfrm>
        </p:grpSpPr>
        <p:sp>
          <p:nvSpPr>
            <p:cNvPr id="1212" name="Straight Connector 36"/>
            <p:cNvSpPr/>
            <p:nvPr/>
          </p:nvSpPr>
          <p:spPr>
            <a:xfrm>
              <a:off x="0" y="63912"/>
              <a:ext cx="462784" cy="1"/>
            </a:xfrm>
            <a:prstGeom prst="line">
              <a:avLst/>
            </a:prstGeom>
            <a:noFill/>
            <a:ln w="25400" cap="flat">
              <a:solidFill>
                <a:srgbClr val="FFFF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13" name="Oval 37"/>
            <p:cNvSpPr/>
            <p:nvPr/>
          </p:nvSpPr>
          <p:spPr>
            <a:xfrm>
              <a:off x="175153" y="-1"/>
              <a:ext cx="125075" cy="125076"/>
            </a:xfrm>
            <a:prstGeom prst="ellipse">
              <a:avLst/>
            </a:prstGeom>
            <a:solidFill>
              <a:srgbClr val="FFFF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1217" name="Group 38"/>
          <p:cNvGrpSpPr/>
          <p:nvPr/>
        </p:nvGrpSpPr>
        <p:grpSpPr>
          <a:xfrm>
            <a:off x="6548917" y="2965849"/>
            <a:ext cx="462784" cy="125075"/>
            <a:chOff x="0" y="0"/>
            <a:chExt cx="462782" cy="125074"/>
          </a:xfrm>
        </p:grpSpPr>
        <p:sp>
          <p:nvSpPr>
            <p:cNvPr id="1215" name="Straight Connector 39"/>
            <p:cNvSpPr/>
            <p:nvPr/>
          </p:nvSpPr>
          <p:spPr>
            <a:xfrm>
              <a:off x="0" y="63912"/>
              <a:ext cx="462784" cy="1"/>
            </a:xfrm>
            <a:prstGeom prst="line">
              <a:avLst/>
            </a:prstGeom>
            <a:noFill/>
            <a:ln w="25400" cap="flat">
              <a:solidFill>
                <a:srgbClr val="FFFF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16" name="Oval 40"/>
            <p:cNvSpPr/>
            <p:nvPr/>
          </p:nvSpPr>
          <p:spPr>
            <a:xfrm>
              <a:off x="175153" y="-1"/>
              <a:ext cx="125075" cy="125076"/>
            </a:xfrm>
            <a:prstGeom prst="ellipse">
              <a:avLst/>
            </a:prstGeom>
            <a:solidFill>
              <a:srgbClr val="FFFF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1220" name="Group 41"/>
          <p:cNvGrpSpPr/>
          <p:nvPr/>
        </p:nvGrpSpPr>
        <p:grpSpPr>
          <a:xfrm>
            <a:off x="6769545" y="2303929"/>
            <a:ext cx="462784" cy="125075"/>
            <a:chOff x="0" y="0"/>
            <a:chExt cx="462782" cy="125074"/>
          </a:xfrm>
        </p:grpSpPr>
        <p:sp>
          <p:nvSpPr>
            <p:cNvPr id="1218" name="Straight Connector 42"/>
            <p:cNvSpPr/>
            <p:nvPr/>
          </p:nvSpPr>
          <p:spPr>
            <a:xfrm>
              <a:off x="0" y="63912"/>
              <a:ext cx="462784" cy="1"/>
            </a:xfrm>
            <a:prstGeom prst="line">
              <a:avLst/>
            </a:prstGeom>
            <a:noFill/>
            <a:ln w="25400" cap="flat">
              <a:solidFill>
                <a:srgbClr val="FFFF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19" name="Oval 43"/>
            <p:cNvSpPr/>
            <p:nvPr/>
          </p:nvSpPr>
          <p:spPr>
            <a:xfrm>
              <a:off x="175153" y="-1"/>
              <a:ext cx="125075" cy="125076"/>
            </a:xfrm>
            <a:prstGeom prst="ellipse">
              <a:avLst/>
            </a:prstGeom>
            <a:solidFill>
              <a:srgbClr val="FFFF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1223" name="Group 44"/>
          <p:cNvGrpSpPr/>
          <p:nvPr/>
        </p:nvGrpSpPr>
        <p:grpSpPr>
          <a:xfrm>
            <a:off x="7479864" y="2831313"/>
            <a:ext cx="462784" cy="125075"/>
            <a:chOff x="0" y="0"/>
            <a:chExt cx="462782" cy="125074"/>
          </a:xfrm>
        </p:grpSpPr>
        <p:sp>
          <p:nvSpPr>
            <p:cNvPr id="1221" name="Straight Connector 45"/>
            <p:cNvSpPr/>
            <p:nvPr/>
          </p:nvSpPr>
          <p:spPr>
            <a:xfrm>
              <a:off x="0" y="63912"/>
              <a:ext cx="462784" cy="1"/>
            </a:xfrm>
            <a:prstGeom prst="line">
              <a:avLst/>
            </a:prstGeom>
            <a:noFill/>
            <a:ln w="25400" cap="flat">
              <a:solidFill>
                <a:srgbClr val="FFFF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22" name="Oval 46"/>
            <p:cNvSpPr/>
            <p:nvPr/>
          </p:nvSpPr>
          <p:spPr>
            <a:xfrm>
              <a:off x="175153" y="-1"/>
              <a:ext cx="125075" cy="125076"/>
            </a:xfrm>
            <a:prstGeom prst="ellipse">
              <a:avLst/>
            </a:prstGeom>
            <a:solidFill>
              <a:srgbClr val="FFFF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" grpId="1" animBg="1" advAuto="0"/>
      <p:bldP spid="1211" grpId="2" animBg="1" advAuto="0"/>
      <p:bldP spid="1214" grpId="3" animBg="1" advAuto="0"/>
      <p:bldP spid="1217" grpId="4" animBg="1" advAuto="0"/>
      <p:bldP spid="1220" grpId="5" animBg="1" advAuto="0"/>
      <p:bldP spid="1223" grpId="6" animBg="1" advAuto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58</a:t>
            </a:fld>
            <a:endParaRPr/>
          </a:p>
        </p:txBody>
      </p:sp>
      <p:sp>
        <p:nvSpPr>
          <p:cNvPr id="1226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LATCH bits are particle filters for dose components</a:t>
            </a:r>
          </a:p>
        </p:txBody>
      </p:sp>
      <p:pic>
        <p:nvPicPr>
          <p:cNvPr id="1227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856" y="1268343"/>
            <a:ext cx="5112288" cy="1566000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  <p:pic>
        <p:nvPicPr>
          <p:cNvPr id="1228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14" y="3121835"/>
            <a:ext cx="7904572" cy="1400288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  <p:grpSp>
        <p:nvGrpSpPr>
          <p:cNvPr id="1231" name="Group 5"/>
          <p:cNvGrpSpPr/>
          <p:nvPr/>
        </p:nvGrpSpPr>
        <p:grpSpPr>
          <a:xfrm>
            <a:off x="6706899" y="1871503"/>
            <a:ext cx="1103140" cy="1126280"/>
            <a:chOff x="0" y="0"/>
            <a:chExt cx="1103138" cy="1126279"/>
          </a:xfrm>
        </p:grpSpPr>
        <p:sp>
          <p:nvSpPr>
            <p:cNvPr id="1229" name="Bent-Up Arrow 4"/>
            <p:cNvSpPr/>
            <p:nvPr/>
          </p:nvSpPr>
          <p:spPr>
            <a:xfrm rot="10800000" flipH="1">
              <a:off x="493537" y="86704"/>
              <a:ext cx="609602" cy="1039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0896"/>
                  </a:moveTo>
                  <a:lnTo>
                    <a:pt x="18474" y="20896"/>
                  </a:lnTo>
                  <a:lnTo>
                    <a:pt x="18474" y="2815"/>
                  </a:lnTo>
                  <a:lnTo>
                    <a:pt x="16549" y="2815"/>
                  </a:lnTo>
                  <a:lnTo>
                    <a:pt x="19074" y="0"/>
                  </a:lnTo>
                  <a:lnTo>
                    <a:pt x="21600" y="2815"/>
                  </a:lnTo>
                  <a:lnTo>
                    <a:pt x="19674" y="2815"/>
                  </a:lnTo>
                  <a:lnTo>
                    <a:pt x="19674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0000"/>
            </a:solidFill>
            <a:ln w="12700" cap="flat">
              <a:noFill/>
              <a:miter lim="400000"/>
            </a:ln>
            <a:effectLst>
              <a:outerShdw blurRad="292100" dist="139700" dir="2700000" rotWithShape="0">
                <a:srgbClr val="333333">
                  <a:alpha val="64999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ln w="38100" cap="flat">
                    <a:solidFill>
                      <a:srgbClr val="000000"/>
                    </a:solidFill>
                    <a:prstDash val="solid"/>
                    <a:round/>
                  </a:ln>
                </a:defRPr>
              </a:pPr>
              <a:endParaRPr/>
            </a:p>
          </p:txBody>
        </p:sp>
        <p:sp>
          <p:nvSpPr>
            <p:cNvPr id="1230" name="Rectangle 2"/>
            <p:cNvSpPr/>
            <p:nvPr/>
          </p:nvSpPr>
          <p:spPr>
            <a:xfrm>
              <a:off x="0" y="0"/>
              <a:ext cx="334231" cy="233939"/>
            </a:xfrm>
            <a:prstGeom prst="rect">
              <a:avLst/>
            </a:prstGeom>
            <a:noFill/>
            <a:ln w="28575" cap="flat">
              <a:solidFill>
                <a:srgbClr val="FF0000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232" name="Straight Connector 7"/>
          <p:cNvSpPr/>
          <p:nvPr/>
        </p:nvSpPr>
        <p:spPr>
          <a:xfrm>
            <a:off x="713025" y="3568960"/>
            <a:ext cx="4066477" cy="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grpSp>
        <p:nvGrpSpPr>
          <p:cNvPr id="1235" name="Group 21"/>
          <p:cNvGrpSpPr/>
          <p:nvPr/>
        </p:nvGrpSpPr>
        <p:grpSpPr>
          <a:xfrm>
            <a:off x="7253420" y="4027555"/>
            <a:ext cx="1319163" cy="1965028"/>
            <a:chOff x="0" y="0"/>
            <a:chExt cx="1319162" cy="1965027"/>
          </a:xfrm>
        </p:grpSpPr>
        <p:sp>
          <p:nvSpPr>
            <p:cNvPr id="1233" name="Straight Arrow Connector 11"/>
            <p:cNvSpPr/>
            <p:nvPr/>
          </p:nvSpPr>
          <p:spPr>
            <a:xfrm flipH="1" flipV="1">
              <a:off x="366103" y="0"/>
              <a:ext cx="298517" cy="171628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34" name="TextBox 13"/>
            <p:cNvSpPr txBox="1"/>
            <p:nvPr/>
          </p:nvSpPr>
          <p:spPr>
            <a:xfrm>
              <a:off x="0" y="1716285"/>
              <a:ext cx="1319163" cy="2487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sz="2000"/>
              </a:lvl1pPr>
            </a:lstStyle>
            <a:p>
              <a:r>
                <a:t>contaminant</a:t>
              </a:r>
            </a:p>
          </p:txBody>
        </p:sp>
      </p:grpSp>
      <p:grpSp>
        <p:nvGrpSpPr>
          <p:cNvPr id="1238" name="Group 20"/>
          <p:cNvGrpSpPr/>
          <p:nvPr/>
        </p:nvGrpSpPr>
        <p:grpSpPr>
          <a:xfrm>
            <a:off x="5557346" y="4649511"/>
            <a:ext cx="1954923" cy="1348627"/>
            <a:chOff x="0" y="0"/>
            <a:chExt cx="1954921" cy="1348626"/>
          </a:xfrm>
        </p:grpSpPr>
        <p:sp>
          <p:nvSpPr>
            <p:cNvPr id="1236" name="Right Brace 12"/>
            <p:cNvSpPr/>
            <p:nvPr/>
          </p:nvSpPr>
          <p:spPr>
            <a:xfrm rot="5400000">
              <a:off x="944985" y="-263174"/>
              <a:ext cx="430711" cy="9570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965" y="0"/>
                    <a:pt x="10800" y="2371"/>
                    <a:pt x="10800" y="5295"/>
                  </a:cubicBezTo>
                  <a:lnTo>
                    <a:pt x="10800" y="5505"/>
                  </a:lnTo>
                  <a:cubicBezTo>
                    <a:pt x="10800" y="8429"/>
                    <a:pt x="15635" y="10800"/>
                    <a:pt x="21600" y="10800"/>
                  </a:cubicBezTo>
                  <a:cubicBezTo>
                    <a:pt x="15635" y="10800"/>
                    <a:pt x="10800" y="13171"/>
                    <a:pt x="10800" y="16095"/>
                  </a:cubicBezTo>
                  <a:lnTo>
                    <a:pt x="10800" y="16305"/>
                  </a:lnTo>
                  <a:cubicBezTo>
                    <a:pt x="10800" y="19229"/>
                    <a:pt x="5965" y="21600"/>
                    <a:pt x="0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37" name="TextBox 17"/>
            <p:cNvSpPr txBox="1"/>
            <p:nvPr/>
          </p:nvSpPr>
          <p:spPr>
            <a:xfrm>
              <a:off x="0" y="502806"/>
              <a:ext cx="1954922" cy="845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lnSpc>
                  <a:spcPts val="2200"/>
                </a:lnSpc>
                <a:defRPr sz="2000"/>
              </a:pPr>
              <a:r>
                <a:t>bit region number</a:t>
              </a:r>
              <a:br/>
              <a:r>
                <a:t>where secondary was created</a:t>
              </a:r>
            </a:p>
          </p:txBody>
        </p:sp>
      </p:grpSp>
      <p:grpSp>
        <p:nvGrpSpPr>
          <p:cNvPr id="1241" name="Group 19"/>
          <p:cNvGrpSpPr/>
          <p:nvPr/>
        </p:nvGrpSpPr>
        <p:grpSpPr>
          <a:xfrm>
            <a:off x="372392" y="4649509"/>
            <a:ext cx="5777456" cy="1152311"/>
            <a:chOff x="0" y="0"/>
            <a:chExt cx="5777455" cy="1152309"/>
          </a:xfrm>
        </p:grpSpPr>
        <p:sp>
          <p:nvSpPr>
            <p:cNvPr id="1239" name="Right Brace 8"/>
            <p:cNvSpPr/>
            <p:nvPr/>
          </p:nvSpPr>
          <p:spPr>
            <a:xfrm rot="5400000">
              <a:off x="3114839" y="-2194692"/>
              <a:ext cx="467925" cy="48573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965" y="0"/>
                    <a:pt x="10800" y="567"/>
                    <a:pt x="10800" y="1266"/>
                  </a:cubicBezTo>
                  <a:lnTo>
                    <a:pt x="10800" y="9534"/>
                  </a:lnTo>
                  <a:cubicBezTo>
                    <a:pt x="10800" y="10233"/>
                    <a:pt x="15635" y="10800"/>
                    <a:pt x="21600" y="10800"/>
                  </a:cubicBezTo>
                  <a:cubicBezTo>
                    <a:pt x="15635" y="10800"/>
                    <a:pt x="10800" y="11367"/>
                    <a:pt x="10800" y="12066"/>
                  </a:cubicBezTo>
                  <a:lnTo>
                    <a:pt x="10800" y="20334"/>
                  </a:lnTo>
                  <a:cubicBezTo>
                    <a:pt x="10800" y="21033"/>
                    <a:pt x="5965" y="21600"/>
                    <a:pt x="0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40" name="TextBox 18"/>
            <p:cNvSpPr txBox="1"/>
            <p:nvPr/>
          </p:nvSpPr>
          <p:spPr>
            <a:xfrm>
              <a:off x="0" y="598768"/>
              <a:ext cx="5400022" cy="5535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marL="179388" indent="-179388">
                <a:buSzPct val="100000"/>
                <a:buFont typeface="Arial"/>
                <a:buChar char="•"/>
                <a:defRPr sz="2000"/>
              </a:pPr>
              <a:r>
                <a:t>bit region where particle </a:t>
              </a:r>
              <a:r>
                <a:rPr b="1"/>
                <a:t>passed</a:t>
              </a:r>
              <a:r>
                <a:t> or </a:t>
              </a:r>
              <a:r>
                <a:rPr b="1"/>
                <a:t>interacted</a:t>
              </a:r>
            </a:p>
            <a:p>
              <a:pPr marL="179388" indent="-179388">
                <a:buSzPct val="100000"/>
                <a:buFont typeface="Arial"/>
                <a:buChar char="•"/>
                <a:defRPr sz="2000"/>
              </a:pPr>
              <a:r>
                <a:t>when inherited, settings are “cumulative”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" grpId="2" animBg="1" advAuto="0"/>
      <p:bldP spid="1231" grpId="1" animBg="1" advAuto="0"/>
      <p:bldP spid="1232" grpId="3" animBg="1" advAuto="0"/>
      <p:bldP spid="1235" grpId="6" animBg="1" advAuto="0"/>
      <p:bldP spid="1238" grpId="5" animBg="1" advAuto="0"/>
      <p:bldP spid="1241" grpId="4" animBg="1" advAuto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59</a:t>
            </a:fld>
            <a:endParaRPr/>
          </a:p>
        </p:txBody>
      </p:sp>
      <p:sp>
        <p:nvSpPr>
          <p:cNvPr id="1244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LATCH bits are particle filters for dose components</a:t>
            </a:r>
          </a:p>
        </p:txBody>
      </p:sp>
      <p:pic>
        <p:nvPicPr>
          <p:cNvPr id="1245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856" y="1268343"/>
            <a:ext cx="5112288" cy="1566000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  <p:pic>
        <p:nvPicPr>
          <p:cNvPr id="1246" name="Picture 3" descr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57" y="3157586"/>
            <a:ext cx="8043486" cy="2502236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  <p:grpSp>
        <p:nvGrpSpPr>
          <p:cNvPr id="1249" name="Group 4"/>
          <p:cNvGrpSpPr/>
          <p:nvPr/>
        </p:nvGrpSpPr>
        <p:grpSpPr>
          <a:xfrm>
            <a:off x="6706899" y="2099161"/>
            <a:ext cx="1103140" cy="980125"/>
            <a:chOff x="0" y="0"/>
            <a:chExt cx="1103138" cy="980124"/>
          </a:xfrm>
        </p:grpSpPr>
        <p:sp>
          <p:nvSpPr>
            <p:cNvPr id="1247" name="Bent-Up Arrow 5"/>
            <p:cNvSpPr/>
            <p:nvPr/>
          </p:nvSpPr>
          <p:spPr>
            <a:xfrm rot="10800000" flipH="1">
              <a:off x="493537" y="86703"/>
              <a:ext cx="609602" cy="8934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0781"/>
                  </a:moveTo>
                  <a:lnTo>
                    <a:pt x="18474" y="20781"/>
                  </a:lnTo>
                  <a:lnTo>
                    <a:pt x="18474" y="3275"/>
                  </a:lnTo>
                  <a:lnTo>
                    <a:pt x="16549" y="3275"/>
                  </a:lnTo>
                  <a:lnTo>
                    <a:pt x="19074" y="0"/>
                  </a:lnTo>
                  <a:lnTo>
                    <a:pt x="21600" y="3275"/>
                  </a:lnTo>
                  <a:lnTo>
                    <a:pt x="19674" y="3275"/>
                  </a:lnTo>
                  <a:lnTo>
                    <a:pt x="19674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0000"/>
            </a:solidFill>
            <a:ln w="12700" cap="flat">
              <a:noFill/>
              <a:miter lim="400000"/>
            </a:ln>
            <a:effectLst>
              <a:outerShdw blurRad="292100" dist="139700" dir="2700000" rotWithShape="0">
                <a:srgbClr val="333333">
                  <a:alpha val="64999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ln w="38100" cap="flat">
                    <a:solidFill>
                      <a:srgbClr val="000000"/>
                    </a:solidFill>
                    <a:prstDash val="solid"/>
                    <a:round/>
                  </a:ln>
                </a:defRPr>
              </a:pPr>
              <a:endParaRPr/>
            </a:p>
          </p:txBody>
        </p:sp>
        <p:sp>
          <p:nvSpPr>
            <p:cNvPr id="1248" name="Rectangle 6"/>
            <p:cNvSpPr/>
            <p:nvPr/>
          </p:nvSpPr>
          <p:spPr>
            <a:xfrm>
              <a:off x="0" y="-1"/>
              <a:ext cx="334231" cy="233939"/>
            </a:xfrm>
            <a:prstGeom prst="rect">
              <a:avLst/>
            </a:prstGeom>
            <a:noFill/>
            <a:ln w="28575" cap="flat">
              <a:solidFill>
                <a:srgbClr val="FF0000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250" name="TextBox 2"/>
          <p:cNvSpPr txBox="1"/>
          <p:nvPr/>
        </p:nvSpPr>
        <p:spPr>
          <a:xfrm>
            <a:off x="91439" y="3947462"/>
            <a:ext cx="450822" cy="431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>
            <a:lvl1pPr>
              <a:defRPr sz="2000" b="1">
                <a:solidFill>
                  <a:srgbClr val="FF0000"/>
                </a:solidFill>
              </a:defRPr>
            </a:lvl1pPr>
          </a:lstStyle>
          <a:p>
            <a:r>
              <a:t>#1</a:t>
            </a:r>
          </a:p>
        </p:txBody>
      </p:sp>
      <p:sp>
        <p:nvSpPr>
          <p:cNvPr id="1251" name="TextBox 8"/>
          <p:cNvSpPr txBox="1"/>
          <p:nvPr/>
        </p:nvSpPr>
        <p:spPr>
          <a:xfrm>
            <a:off x="91439" y="4622534"/>
            <a:ext cx="450822" cy="431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>
            <a:lvl1pPr>
              <a:defRPr sz="2000" b="1">
                <a:solidFill>
                  <a:srgbClr val="FF0000"/>
                </a:solidFill>
              </a:defRPr>
            </a:lvl1pPr>
          </a:lstStyle>
          <a:p>
            <a:r>
              <a:t>#2</a:t>
            </a:r>
          </a:p>
        </p:txBody>
      </p:sp>
      <p:grpSp>
        <p:nvGrpSpPr>
          <p:cNvPr id="1254" name="Group 9"/>
          <p:cNvGrpSpPr/>
          <p:nvPr/>
        </p:nvGrpSpPr>
        <p:grpSpPr>
          <a:xfrm>
            <a:off x="1658905" y="3534636"/>
            <a:ext cx="5445786" cy="163843"/>
            <a:chOff x="0" y="0"/>
            <a:chExt cx="5445785" cy="163842"/>
          </a:xfrm>
        </p:grpSpPr>
        <p:sp>
          <p:nvSpPr>
            <p:cNvPr id="1252" name="Straight Connector 10"/>
            <p:cNvSpPr/>
            <p:nvPr/>
          </p:nvSpPr>
          <p:spPr>
            <a:xfrm>
              <a:off x="1159215" y="-1"/>
              <a:ext cx="4286571" cy="1"/>
            </a:xfrm>
            <a:prstGeom prst="line">
              <a:avLst/>
            </a:prstGeom>
            <a:noFill/>
            <a:ln w="38100" cap="flat">
              <a:solidFill>
                <a:srgbClr val="FFFF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53" name="Straight Connector 11"/>
            <p:cNvSpPr/>
            <p:nvPr/>
          </p:nvSpPr>
          <p:spPr>
            <a:xfrm>
              <a:off x="0" y="163842"/>
              <a:ext cx="3535184" cy="1"/>
            </a:xfrm>
            <a:prstGeom prst="line">
              <a:avLst/>
            </a:prstGeom>
            <a:noFill/>
            <a:ln w="38100" cap="flat">
              <a:solidFill>
                <a:srgbClr val="FFFF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"/>
                            </p:stCondLst>
                            <p:childTnLst>
                              <p:par>
                                <p:cTn id="12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"/>
                            </p:stCondLst>
                            <p:childTnLst>
                              <p:par>
                                <p:cTn id="15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6" grpId="2" animBg="1" advAuto="0"/>
      <p:bldP spid="1249" grpId="1" animBg="1" advAuto="0"/>
      <p:bldP spid="1250" grpId="4" animBg="1" advAuto="0"/>
      <p:bldP spid="1251" grpId="3" animBg="1" advAuto="0"/>
      <p:bldP spid="1254" grpId="5" animBg="1" advAuto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60</a:t>
            </a:fld>
            <a:endParaRPr/>
          </a:p>
        </p:txBody>
      </p:sp>
      <p:grpSp>
        <p:nvGrpSpPr>
          <p:cNvPr id="1259" name="Group 11"/>
          <p:cNvGrpSpPr/>
          <p:nvPr/>
        </p:nvGrpSpPr>
        <p:grpSpPr>
          <a:xfrm>
            <a:off x="1879577" y="4649509"/>
            <a:ext cx="6712413" cy="1381537"/>
            <a:chOff x="0" y="0"/>
            <a:chExt cx="6712411" cy="1381536"/>
          </a:xfrm>
        </p:grpSpPr>
        <p:sp>
          <p:nvSpPr>
            <p:cNvPr id="1257" name="Right Brace 12"/>
            <p:cNvSpPr/>
            <p:nvPr/>
          </p:nvSpPr>
          <p:spPr>
            <a:xfrm rot="5400000">
              <a:off x="2194691" y="-2194692"/>
              <a:ext cx="467925" cy="48573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965" y="0"/>
                    <a:pt x="10800" y="567"/>
                    <a:pt x="10800" y="1266"/>
                  </a:cubicBezTo>
                  <a:lnTo>
                    <a:pt x="10800" y="9534"/>
                  </a:lnTo>
                  <a:cubicBezTo>
                    <a:pt x="10800" y="10233"/>
                    <a:pt x="15635" y="10800"/>
                    <a:pt x="21600" y="10800"/>
                  </a:cubicBezTo>
                  <a:cubicBezTo>
                    <a:pt x="15635" y="10800"/>
                    <a:pt x="10800" y="11367"/>
                    <a:pt x="10800" y="12066"/>
                  </a:cubicBezTo>
                  <a:lnTo>
                    <a:pt x="10800" y="20334"/>
                  </a:lnTo>
                  <a:cubicBezTo>
                    <a:pt x="10800" y="21033"/>
                    <a:pt x="5965" y="21600"/>
                    <a:pt x="0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58" name="TextBox 13"/>
            <p:cNvSpPr txBox="1"/>
            <p:nvPr/>
          </p:nvSpPr>
          <p:spPr>
            <a:xfrm>
              <a:off x="23147" y="510792"/>
              <a:ext cx="6689265" cy="8707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marL="179388" indent="-179388">
                <a:buSzPct val="100000"/>
                <a:buFont typeface="Arial"/>
                <a:buChar char="•"/>
                <a:defRPr sz="2000"/>
              </a:pPr>
              <a:r>
                <a:t>bit regions are assigned during CM definition (see CM lecture)</a:t>
              </a:r>
            </a:p>
            <a:p>
              <a:pPr marL="179388" indent="-179388">
                <a:buSzPct val="100000"/>
                <a:buFont typeface="Arial"/>
                <a:buChar char="•"/>
                <a:defRPr sz="2000"/>
              </a:pPr>
              <a:r>
                <a:t>bits 1</a:t>
              </a:r>
              <a:r>
                <a:rPr>
                  <a:latin typeface="Symbol"/>
                  <a:ea typeface="Symbol"/>
                  <a:cs typeface="Symbol"/>
                  <a:sym typeface="Symbol"/>
                </a:rPr>
                <a:t>-</a:t>
              </a:r>
              <a:r>
                <a:t>23 can be assigned to regions</a:t>
              </a:r>
            </a:p>
            <a:p>
              <a:pPr marL="179388" indent="-179388">
                <a:buSzPct val="100000"/>
                <a:buFont typeface="Arial"/>
                <a:buChar char="•"/>
                <a:defRPr sz="2000" b="1">
                  <a:solidFill>
                    <a:srgbClr val="FF0000"/>
                  </a:solidFill>
                </a:defRPr>
              </a:pPr>
              <a:r>
                <a:t>by default regions are assigned to bit 23</a:t>
              </a:r>
            </a:p>
          </p:txBody>
        </p:sp>
      </p:grpSp>
      <p:sp>
        <p:nvSpPr>
          <p:cNvPr id="1260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LATCH bits are particle filters for dose components</a:t>
            </a:r>
          </a:p>
        </p:txBody>
      </p:sp>
      <p:pic>
        <p:nvPicPr>
          <p:cNvPr id="1261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856" y="1268343"/>
            <a:ext cx="5112288" cy="1566000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  <p:pic>
        <p:nvPicPr>
          <p:cNvPr id="1262" name="Picture 3" descr="Picture 3"/>
          <p:cNvPicPr>
            <a:picLocks noChangeAspect="1"/>
          </p:cNvPicPr>
          <p:nvPr/>
        </p:nvPicPr>
        <p:blipFill>
          <a:blip r:embed="rId3"/>
          <a:srcRect b="45190"/>
          <a:stretch>
            <a:fillRect/>
          </a:stretch>
        </p:blipFill>
        <p:spPr>
          <a:xfrm>
            <a:off x="550257" y="3157586"/>
            <a:ext cx="8043486" cy="1371480"/>
          </a:xfrm>
          <a:prstGeom prst="rect">
            <a:avLst/>
          </a:prstGeom>
          <a:ln w="12700">
            <a:miter lim="400000"/>
          </a:ln>
          <a:effectLst>
            <a:outerShdw blurRad="292100" dist="139700" dir="2700000" rotWithShape="0">
              <a:srgbClr val="333333">
                <a:alpha val="64999"/>
              </a:srgbClr>
            </a:outerShdw>
          </a:effectLst>
        </p:spPr>
      </p:pic>
      <p:grpSp>
        <p:nvGrpSpPr>
          <p:cNvPr id="1265" name="Group 4"/>
          <p:cNvGrpSpPr/>
          <p:nvPr/>
        </p:nvGrpSpPr>
        <p:grpSpPr>
          <a:xfrm>
            <a:off x="6706899" y="2099161"/>
            <a:ext cx="1103140" cy="980125"/>
            <a:chOff x="0" y="0"/>
            <a:chExt cx="1103138" cy="980124"/>
          </a:xfrm>
        </p:grpSpPr>
        <p:sp>
          <p:nvSpPr>
            <p:cNvPr id="1263" name="Bent-Up Arrow 5"/>
            <p:cNvSpPr/>
            <p:nvPr/>
          </p:nvSpPr>
          <p:spPr>
            <a:xfrm rot="10800000" flipH="1">
              <a:off x="493537" y="86703"/>
              <a:ext cx="609602" cy="8934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0781"/>
                  </a:moveTo>
                  <a:lnTo>
                    <a:pt x="18474" y="20781"/>
                  </a:lnTo>
                  <a:lnTo>
                    <a:pt x="18474" y="3275"/>
                  </a:lnTo>
                  <a:lnTo>
                    <a:pt x="16549" y="3275"/>
                  </a:lnTo>
                  <a:lnTo>
                    <a:pt x="19074" y="0"/>
                  </a:lnTo>
                  <a:lnTo>
                    <a:pt x="21600" y="3275"/>
                  </a:lnTo>
                  <a:lnTo>
                    <a:pt x="19674" y="3275"/>
                  </a:lnTo>
                  <a:lnTo>
                    <a:pt x="19674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0000"/>
            </a:solidFill>
            <a:ln w="12700" cap="flat">
              <a:noFill/>
              <a:miter lim="400000"/>
            </a:ln>
            <a:effectLst>
              <a:outerShdw blurRad="292100" dist="139700" dir="2700000" rotWithShape="0">
                <a:srgbClr val="333333">
                  <a:alpha val="64999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ln w="38100" cap="flat">
                    <a:solidFill>
                      <a:srgbClr val="000000"/>
                    </a:solidFill>
                    <a:prstDash val="solid"/>
                    <a:round/>
                  </a:ln>
                </a:defRPr>
              </a:pPr>
              <a:endParaRPr/>
            </a:p>
          </p:txBody>
        </p:sp>
        <p:sp>
          <p:nvSpPr>
            <p:cNvPr id="1264" name="Rectangle 6"/>
            <p:cNvSpPr/>
            <p:nvPr/>
          </p:nvSpPr>
          <p:spPr>
            <a:xfrm>
              <a:off x="0" y="-1"/>
              <a:ext cx="334231" cy="233939"/>
            </a:xfrm>
            <a:prstGeom prst="rect">
              <a:avLst/>
            </a:prstGeom>
            <a:noFill/>
            <a:ln w="28575" cap="flat">
              <a:solidFill>
                <a:srgbClr val="FF0000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1268" name="Group 17"/>
          <p:cNvGrpSpPr/>
          <p:nvPr/>
        </p:nvGrpSpPr>
        <p:grpSpPr>
          <a:xfrm>
            <a:off x="1658905" y="3534636"/>
            <a:ext cx="5445786" cy="163843"/>
            <a:chOff x="0" y="0"/>
            <a:chExt cx="5445785" cy="163842"/>
          </a:xfrm>
        </p:grpSpPr>
        <p:sp>
          <p:nvSpPr>
            <p:cNvPr id="1266" name="Straight Connector 14"/>
            <p:cNvSpPr/>
            <p:nvPr/>
          </p:nvSpPr>
          <p:spPr>
            <a:xfrm>
              <a:off x="1159215" y="-1"/>
              <a:ext cx="4286571" cy="1"/>
            </a:xfrm>
            <a:prstGeom prst="line">
              <a:avLst/>
            </a:prstGeom>
            <a:noFill/>
            <a:ln w="38100" cap="flat">
              <a:solidFill>
                <a:srgbClr val="FFFF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67" name="Straight Connector 16"/>
            <p:cNvSpPr/>
            <p:nvPr/>
          </p:nvSpPr>
          <p:spPr>
            <a:xfrm>
              <a:off x="0" y="163842"/>
              <a:ext cx="3535184" cy="1"/>
            </a:xfrm>
            <a:prstGeom prst="line">
              <a:avLst/>
            </a:prstGeom>
            <a:noFill/>
            <a:ln w="38100" cap="flat">
              <a:solidFill>
                <a:srgbClr val="FFFF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269" name="TextBox 20"/>
          <p:cNvSpPr txBox="1"/>
          <p:nvPr/>
        </p:nvSpPr>
        <p:spPr>
          <a:xfrm>
            <a:off x="91439" y="3947462"/>
            <a:ext cx="450822" cy="431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>
            <a:lvl1pPr>
              <a:defRPr sz="2000" b="1">
                <a:solidFill>
                  <a:srgbClr val="FF0000"/>
                </a:solidFill>
              </a:defRPr>
            </a:lvl1pPr>
          </a:lstStyle>
          <a:p>
            <a:r>
              <a:t>#1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00000 0.183229" pathEditMode="relative">
                                      <p:cBhvr>
                                        <p:cTn id="6" dur="500" fill="hold"/>
                                        <p:tgtEl>
                                          <p:spTgt spid="12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" grpId="2" animBg="1" advAuto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61</a:t>
            </a:fld>
            <a:endParaRPr/>
          </a:p>
        </p:txBody>
      </p:sp>
      <p:sp>
        <p:nvSpPr>
          <p:cNvPr id="1272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Limits can be changed, but you have to recompile</a:t>
            </a:r>
          </a:p>
        </p:txBody>
      </p:sp>
      <p:graphicFrame>
        <p:nvGraphicFramePr>
          <p:cNvPr id="1273" name="Table 15"/>
          <p:cNvGraphicFramePr/>
          <p:nvPr/>
        </p:nvGraphicFramePr>
        <p:xfrm>
          <a:off x="527985" y="2521398"/>
          <a:ext cx="8052559" cy="333756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2217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8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6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Macro</a:t>
                      </a:r>
                    </a:p>
                  </a:txBody>
                  <a:tcPr marL="72000" marR="72000" marT="72000" marB="72000" horzOverflow="overflow">
                    <a:lnL w="12700">
                      <a:solidFill>
                        <a:schemeClr val="accent1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marL="72000" marR="72000" marT="72000" marB="72000" horzOverflow="overflow"/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 marL="72000" marR="72000" marT="72000" marB="72000" horzOverflow="overflow">
                    <a:lnR w="12700">
                      <a:solidFill>
                        <a:schemeClr val="accent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0000FF"/>
                          </a:solidFill>
                          <a:latin typeface="Inconsolata Regular Regular"/>
                          <a:ea typeface="Inconsolata Regular Regular"/>
                          <a:cs typeface="Inconsolata Regular Regular"/>
                          <a:sym typeface="Inconsolata Regular Regular"/>
                        </a:rPr>
                        <a:t>$MAX_CMs</a:t>
                      </a:r>
                    </a:p>
                  </a:txBody>
                  <a:tcPr marL="46800" marR="46800" marT="46800" marB="46800" horzOverflow="overflow">
                    <a:lnL w="12700">
                      <a:solidFill>
                        <a:schemeClr val="accent1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maximum number of CMs</a:t>
                      </a:r>
                    </a:p>
                  </a:txBody>
                  <a:tcPr marL="46800" marR="46800" marT="46800" marB="4680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24</a:t>
                      </a:r>
                    </a:p>
                  </a:txBody>
                  <a:tcPr marL="46800" marR="46800" marT="46800" marB="46800" horzOverflow="overflow">
                    <a:lnR w="12700">
                      <a:solidFill>
                        <a:schemeClr val="accent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0000FF"/>
                          </a:solidFill>
                          <a:latin typeface="Inconsolata Regular Regular"/>
                          <a:ea typeface="Inconsolata Regular Regular"/>
                          <a:cs typeface="Inconsolata Regular Regular"/>
                          <a:sym typeface="Inconsolata Regular Regular"/>
                        </a:rPr>
                        <a:t>$MXMED</a:t>
                      </a:r>
                    </a:p>
                  </a:txBody>
                  <a:tcPr marL="46800" marR="46800" marT="46800" marB="46800" horzOverflow="overflow">
                    <a:lnL w="12700">
                      <a:solidFill>
                        <a:schemeClr val="accent1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maximum number of media</a:t>
                      </a:r>
                    </a:p>
                  </a:txBody>
                  <a:tcPr marL="46800" marR="46800" marT="46800" marB="4680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>
                          <a:solidFill>
                            <a:srgbClr val="FF0000"/>
                          </a:solidFill>
                        </a:rPr>
                        <a:t>12</a:t>
                      </a:r>
                    </a:p>
                  </a:txBody>
                  <a:tcPr marL="46800" marR="46800" marT="46800" marB="46800" horzOverflow="overflow">
                    <a:lnR w="12700">
                      <a:solidFill>
                        <a:schemeClr val="accent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0000FF"/>
                          </a:solidFill>
                          <a:latin typeface="Inconsolata Regular Regular"/>
                          <a:ea typeface="Inconsolata Regular Regular"/>
                          <a:cs typeface="Inconsolata Regular Regular"/>
                          <a:sym typeface="Inconsolata Regular Regular"/>
                        </a:rPr>
                        <a:t>$MXREG</a:t>
                      </a:r>
                    </a:p>
                  </a:txBody>
                  <a:tcPr marL="46800" marR="46800" marT="46800" marB="46800" horzOverflow="overflow">
                    <a:lnL w="12700">
                      <a:solidFill>
                        <a:schemeClr val="accent1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maximum number of regions</a:t>
                      </a:r>
                    </a:p>
                  </a:txBody>
                  <a:tcPr marL="46800" marR="46800" marT="46800" marB="4680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3 000</a:t>
                      </a:r>
                    </a:p>
                  </a:txBody>
                  <a:tcPr marL="46800" marR="46800" marT="46800" marB="46800" horzOverflow="overflow">
                    <a:lnR w="12700">
                      <a:solidFill>
                        <a:schemeClr val="accent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0000FF"/>
                          </a:solidFill>
                          <a:latin typeface="Inconsolata Regular Regular"/>
                          <a:ea typeface="Inconsolata Regular Regular"/>
                          <a:cs typeface="Inconsolata Regular Regular"/>
                          <a:sym typeface="Inconsolata Regular Regular"/>
                        </a:rPr>
                        <a:t>$MXSTACK</a:t>
                      </a:r>
                    </a:p>
                  </a:txBody>
                  <a:tcPr marL="46800" marR="46800" marT="46800" marB="46800" horzOverflow="overflow">
                    <a:lnL w="12700">
                      <a:solidFill>
                        <a:schemeClr val="accent1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maximum number of particles on stack</a:t>
                      </a:r>
                    </a:p>
                  </a:txBody>
                  <a:tcPr marL="46800" marR="46800" marT="46800" marB="4680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10 000</a:t>
                      </a:r>
                    </a:p>
                  </a:txBody>
                  <a:tcPr marL="46800" marR="46800" marT="46800" marB="46800" horzOverflow="overflow">
                    <a:lnR w="12700">
                      <a:solidFill>
                        <a:schemeClr val="accent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0000FF"/>
                          </a:solidFill>
                          <a:latin typeface="Inconsolata Regular Regular"/>
                          <a:ea typeface="Inconsolata Regular Regular"/>
                          <a:cs typeface="Inconsolata Regular Regular"/>
                          <a:sym typeface="Inconsolata Regular Regular"/>
                        </a:rPr>
                        <a:t>$MAXBRSPLIT</a:t>
                      </a:r>
                    </a:p>
                  </a:txBody>
                  <a:tcPr marL="46800" marR="46800" marT="46800" marB="46800" horzOverflow="overflow">
                    <a:lnL w="12700">
                      <a:solidFill>
                        <a:schemeClr val="accent1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maximum brems splitting number</a:t>
                      </a:r>
                    </a:p>
                  </a:txBody>
                  <a:tcPr marL="46800" marR="46800" marT="46800" marB="4680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2 000</a:t>
                      </a:r>
                    </a:p>
                  </a:txBody>
                  <a:tcPr marL="46800" marR="46800" marT="46800" marB="46800" horzOverflow="overflow">
                    <a:lnR w="12700">
                      <a:solidFill>
                        <a:schemeClr val="accent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0000FF"/>
                          </a:solidFill>
                          <a:latin typeface="Inconsolata Regular Regular"/>
                          <a:ea typeface="Inconsolata Regular Regular"/>
                          <a:cs typeface="Inconsolata Regular Regular"/>
                          <a:sym typeface="Inconsolata Regular Regular"/>
                        </a:rPr>
                        <a:t>$MAX_DOSE_ZONE</a:t>
                      </a:r>
                    </a:p>
                  </a:txBody>
                  <a:tcPr marL="46800" marR="46800" marT="46800" marB="46800" horzOverflow="overflow">
                    <a:lnL w="12700">
                      <a:solidFill>
                        <a:schemeClr val="accent1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maximum number of dose zones</a:t>
                      </a:r>
                    </a:p>
                  </a:txBody>
                  <a:tcPr marL="46800" marR="46800" marT="46800" marB="4680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1 500</a:t>
                      </a:r>
                    </a:p>
                  </a:txBody>
                  <a:tcPr marL="46800" marR="46800" marT="46800" marB="46800" horzOverflow="overflow">
                    <a:lnR w="12700">
                      <a:solidFill>
                        <a:schemeClr val="accent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0000FF"/>
                          </a:solidFill>
                          <a:latin typeface="Inconsolata Regular Regular"/>
                          <a:ea typeface="Inconsolata Regular Regular"/>
                          <a:cs typeface="Inconsolata Regular Regular"/>
                          <a:sym typeface="Inconsolata Regular Regular"/>
                        </a:rPr>
                        <a:t>$MAX_SC_PLANES</a:t>
                      </a:r>
                    </a:p>
                  </a:txBody>
                  <a:tcPr marL="46800" marR="46800" marT="46800" marB="46800" horzOverflow="overflow">
                    <a:lnL w="12700">
                      <a:solidFill>
                        <a:schemeClr val="accent1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maximum number of scoring planes</a:t>
                      </a:r>
                    </a:p>
                  </a:txBody>
                  <a:tcPr marL="46800" marR="46800" marT="46800" marB="4680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46800" marR="46800" marT="46800" marB="46800" horzOverflow="overflow">
                    <a:lnR w="12700">
                      <a:solidFill>
                        <a:schemeClr val="accent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0000FF"/>
                          </a:solidFill>
                          <a:latin typeface="Inconsolata Regular Regular"/>
                          <a:ea typeface="Inconsolata Regular Regular"/>
                          <a:cs typeface="Inconsolata Regular Regular"/>
                          <a:sym typeface="Inconsolata Regular Regular"/>
                        </a:rPr>
                        <a:t>$MAX_SC_ZONES</a:t>
                      </a:r>
                    </a:p>
                  </a:txBody>
                  <a:tcPr marL="46800" marR="46800" marT="46800" marB="46800" horzOverflow="overflow">
                    <a:lnL w="12700">
                      <a:solidFill>
                        <a:schemeClr val="accent1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maximum number of scoring zones</a:t>
                      </a:r>
                    </a:p>
                  </a:txBody>
                  <a:tcPr marL="46800" marR="46800" marT="46800" marB="4680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marL="46800" marR="46800" marT="46800" marB="46800" horzOverflow="overflow">
                    <a:lnR w="12700">
                      <a:solidFill>
                        <a:schemeClr val="accent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74" name="Text Placeholder 2"/>
          <p:cNvSpPr>
            <a:spLocks noGrp="1"/>
          </p:cNvSpPr>
          <p:nvPr>
            <p:ph type="body" idx="21"/>
          </p:nvPr>
        </p:nvSpPr>
        <p:spPr>
          <a:xfrm>
            <a:off x="533399" y="914400"/>
            <a:ext cx="8195876" cy="25643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lnSpc>
                <a:spcPct val="40000"/>
              </a:lnSpc>
              <a:spcBef>
                <a:spcPts val="2400"/>
              </a:spcBef>
              <a:defRPr sz="2000"/>
            </a:pPr>
            <a:r>
              <a:t>Defined in </a:t>
            </a:r>
            <a:r>
              <a:rPr>
                <a:solidFill>
                  <a:srgbClr val="0000FF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rPr>
              <a:t>$OMEGA_HOME/beamnrc/beamnrc_user_macros.mortran</a:t>
            </a:r>
          </a:p>
          <a:p>
            <a:pPr>
              <a:lnSpc>
                <a:spcPct val="40000"/>
              </a:lnSpc>
              <a:spcBef>
                <a:spcPts val="2400"/>
              </a:spcBef>
              <a:defRPr sz="2000" b="1"/>
            </a:pPr>
            <a:r>
              <a:t>​</a:t>
            </a:r>
            <a:r>
              <a:rPr>
                <a:solidFill>
                  <a:srgbClr val="FF0000"/>
                </a:solidFill>
              </a:rPr>
              <a:t>Copy</a:t>
            </a:r>
            <a:r>
              <a:rPr b="0">
                <a:solidFill>
                  <a:srgbClr val="FF0000"/>
                </a:solidFill>
              </a:rPr>
              <a:t> </a:t>
            </a:r>
            <a:r>
              <a:rPr b="0"/>
              <a:t>into </a:t>
            </a:r>
            <a:r>
              <a:rPr b="0">
                <a:solidFill>
                  <a:srgbClr val="0000FF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rPr>
              <a:t>$EGS_HOME/BEAM_myaccel</a:t>
            </a:r>
            <a:r>
              <a:rPr b="0"/>
              <a:t> directory to change for myaccel only</a:t>
            </a:r>
          </a:p>
          <a:p>
            <a:pPr>
              <a:lnSpc>
                <a:spcPct val="40000"/>
              </a:lnSpc>
              <a:spcBef>
                <a:spcPts val="2400"/>
              </a:spcBef>
              <a:defRPr sz="2000"/>
            </a:pPr>
            <a:r>
              <a:t>Need to </a:t>
            </a:r>
            <a:r>
              <a:rPr b="1">
                <a:solidFill>
                  <a:srgbClr val="FF0000"/>
                </a:solidFill>
              </a:rPr>
              <a:t>recompile</a:t>
            </a:r>
            <a:r>
              <a:t> (make) </a:t>
            </a:r>
            <a:r>
              <a:rPr>
                <a:solidFill>
                  <a:srgbClr val="0000FF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rPr>
              <a:t>myaccel</a:t>
            </a:r>
            <a:r>
              <a:rPr>
                <a:solidFill>
                  <a:srgbClr val="0000FF"/>
                </a:solidFill>
              </a:rPr>
              <a:t> </a:t>
            </a:r>
            <a:r>
              <a:t>to apply changes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7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3" grpId="2" animBg="1" advAuto="0"/>
      <p:bldP spid="1274" grpId="1" build="p" animBg="1" advAuto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TextBox 21"/>
          <p:cNvSpPr txBox="1">
            <a:spLocks noGrp="1"/>
          </p:cNvSpPr>
          <p:nvPr>
            <p:ph type="sldNum" sz="quarter" idx="2"/>
          </p:nvPr>
        </p:nvSpPr>
        <p:spPr>
          <a:xfrm>
            <a:off x="8417669" y="6248399"/>
            <a:ext cx="192931" cy="1893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62</a:t>
            </a:fld>
            <a:endParaRPr/>
          </a:p>
        </p:txBody>
      </p:sp>
      <p:sp>
        <p:nvSpPr>
          <p:cNvPr id="1277" name="Tex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Conclusions</a:t>
            </a:r>
          </a:p>
        </p:txBody>
      </p:sp>
      <p:sp>
        <p:nvSpPr>
          <p:cNvPr id="1278" name="Text Placeholder 2"/>
          <p:cNvSpPr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spcBef>
                <a:spcPts val="2400"/>
              </a:spcBef>
              <a:defRPr sz="2000"/>
            </a:pPr>
            <a:r>
              <a:t>BEAMnrc is </a:t>
            </a:r>
            <a:r>
              <a:rPr b="1">
                <a:solidFill>
                  <a:srgbClr val="FF0000"/>
                </a:solidFill>
              </a:rPr>
              <a:t>installed by default</a:t>
            </a:r>
            <a:r>
              <a:t> as part of EGSnrc.</a:t>
            </a:r>
          </a:p>
          <a:p>
            <a:pPr>
              <a:spcBef>
                <a:spcPts val="2400"/>
              </a:spcBef>
              <a:defRPr sz="2000"/>
            </a:pPr>
            <a:r>
              <a:t>BEAMnrc is a </a:t>
            </a:r>
            <a:r>
              <a:rPr b="1">
                <a:solidFill>
                  <a:srgbClr val="FF0000"/>
                </a:solidFill>
              </a:rPr>
              <a:t>well-vetted workhorse EGSnrc application builder</a:t>
            </a:r>
            <a:r>
              <a:t> for modelling “linear accelerators” (stacked components).</a:t>
            </a:r>
          </a:p>
          <a:p>
            <a:pPr>
              <a:spcBef>
                <a:spcPts val="2400"/>
              </a:spcBef>
              <a:defRPr sz="2000" b="1"/>
            </a:pPr>
            <a:r>
              <a:t>Recommendation: </a:t>
            </a:r>
            <a:r>
              <a:rPr b="0"/>
              <a:t>use </a:t>
            </a:r>
            <a:r>
              <a:rPr b="0">
                <a:solidFill>
                  <a:srgbClr val="0000FF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rPr>
              <a:t>beamnrc_gui</a:t>
            </a:r>
            <a:r>
              <a:rPr b="0"/>
              <a:t> to edit your input files.</a:t>
            </a:r>
          </a:p>
          <a:p>
            <a:pPr>
              <a:spcBef>
                <a:spcPts val="2400"/>
              </a:spcBef>
              <a:defRPr sz="2000"/>
            </a:pPr>
            <a:r>
              <a:t>BEAMnrc offers quite a complete library of linac </a:t>
            </a:r>
            <a:r>
              <a:rPr b="1">
                <a:solidFill>
                  <a:srgbClr val="FF0000"/>
                </a:solidFill>
              </a:rPr>
              <a:t>component modules.</a:t>
            </a:r>
          </a:p>
          <a:p>
            <a:pPr>
              <a:spcBef>
                <a:spcPts val="2400"/>
              </a:spcBef>
              <a:defRPr sz="2000"/>
            </a:pPr>
            <a:r>
              <a:t>Compile BEAMnrc as </a:t>
            </a:r>
            <a:r>
              <a:rPr b="1">
                <a:solidFill>
                  <a:srgbClr val="FF0000"/>
                </a:solidFill>
              </a:rPr>
              <a:t>a shared library </a:t>
            </a:r>
            <a:r>
              <a:t>to use as a source (</a:t>
            </a:r>
            <a:r>
              <a:rPr>
                <a:solidFill>
                  <a:srgbClr val="3366FF"/>
                </a:solidFill>
                <a:latin typeface="Inconsolata Regular Regular"/>
                <a:ea typeface="Inconsolata Regular Regular"/>
                <a:cs typeface="Inconsolata Regular Regular"/>
                <a:sym typeface="Inconsolata Regular Regular"/>
              </a:rPr>
              <a:t>make library</a:t>
            </a:r>
            <a:r>
              <a:t>).</a:t>
            </a:r>
          </a:p>
          <a:p>
            <a:pPr>
              <a:spcBef>
                <a:spcPts val="2400"/>
              </a:spcBef>
              <a:defRPr sz="2000"/>
            </a:pPr>
            <a:r>
              <a:t>BEAMnrc offers some </a:t>
            </a:r>
            <a:r>
              <a:rPr b="1">
                <a:solidFill>
                  <a:srgbClr val="FF0000"/>
                </a:solidFill>
              </a:rPr>
              <a:t>aggressive variance reduction techniques.</a:t>
            </a:r>
          </a:p>
          <a:p>
            <a:pPr>
              <a:spcBef>
                <a:spcPts val="2400"/>
              </a:spcBef>
              <a:defRPr sz="2000"/>
            </a:pPr>
            <a:r>
              <a:t>You can implement </a:t>
            </a:r>
            <a:r>
              <a:rPr b="1">
                <a:solidFill>
                  <a:srgbClr val="FF0000"/>
                </a:solidFill>
              </a:rPr>
              <a:t>your own component modules or sources,</a:t>
            </a:r>
            <a:r>
              <a:t> </a:t>
            </a:r>
            <a:br/>
            <a:r>
              <a:t>based on existing ones (in MORTRAN).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7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2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2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8" grpId="1" build="p" animBg="1" advAuto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2540</Words>
  <Application>Microsoft Office PowerPoint</Application>
  <PresentationFormat>On-screen Show (4:3)</PresentationFormat>
  <Paragraphs>524</Paragraphs>
  <Slides>62</Slides>
  <Notes>0</Notes>
  <HiddenSlides>10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9" baseType="lpstr">
      <vt:lpstr>Arial</vt:lpstr>
      <vt:lpstr>Calibri</vt:lpstr>
      <vt:lpstr>Courier</vt:lpstr>
      <vt:lpstr>Inconsolata Regular Bold</vt:lpstr>
      <vt:lpstr>Inconsolata Regular Regular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Townson, Reid</cp:lastModifiedBy>
  <cp:revision>1</cp:revision>
  <dcterms:modified xsi:type="dcterms:W3CDTF">2026-03-31T01:22:21Z</dcterms:modified>
</cp:coreProperties>
</file>