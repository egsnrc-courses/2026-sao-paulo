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74" r:id="rId10"/>
    <p:sldId id="269" r:id="rId11"/>
    <p:sldId id="272" r:id="rId12"/>
    <p:sldId id="27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0"/>
    <p:restoredTop sz="91479"/>
  </p:normalViewPr>
  <p:slideViewPr>
    <p:cSldViewPr snapToGrid="0" snapToObjects="1">
      <p:cViewPr varScale="1">
        <p:scale>
          <a:sx n="108" d="100"/>
          <a:sy n="108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81374-7881-FD44-B76D-8D7F7990BC42}" type="datetimeFigureOut">
              <a:rPr lang="en-CA" smtClean="0"/>
              <a:t>2024-10-29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3E003-EE2B-A24C-86DC-1681C6B1160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00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800" dirty="0">
                <a:effectLst/>
                <a:latin typeface="CMTT12"/>
              </a:rPr>
              <a:t>Relevant transport parameter: skin depth for BCA, which determines the distance from a boundary (in elastic MFP) at which the algorithm will go into single scattering mode 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3E003-EE2B-A24C-86DC-1681C6B1160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1505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region numbers increase from inside to outside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3E003-EE2B-A24C-86DC-1681C6B1160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09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EE03-5D6D-F44C-B4EA-1D58C9FBF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13514-4E36-D249-81D2-EA19C8690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2430-449D-F14F-8ADD-9ED9CB58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8867A-7285-D245-BB7B-B9BAC1E0A81F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DDEE-84C6-5F4A-8133-765771AB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515E9-3EA0-574B-9448-8B500B3D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92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29CC-7F6C-0A4D-8E7F-0724228E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4198-C303-1543-80D5-3BDA51ABB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121F2-79D4-5340-8DBE-B9380975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CF40-19F1-D84F-BD1A-6DBD4BAC48D3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3BBE5-9A74-9C4A-B5A1-D1BE5AA3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6B2C0-590B-504A-9D8C-2C50E0E9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0E399633-0E30-A649-A98E-4EAD3EAE289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770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314A-0F31-7A4A-B175-BA570FFC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03A31-74D2-0C49-B05F-EC898D62F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7F889-A87F-B14A-8C28-2E38144F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76D29-0281-DB42-ACE8-6B9317287950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321C-9622-9240-9F22-B94BA9F0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8AD86-8C1A-DF4B-ADA1-C122CF78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301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9666-6F54-2741-8676-E4709E88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05BE3-446F-3943-9436-8C6D9941A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FA6C4-AF90-E64B-B3AE-2D0252EF5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56189-9B87-684D-83AF-5C6715E2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43A5-19A6-D04B-A1FA-47A07201692B}" type="datetime1">
              <a:rPr lang="en-CA" smtClean="0"/>
              <a:t>2024-10-29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75CFB-93A0-3E4E-8172-139027C9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7DAF9-7FB1-4445-AC17-C8DC89D8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18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9350-A452-1346-884C-C3D9E62A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362C8-B85B-B24B-BAAB-76A1F0D40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E2B8E-3ADC-2C43-89FC-018551C6A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522D3-AB25-8F4D-A2EA-FB5ED0591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0C240-D498-3547-84FE-C78EB5443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FFDD5-2BC0-9A44-82C3-17897387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E9630-616E-8745-ADD9-DEE96834A026}" type="datetime1">
              <a:rPr lang="en-CA" smtClean="0"/>
              <a:t>2024-10-29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2E1D0-DBE7-E843-80FD-6DA104D9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1F7FE-39DE-004B-8993-55776757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54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DF0F-DC6C-1D48-B950-BFD1FCC4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85116-C933-6843-ADDE-879CBE96A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5FD2-ECE9-F84A-83AB-BA1908A701A3}" type="datetime1">
              <a:rPr lang="en-CA" smtClean="0"/>
              <a:t>2024-10-29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5ED50-51D5-7245-92B1-CA9F154C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52323-8B8D-4C42-B3F8-04A86020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57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AE1E6-D169-AB41-834D-8B168974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B634-4F46-B84C-9431-743DA6633738}" type="datetime1">
              <a:rPr lang="en-CA" smtClean="0"/>
              <a:t>2024-10-29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DB3B5-9382-314E-A100-F360529D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16B01-66D8-CB46-B322-4CEFE4AC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075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2397-5F94-7140-8FD8-0FB4F719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BFB3-0CEA-5B4A-8B74-399E0BB1F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48B6-A92D-1645-B03F-8E8FB20FD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ED85A-B612-894B-AAC9-45B66358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DC68-F820-E645-BF7F-46991F21D096}" type="datetime1">
              <a:rPr lang="en-CA" smtClean="0"/>
              <a:t>2024-10-29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CD5FF-B4C6-D24E-9F1D-F256D5F8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6E945-207F-7642-BEAD-10444F44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80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1296-CE91-D14A-A864-0094504A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F9C7A-9892-6440-97B7-729B12DDC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D47D9-905B-624B-AB86-64AB9EFF8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08021-80AA-C243-A34F-D1C344D6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DC598-91B6-6E4E-A2BC-509362E1E138}" type="datetime1">
              <a:rPr lang="en-CA" smtClean="0"/>
              <a:t>2024-10-29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4A215-63A6-1A4C-B8FB-31FAE769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A8374-6365-D64A-8DBF-1A996B4B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884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25B5-C891-F148-AD8D-64540BA6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29345-B5E6-3D42-AFBC-FB4762CA1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8FEE3-8036-C24C-A61C-F69A2650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48B3-5B4E-844C-B7CE-A7B158F804C1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1408-1857-8046-9870-01AD4CB3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EA942-F1B4-BF4B-9184-F89F2991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74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EA98B-2C8D-A74B-BE23-96CA399BC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9AF81-B328-7E4C-9353-79FE64602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5214B-19CF-AD4C-B81A-8D71FB76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986B-98A2-8343-A3DF-B9BE4E7DCAFB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887C-97DF-7F49-8B36-8D160EA0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9E3E-5F7B-564D-8247-614D6EFF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962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7E693-F307-3442-B0ED-08C53F81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B1200-8525-0F4F-9A51-C98F3E81A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B6486-071B-F047-8F24-A5E3C347C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701AB-32A8-6745-BD29-FE19DC311CDB}" type="datetime1">
              <a:rPr lang="en-CA" smtClean="0"/>
              <a:t>2024-10-29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602FC-939D-F940-887F-8F03EC3E2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A8F43-5BF7-1F4B-8D42-D5084E893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99633-0E30-A649-A98E-4EAD3EAE28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17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999044-8F50-4940-8F0F-238EEDEB7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81" y="0"/>
            <a:ext cx="888043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C1DFA7-D15B-E040-842C-9F669F56720A}"/>
              </a:ext>
            </a:extLst>
          </p:cNvPr>
          <p:cNvSpPr txBox="1"/>
          <p:nvPr/>
        </p:nvSpPr>
        <p:spPr>
          <a:xfrm>
            <a:off x="2375066" y="4916385"/>
            <a:ext cx="4424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1" dirty="0">
                <a:solidFill>
                  <a:srgbClr val="0432FF"/>
                </a:solidFill>
              </a:rPr>
              <a:t>(This talk is based on slides from Frédéric Tessier)</a:t>
            </a:r>
          </a:p>
        </p:txBody>
      </p:sp>
    </p:spTree>
    <p:extLst>
      <p:ext uri="{BB962C8B-B14F-4D97-AF65-F5344CB8AC3E}">
        <p14:creationId xmlns:p14="http://schemas.microsoft.com/office/powerpoint/2010/main" val="244193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 fontScale="90000"/>
          </a:bodyPr>
          <a:lstStyle/>
          <a:p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dirty="0">
                <a:latin typeface="+mn-lt"/>
              </a:rPr>
              <a:t>and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hownear()</a:t>
            </a:r>
            <a:r>
              <a:rPr lang="en-CA" dirty="0">
                <a:latin typeface="+mn-lt"/>
              </a:rPr>
              <a:t>are part of the geometry </a:t>
            </a:r>
          </a:p>
        </p:txBody>
      </p:sp>
      <p:pic>
        <p:nvPicPr>
          <p:cNvPr id="7" name="Content Placeholder 6" descr="A diagram of a computer&#10;&#10;Description automatically generated">
            <a:extLst>
              <a:ext uri="{FF2B5EF4-FFF2-40B4-BE49-F238E27FC236}">
                <a16:creationId xmlns:a16="http://schemas.microsoft.com/office/drawing/2014/main" id="{C4104242-7107-E44C-8493-216DA1F0A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21" y="1282891"/>
            <a:ext cx="7073435" cy="481765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94E7AA-50CF-4148-BE79-D3CE56B6A9D9}"/>
              </a:ext>
            </a:extLst>
          </p:cNvPr>
          <p:cNvSpPr txBox="1"/>
          <p:nvPr/>
        </p:nvSpPr>
        <p:spPr>
          <a:xfrm>
            <a:off x="7305448" y="2065963"/>
            <a:ext cx="476372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0432FF"/>
                </a:solidFill>
              </a:rPr>
              <a:t>Decoupling of physics and geometry</a:t>
            </a:r>
          </a:p>
          <a:p>
            <a:endParaRPr lang="en-CA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b="1" dirty="0"/>
              <a:t>EGSnrc</a:t>
            </a:r>
            <a:r>
              <a:rPr lang="en-CA" sz="2000" dirty="0"/>
              <a:t> only concerns itself with transport of particles in infinite 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000" dirty="0"/>
              <a:t>EGSnrc only needs to know the composition of the medium that the particles are being transported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b="1" dirty="0"/>
              <a:t>User code</a:t>
            </a:r>
            <a:r>
              <a:rPr lang="en-CA" sz="2000" dirty="0"/>
              <a:t> handles geometry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61F48-6970-2A4E-856B-D96C2255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4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sz="4000" dirty="0">
                <a:effectLst/>
                <a:latin typeface="+mn-lt"/>
              </a:rPr>
              <a:t>defines your geometry </a:t>
            </a:r>
            <a:endParaRPr lang="en-CA" sz="8000" dirty="0">
              <a:effectLst/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300" y="1253331"/>
            <a:ext cx="11130888" cy="35506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effectLst/>
              </a:rPr>
              <a:t>Called by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ELECTR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and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PHOTON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EGSnrc subroutines before a particle step. </a:t>
            </a:r>
          </a:p>
          <a:p>
            <a:r>
              <a:rPr lang="en-CA" sz="2400" dirty="0">
                <a:effectLst/>
              </a:rPr>
              <a:t>Inputs to </a:t>
            </a:r>
            <a:r>
              <a:rPr lang="en-CA" sz="2400" dirty="0">
                <a:solidFill>
                  <a:srgbClr val="0432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sz="2400" dirty="0">
                <a:effectLst/>
              </a:rPr>
              <a:t>: region number, particle position, particle direction and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</a:p>
          <a:p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  <a:r>
              <a:rPr lang="en-CA" sz="2400" dirty="0">
                <a:effectLst/>
              </a:rPr>
              <a:t> is the straight-line distance over which EGSnrc </a:t>
            </a:r>
            <a:r>
              <a:rPr lang="en-CA" sz="2400" b="1" dirty="0">
                <a:effectLst/>
              </a:rPr>
              <a:t>wants </a:t>
            </a:r>
            <a:r>
              <a:rPr lang="en-CA" sz="2400" dirty="0">
                <a:effectLst/>
              </a:rPr>
              <a:t>to transport the particle (if there were no geometrical boundaries). </a:t>
            </a:r>
          </a:p>
          <a:p>
            <a:pPr lvl="1"/>
            <a:r>
              <a:rPr lang="en-CA" sz="20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USTEP </a:t>
            </a:r>
            <a:r>
              <a:rPr lang="en-CA" sz="2000" dirty="0"/>
              <a:t>is based on the physics of radiation transport in infinite media (e.g., based on attenuation coefficients for photons) plus any other step-size constraints that the</a:t>
            </a:r>
            <a:br>
              <a:rPr lang="en-CA" sz="2000" dirty="0"/>
            </a:br>
            <a:r>
              <a:rPr lang="en-CA" sz="2000" dirty="0"/>
              <a:t>user may specify (e.g., </a:t>
            </a:r>
            <a:r>
              <a:rPr lang="en-CA" sz="200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ESTEPE</a:t>
            </a:r>
            <a:r>
              <a:rPr lang="en-CA" sz="2000" dirty="0"/>
              <a:t>, the max fractional energy loss per charged particle step)</a:t>
            </a:r>
            <a:endParaRPr lang="en-CA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effectLst/>
              </a:rPr>
              <a:t>EGSnrc relies on a </a:t>
            </a:r>
            <a:r>
              <a:rPr lang="en-CA" sz="2400" i="1" dirty="0">
                <a:effectLst/>
              </a:rPr>
              <a:t>functional representation </a:t>
            </a:r>
            <a:r>
              <a:rPr lang="en-CA" sz="2400" dirty="0">
                <a:effectLst/>
              </a:rPr>
              <a:t>of geometry to determine whether a boundary will be crossed.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9CFE3-88CF-DB43-97A3-7D49BD5F7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46" y="4581430"/>
            <a:ext cx="5764995" cy="20464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CB2B4-ED95-FE43-8733-EC2BFECC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345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sz="4000" dirty="0">
                <a:latin typeface="+mn-lt"/>
              </a:rPr>
              <a:t>calculates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0963FE0-0B27-704A-9EA9-6F2920C306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779" y="1253331"/>
                <a:ext cx="10515600" cy="5297594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CA" dirty="0"/>
                  <a:t>Call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howfar()</a:t>
                </a:r>
                <a:r>
                  <a:rPr lang="en-CA" dirty="0"/>
                  <a:t> to determine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CA" dirty="0"/>
                  <a:t>, the distance from the current particle position to the nearest geometric region boundary, </a:t>
                </a:r>
                <a:r>
                  <a:rPr lang="en-CA" dirty="0">
                    <a:highlight>
                      <a:srgbClr val="FFFF00"/>
                    </a:highlight>
                  </a:rPr>
                  <a:t>along the particle’s trajectory</a:t>
                </a:r>
                <a:r>
                  <a:rPr lang="en-CA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/>
                  <a:t>If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≤</m:t>
                    </m:r>
                  </m:oMath>
                </a14:m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USTEP </a:t>
                </a:r>
                <a:r>
                  <a:rPr lang="en-CA" dirty="0"/>
                  <a:t>(the particle hits a boundary):</a:t>
                </a:r>
              </a:p>
              <a:p>
                <a:pPr lvl="1"/>
                <a:r>
                  <a:rPr lang="en-CA" dirty="0"/>
                  <a:t>Set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USTEP = DIST</a:t>
                </a:r>
              </a:p>
              <a:p>
                <a:pPr lvl="1"/>
                <a:r>
                  <a:rPr lang="en-CA" dirty="0"/>
                  <a:t>Set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IRNEW = [the new region number]</a:t>
                </a:r>
                <a:endParaRPr lang="en-CA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/>
                  <a:t>If the new region is outside the defined world (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IRNEW = -1</a:t>
                </a:r>
                <a:r>
                  <a:rPr lang="en-CA" dirty="0"/>
                  <a:t>), mark it for discarding by setting the flag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IDISC = 1</a:t>
                </a:r>
                <a:r>
                  <a:rPr lang="en-CA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/>
                  <a:t>Otherwise, transport the particle by </a:t>
                </a:r>
                <a:r>
                  <a:rPr lang="en-CA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USTEP</a:t>
                </a:r>
                <a:r>
                  <a:rPr lang="en-CA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CA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0963FE0-0B27-704A-9EA9-6F2920C30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779" y="1253331"/>
                <a:ext cx="10515600" cy="5297594"/>
              </a:xfrm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rectangular box&#10;&#10;Description automatically generated">
            <a:extLst>
              <a:ext uri="{FF2B5EF4-FFF2-40B4-BE49-F238E27FC236}">
                <a16:creationId xmlns:a16="http://schemas.microsoft.com/office/drawing/2014/main" id="{763753FA-D4E9-5E42-BE19-6CF26677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31" y="2316412"/>
            <a:ext cx="4556078" cy="1755609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37F0C49D-788B-D745-84F1-F14267E38389}"/>
              </a:ext>
            </a:extLst>
          </p:cNvPr>
          <p:cNvSpPr/>
          <p:nvPr/>
        </p:nvSpPr>
        <p:spPr>
          <a:xfrm>
            <a:off x="7078638" y="4491353"/>
            <a:ext cx="259307" cy="723331"/>
          </a:xfrm>
          <a:prstGeom prst="rightBrace">
            <a:avLst>
              <a:gd name="adj1" fmla="val 61561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0E291-EB86-3C4B-B777-903A87171C2B}"/>
              </a:ext>
            </a:extLst>
          </p:cNvPr>
          <p:cNvSpPr txBox="1"/>
          <p:nvPr/>
        </p:nvSpPr>
        <p:spPr>
          <a:xfrm>
            <a:off x="7423554" y="4529852"/>
            <a:ext cx="3909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i.e., shorten the step so that the particle arrives exactly at the boundary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4CA31-7853-4D4C-AFD5-5FF161F8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07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CF13E5F5-5450-F346-BA93-9A242316A5E7}"/>
              </a:ext>
            </a:extLst>
          </p:cNvPr>
          <p:cNvGrpSpPr/>
          <p:nvPr/>
        </p:nvGrpSpPr>
        <p:grpSpPr>
          <a:xfrm>
            <a:off x="171351" y="1130392"/>
            <a:ext cx="6174031" cy="5645064"/>
            <a:chOff x="171351" y="1130392"/>
            <a:chExt cx="6174031" cy="5645064"/>
          </a:xfrm>
        </p:grpSpPr>
        <p:pic>
          <p:nvPicPr>
            <p:cNvPr id="4" name="Picture 3" descr="A computer screen shot of a code&#10;&#10;Description automatically generated">
              <a:extLst>
                <a:ext uri="{FF2B5EF4-FFF2-40B4-BE49-F238E27FC236}">
                  <a16:creationId xmlns:a16="http://schemas.microsoft.com/office/drawing/2014/main" id="{074BD510-C14B-634A-83D8-708709EAB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351" y="1130392"/>
              <a:ext cx="6174031" cy="5645064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A3527F1-ACC3-8A40-ADAF-6DA47C332738}"/>
                </a:ext>
              </a:extLst>
            </p:cNvPr>
            <p:cNvSpPr/>
            <p:nvPr/>
          </p:nvSpPr>
          <p:spPr>
            <a:xfrm>
              <a:off x="2574214" y="4429640"/>
              <a:ext cx="3399906" cy="300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48C8E8C-D33E-FE47-A143-00CB4C62FFE2}"/>
                </a:ext>
              </a:extLst>
            </p:cNvPr>
            <p:cNvSpPr txBox="1"/>
            <p:nvPr/>
          </p:nvSpPr>
          <p:spPr>
            <a:xfrm>
              <a:off x="2512307" y="4351234"/>
              <a:ext cx="3355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-a - sqrt(R2-b2);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dirty="0">
                <a:latin typeface="+mn-lt"/>
              </a:rPr>
              <a:t>Example: sphere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</a:p>
        </p:txBody>
      </p:sp>
      <p:pic>
        <p:nvPicPr>
          <p:cNvPr id="9" name="Picture 8" descr="A red arrow pointing to a circle&#10;&#10;Description automatically generated">
            <a:extLst>
              <a:ext uri="{FF2B5EF4-FFF2-40B4-BE49-F238E27FC236}">
                <a16:creationId xmlns:a16="http://schemas.microsoft.com/office/drawing/2014/main" id="{8CEF9898-D36A-2644-B4A4-5A5C0FF49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196" y="1379774"/>
            <a:ext cx="2880412" cy="531580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06F975-E128-8749-BD85-47965033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5</a:t>
            </a:fld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E12A1-83EE-A04C-86F1-BB6F20E7C83D}"/>
              </a:ext>
            </a:extLst>
          </p:cNvPr>
          <p:cNvSpPr txBox="1"/>
          <p:nvPr/>
        </p:nvSpPr>
        <p:spPr>
          <a:xfrm>
            <a:off x="8454887" y="5870713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0432FF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F189B-968C-3948-9063-5BDADF155EDC}"/>
              </a:ext>
            </a:extLst>
          </p:cNvPr>
          <p:cNvSpPr txBox="1"/>
          <p:nvPr/>
        </p:nvSpPr>
        <p:spPr>
          <a:xfrm>
            <a:off x="9339712" y="2060323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0432FF"/>
                </a:solidFill>
              </a:rPr>
              <a:t>x</a:t>
            </a:r>
            <a:r>
              <a:rPr lang="en-CA" sz="2000" b="1" baseline="-250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538FDA-08A6-3D44-A2F9-8CB18A5448B4}"/>
              </a:ext>
            </a:extLst>
          </p:cNvPr>
          <p:cNvSpPr txBox="1"/>
          <p:nvPr/>
        </p:nvSpPr>
        <p:spPr>
          <a:xfrm>
            <a:off x="7005918" y="4343401"/>
            <a:ext cx="219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(length of </a:t>
            </a:r>
            <a:r>
              <a:rPr lang="en-CA" b="1" dirty="0"/>
              <a:t>x</a:t>
            </a:r>
            <a:r>
              <a:rPr lang="en-CA" b="1" baseline="-25000" dirty="0"/>
              <a:t>p</a:t>
            </a:r>
            <a:r>
              <a:rPr lang="en-CA" dirty="0"/>
              <a:t> = </a:t>
            </a:r>
            <a:r>
              <a:rPr lang="en-CA" b="1" dirty="0"/>
              <a:t>x</a:t>
            </a:r>
            <a:r>
              <a:rPr lang="en-CA" dirty="0"/>
              <a:t> – </a:t>
            </a:r>
            <a:r>
              <a:rPr lang="en-CA" b="1" dirty="0"/>
              <a:t>x</a:t>
            </a:r>
            <a:r>
              <a:rPr lang="en-CA" b="1" baseline="-25000" dirty="0"/>
              <a:t>0</a:t>
            </a:r>
            <a:r>
              <a:rPr lang="en-CA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E8BC4E-C4E0-3147-B801-5AE3073BE948}"/>
              </a:ext>
            </a:extLst>
          </p:cNvPr>
          <p:cNvCxnSpPr>
            <a:cxnSpLocks/>
          </p:cNvCxnSpPr>
          <p:nvPr/>
        </p:nvCxnSpPr>
        <p:spPr>
          <a:xfrm flipV="1">
            <a:off x="9876761" y="2898614"/>
            <a:ext cx="711653" cy="144478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B3D56A-C85C-3E4A-AB57-C2EFDFD406C3}"/>
              </a:ext>
            </a:extLst>
          </p:cNvPr>
          <p:cNvCxnSpPr>
            <a:cxnSpLocks/>
          </p:cNvCxnSpPr>
          <p:nvPr/>
        </p:nvCxnSpPr>
        <p:spPr>
          <a:xfrm flipH="1">
            <a:off x="8943585" y="4546948"/>
            <a:ext cx="839242" cy="1716066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EAEBFCA-E5FC-4340-B1EE-EE320BE9F715}"/>
              </a:ext>
            </a:extLst>
          </p:cNvPr>
          <p:cNvSpPr txBox="1"/>
          <p:nvPr/>
        </p:nvSpPr>
        <p:spPr>
          <a:xfrm>
            <a:off x="2704882" y="2624478"/>
            <a:ext cx="512512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u is a unit vector along the particle’s trajectory (pointing up)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9CFDC-BB92-4242-B60D-44D68376D3B7}"/>
              </a:ext>
            </a:extLst>
          </p:cNvPr>
          <p:cNvSpPr txBox="1"/>
          <p:nvPr/>
        </p:nvSpPr>
        <p:spPr>
          <a:xfrm>
            <a:off x="3155510" y="2387920"/>
            <a:ext cx="43140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xp points from x0 to x (pointing down in the diagram)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6F53B-BF99-5844-9FAE-6F8E78DED519}"/>
              </a:ext>
            </a:extLst>
          </p:cNvPr>
          <p:cNvSpPr txBox="1"/>
          <p:nvPr/>
        </p:nvSpPr>
        <p:spPr>
          <a:xfrm>
            <a:off x="9203699" y="1486025"/>
            <a:ext cx="781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region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0698BC-B444-0142-8E17-9D0A0BED9B72}"/>
              </a:ext>
            </a:extLst>
          </p:cNvPr>
          <p:cNvSpPr txBox="1"/>
          <p:nvPr/>
        </p:nvSpPr>
        <p:spPr>
          <a:xfrm>
            <a:off x="10813353" y="3514455"/>
            <a:ext cx="171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region -1         (outside sphere)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995DE0D-E170-6B47-8D82-59578EDCDF56}"/>
                  </a:ext>
                </a:extLst>
              </p:cNvPr>
              <p:cNvSpPr txBox="1"/>
              <p:nvPr/>
            </p:nvSpPr>
            <p:spPr>
              <a:xfrm>
                <a:off x="2265550" y="5279007"/>
                <a:ext cx="144462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1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// DIST </a:t>
                </a:r>
                <a14:m>
                  <m:oMath xmlns:m="http://schemas.openxmlformats.org/officeDocument/2006/math">
                    <m:r>
                      <a:rPr lang="en-CA" sz="11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≤</m:t>
                    </m:r>
                  </m:oMath>
                </a14:m>
                <a:r>
                  <a:rPr lang="en-CA" sz="11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USTEP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995DE0D-E170-6B47-8D82-59578EDCD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550" y="5279007"/>
                <a:ext cx="1444626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9675D55-0113-1D42-ABE9-0AE0D5288CC2}"/>
              </a:ext>
            </a:extLst>
          </p:cNvPr>
          <p:cNvSpPr txBox="1"/>
          <p:nvPr/>
        </p:nvSpPr>
        <p:spPr>
          <a:xfrm>
            <a:off x="2811508" y="5732213"/>
            <a:ext cx="33393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region corresponding to inside sphere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A1CC78-20BA-9741-B20B-795FDCA4FB19}"/>
              </a:ext>
            </a:extLst>
          </p:cNvPr>
          <p:cNvSpPr txBox="1"/>
          <p:nvPr/>
        </p:nvSpPr>
        <p:spPr>
          <a:xfrm>
            <a:off x="9363206" y="5861334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FF0000"/>
                </a:solidFill>
              </a:rPr>
              <a:t>(</a:t>
            </a:r>
            <a:r>
              <a:rPr lang="en-CA" sz="1600" i="1" dirty="0">
                <a:solidFill>
                  <a:srgbClr val="FF0000"/>
                </a:solidFill>
              </a:rPr>
              <a:t>d</a:t>
            </a:r>
            <a:r>
              <a:rPr lang="en-CA" sz="1600" dirty="0">
                <a:solidFill>
                  <a:srgbClr val="FF0000"/>
                </a:solidFill>
              </a:rPr>
              <a:t> is just the bold red portion)</a:t>
            </a:r>
          </a:p>
        </p:txBody>
      </p:sp>
    </p:spTree>
    <p:extLst>
      <p:ext uri="{BB962C8B-B14F-4D97-AF65-F5344CB8AC3E}">
        <p14:creationId xmlns:p14="http://schemas.microsoft.com/office/powerpoint/2010/main" val="235643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hownear()</a:t>
            </a:r>
            <a:r>
              <a:rPr lang="en-CA" sz="4000" dirty="0">
                <a:solidFill>
                  <a:srgbClr val="0000FF"/>
                </a:solidFill>
                <a:effectLst/>
                <a:latin typeface="+mn-lt"/>
              </a:rPr>
              <a:t> </a:t>
            </a:r>
            <a:r>
              <a:rPr lang="en-CA" sz="4000" dirty="0">
                <a:effectLst/>
                <a:latin typeface="+mn-lt"/>
              </a:rPr>
              <a:t>is needed for electron transport </a:t>
            </a:r>
            <a:endParaRPr lang="en-CA" sz="8000" dirty="0">
              <a:effectLst/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04" y="1253331"/>
            <a:ext cx="11267365" cy="1951981"/>
          </a:xfrm>
        </p:spPr>
        <p:txBody>
          <a:bodyPr>
            <a:normAutofit/>
          </a:bodyPr>
          <a:lstStyle/>
          <a:p>
            <a:r>
              <a:rPr lang="en-CA" sz="2400" dirty="0">
                <a:effectLst/>
              </a:rPr>
              <a:t>The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hownear()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method computes the closest distance </a:t>
            </a:r>
            <a:r>
              <a:rPr lang="en-CA" sz="240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tperp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to any surface in the geometry, from the current location of the particle, </a:t>
            </a:r>
            <a:r>
              <a:rPr lang="en-CA" sz="2400" b="1" dirty="0">
                <a:effectLst/>
              </a:rPr>
              <a:t>in any direction</a:t>
            </a:r>
            <a:r>
              <a:rPr lang="en-CA" sz="2400" dirty="0">
                <a:effectLst/>
              </a:rPr>
              <a:t>.</a:t>
            </a:r>
            <a:endParaRPr lang="en-CA" sz="3600" dirty="0">
              <a:effectLst/>
            </a:endParaRPr>
          </a:p>
          <a:p>
            <a:r>
              <a:rPr lang="en-CA" sz="2400" dirty="0">
                <a:effectLst/>
              </a:rPr>
              <a:t>When an electron takes a step close to a boundary, it is necessary to turn off multiple scattering to model the electron trajectory faithfully. </a:t>
            </a:r>
            <a:endParaRPr lang="en-CA" sz="3600" dirty="0">
              <a:effectLst/>
            </a:endParaRPr>
          </a:p>
          <a:p>
            <a:endParaRPr lang="en-CA" sz="3600" dirty="0"/>
          </a:p>
        </p:txBody>
      </p:sp>
      <p:pic>
        <p:nvPicPr>
          <p:cNvPr id="4" name="Picture 3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702AF35C-17FB-7948-A8F0-59F93C776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0" y="5137503"/>
            <a:ext cx="7206018" cy="1578325"/>
          </a:xfrm>
          <a:prstGeom prst="rect">
            <a:avLst/>
          </a:prstGeom>
        </p:spPr>
      </p:pic>
      <p:pic>
        <p:nvPicPr>
          <p:cNvPr id="7" name="Picture 6" descr="A graph with a line going up&#10;&#10;Description automatically generated with medium confidence">
            <a:extLst>
              <a:ext uri="{FF2B5EF4-FFF2-40B4-BE49-F238E27FC236}">
                <a16:creationId xmlns:a16="http://schemas.microsoft.com/office/drawing/2014/main" id="{F479A0B3-4756-874F-A1C7-141135B44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230" y="2954746"/>
            <a:ext cx="8911988" cy="207352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E2CFDA-CE1E-DC4F-AF60-4F7C063C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6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29E35-F0F2-A34A-A00B-BF88575FEAB5}"/>
              </a:ext>
            </a:extLst>
          </p:cNvPr>
          <p:cNvSpPr txBox="1"/>
          <p:nvPr/>
        </p:nvSpPr>
        <p:spPr>
          <a:xfrm>
            <a:off x="72788" y="3163957"/>
            <a:ext cx="30389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>
                <a:solidFill>
                  <a:srgbClr val="FF0000"/>
                </a:solidFill>
              </a:rPr>
              <a:t>If not handled properly, condensed history steps near an interface can lead to incorrect dose in both regions, and incorrect particle transport (if the two media differ).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C2A02-FA06-FD44-A6DF-E292A00ED704}"/>
              </a:ext>
            </a:extLst>
          </p:cNvPr>
          <p:cNvSpPr txBox="1"/>
          <p:nvPr/>
        </p:nvSpPr>
        <p:spPr>
          <a:xfrm>
            <a:off x="9257730" y="2845512"/>
            <a:ext cx="1100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region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03605-BD82-8942-8D33-2D391E2CCECB}"/>
              </a:ext>
            </a:extLst>
          </p:cNvPr>
          <p:cNvSpPr txBox="1"/>
          <p:nvPr/>
        </p:nvSpPr>
        <p:spPr>
          <a:xfrm>
            <a:off x="9257730" y="3124023"/>
            <a:ext cx="1100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region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6324F-5A63-C14F-A156-2E23549BC0E8}"/>
              </a:ext>
            </a:extLst>
          </p:cNvPr>
          <p:cNvSpPr txBox="1"/>
          <p:nvPr/>
        </p:nvSpPr>
        <p:spPr>
          <a:xfrm>
            <a:off x="9257730" y="4500641"/>
            <a:ext cx="1100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region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E199B-C211-6A45-A75E-F4A104333950}"/>
              </a:ext>
            </a:extLst>
          </p:cNvPr>
          <p:cNvSpPr txBox="1"/>
          <p:nvPr/>
        </p:nvSpPr>
        <p:spPr>
          <a:xfrm>
            <a:off x="4408228" y="4115838"/>
            <a:ext cx="1228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0432FF"/>
                </a:solidFill>
              </a:rPr>
              <a:t>ZBOUND – 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79202-7CCA-CE44-9B84-121C0256B6F0}"/>
              </a:ext>
            </a:extLst>
          </p:cNvPr>
          <p:cNvSpPr txBox="1"/>
          <p:nvPr/>
        </p:nvSpPr>
        <p:spPr>
          <a:xfrm>
            <a:off x="6714699" y="3770078"/>
            <a:ext cx="1289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cond. hist. 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AD1BC-5AE5-794B-9C5E-1BFA4FC6FA73}"/>
              </a:ext>
            </a:extLst>
          </p:cNvPr>
          <p:cNvSpPr txBox="1"/>
          <p:nvPr/>
        </p:nvSpPr>
        <p:spPr>
          <a:xfrm>
            <a:off x="7524459" y="4697893"/>
            <a:ext cx="138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solidFill>
                  <a:srgbClr val="FF0000"/>
                </a:solidFill>
              </a:rPr>
              <a:t>actual trajectory</a:t>
            </a:r>
          </a:p>
        </p:txBody>
      </p:sp>
    </p:spTree>
    <p:extLst>
      <p:ext uri="{BB962C8B-B14F-4D97-AF65-F5344CB8AC3E}">
        <p14:creationId xmlns:p14="http://schemas.microsoft.com/office/powerpoint/2010/main" val="125972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+mn-lt"/>
              </a:rPr>
              <a:t>Example: sphere </a:t>
            </a:r>
            <a:r>
              <a:rPr lang="en-CA" sz="40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hownear()</a:t>
            </a:r>
            <a:r>
              <a:rPr lang="en-CA" sz="4000" dirty="0">
                <a:solidFill>
                  <a:srgbClr val="0000FF"/>
                </a:solidFill>
                <a:effectLst/>
                <a:latin typeface="+mn-lt"/>
              </a:rPr>
              <a:t> </a:t>
            </a:r>
            <a:endParaRPr lang="en-CA" sz="1600" dirty="0">
              <a:effectLst/>
              <a:latin typeface="+mn-lt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FBA395D-1D43-0949-91F9-C08387A5F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63" y="1128640"/>
            <a:ext cx="6190628" cy="5665999"/>
          </a:xfrm>
          <a:prstGeom prst="rect">
            <a:avLst/>
          </a:prstGeom>
        </p:spPr>
      </p:pic>
      <p:pic>
        <p:nvPicPr>
          <p:cNvPr id="9" name="Picture 8" descr="A green circle with a red line&#10;&#10;Description automatically generated">
            <a:extLst>
              <a:ext uri="{FF2B5EF4-FFF2-40B4-BE49-F238E27FC236}">
                <a16:creationId xmlns:a16="http://schemas.microsoft.com/office/drawing/2014/main" id="{94184D62-8159-7143-AB51-436B12B8F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285" y="1337481"/>
            <a:ext cx="2991339" cy="552051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0BA658-B232-FB4C-9C14-60777F41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7</a:t>
            </a:fld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7097E-7596-364B-919B-D167D6284947}"/>
              </a:ext>
            </a:extLst>
          </p:cNvPr>
          <p:cNvSpPr txBox="1"/>
          <p:nvPr/>
        </p:nvSpPr>
        <p:spPr>
          <a:xfrm>
            <a:off x="8281915" y="6092765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0432FF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11D6BE-7F8E-D747-88DD-26F4B844C92A}"/>
              </a:ext>
            </a:extLst>
          </p:cNvPr>
          <p:cNvSpPr txBox="1"/>
          <p:nvPr/>
        </p:nvSpPr>
        <p:spPr>
          <a:xfrm>
            <a:off x="9339712" y="2060323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>
                <a:solidFill>
                  <a:srgbClr val="0432FF"/>
                </a:solidFill>
              </a:rPr>
              <a:t>x</a:t>
            </a:r>
            <a:r>
              <a:rPr lang="en-CA" sz="2000" b="1" baseline="-25000" dirty="0">
                <a:solidFill>
                  <a:srgbClr val="0432FF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A3EDC-6789-9946-AFA6-5E5DA1DD038F}"/>
              </a:ext>
            </a:extLst>
          </p:cNvPr>
          <p:cNvSpPr txBox="1"/>
          <p:nvPr/>
        </p:nvSpPr>
        <p:spPr>
          <a:xfrm>
            <a:off x="7005918" y="4343401"/>
            <a:ext cx="219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(length of x</a:t>
            </a:r>
            <a:r>
              <a:rPr lang="en-CA" baseline="-25000" dirty="0"/>
              <a:t>p</a:t>
            </a:r>
            <a:r>
              <a:rPr lang="en-CA" dirty="0"/>
              <a:t> = x – x</a:t>
            </a:r>
            <a:r>
              <a:rPr lang="en-CA" baseline="-25000" dirty="0"/>
              <a:t>0</a:t>
            </a:r>
            <a:r>
              <a:rPr lang="en-CA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F2EDF8-FF3A-4046-9F94-CAC2F7C03BE3}"/>
              </a:ext>
            </a:extLst>
          </p:cNvPr>
          <p:cNvSpPr txBox="1"/>
          <p:nvPr/>
        </p:nvSpPr>
        <p:spPr>
          <a:xfrm>
            <a:off x="2922687" y="3302042"/>
            <a:ext cx="3060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 &gt; 0 because we are inside a sphere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8F8C00-BF78-BD42-8098-81F1CFB3D286}"/>
              </a:ext>
            </a:extLst>
          </p:cNvPr>
          <p:cNvSpPr txBox="1"/>
          <p:nvPr/>
        </p:nvSpPr>
        <p:spPr>
          <a:xfrm>
            <a:off x="9203699" y="1486025"/>
            <a:ext cx="781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region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8029B4-17C2-EA42-A9D0-F4F3C8871422}"/>
              </a:ext>
            </a:extLst>
          </p:cNvPr>
          <p:cNvSpPr txBox="1"/>
          <p:nvPr/>
        </p:nvSpPr>
        <p:spPr>
          <a:xfrm>
            <a:off x="10813353" y="3514455"/>
            <a:ext cx="171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region -1         (outside sphere)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9D23E-794C-CB41-8F27-72C84702F61C}"/>
              </a:ext>
            </a:extLst>
          </p:cNvPr>
          <p:cNvSpPr txBox="1"/>
          <p:nvPr/>
        </p:nvSpPr>
        <p:spPr>
          <a:xfrm>
            <a:off x="3130253" y="4175499"/>
            <a:ext cx="2323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take the smallest distance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F02132-83F9-4746-8C30-ED9BA0F3B439}"/>
              </a:ext>
            </a:extLst>
          </p:cNvPr>
          <p:cNvSpPr txBox="1"/>
          <p:nvPr/>
        </p:nvSpPr>
        <p:spPr>
          <a:xfrm>
            <a:off x="2566876" y="3506867"/>
            <a:ext cx="29867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if it’s a set of concentric spheres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072F5-DD31-934E-AD0A-6F1CC20C7EBF}"/>
              </a:ext>
            </a:extLst>
          </p:cNvPr>
          <p:cNvSpPr txBox="1"/>
          <p:nvPr/>
        </p:nvSpPr>
        <p:spPr>
          <a:xfrm>
            <a:off x="3864849" y="1227533"/>
            <a:ext cx="281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set of concentric spheres…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531CE0-B18A-E048-8853-4859CF366B77}"/>
              </a:ext>
            </a:extLst>
          </p:cNvPr>
          <p:cNvSpPr txBox="1"/>
          <p:nvPr/>
        </p:nvSpPr>
        <p:spPr>
          <a:xfrm>
            <a:off x="4710344" y="3742153"/>
            <a:ext cx="29129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0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dd &gt; 0 because we are in the shell</a:t>
            </a:r>
          </a:p>
        </p:txBody>
      </p:sp>
    </p:spTree>
    <p:extLst>
      <p:ext uri="{BB962C8B-B14F-4D97-AF65-F5344CB8AC3E}">
        <p14:creationId xmlns:p14="http://schemas.microsoft.com/office/powerpoint/2010/main" val="231682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about complex geometries? </a:t>
            </a:r>
            <a:endParaRPr lang="en-CA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253331"/>
            <a:ext cx="11608559" cy="3109782"/>
          </a:xfrm>
        </p:spPr>
        <p:txBody>
          <a:bodyPr>
            <a:normAutofit/>
          </a:bodyPr>
          <a:lstStyle/>
          <a:p>
            <a:r>
              <a:rPr lang="en-CA" sz="2400" dirty="0">
                <a:effectLst/>
              </a:rPr>
              <a:t>Elementary geometries can be combined to form composite geometries. Simulations will be </a:t>
            </a:r>
            <a:r>
              <a:rPr lang="en-CA" sz="2400" b="1" dirty="0">
                <a:effectLst/>
              </a:rPr>
              <a:t>slower </a:t>
            </a:r>
            <a:r>
              <a:rPr lang="en-CA" sz="2400" dirty="0">
                <a:effectLst/>
              </a:rPr>
              <a:t>if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has to navigate through a complex hierarchy of geometries. </a:t>
            </a:r>
            <a:endParaRPr lang="en-CA" sz="3600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461C3-A654-4D4E-914E-EBD20B12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8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4082C0-F993-3D43-87E3-885CCF5E4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9" t="5392" r="8530" b="7716"/>
          <a:stretch/>
        </p:blipFill>
        <p:spPr>
          <a:xfrm>
            <a:off x="4114799" y="2073281"/>
            <a:ext cx="3962401" cy="4096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36A72-E095-3746-9E82-04F7B67002E9}"/>
              </a:ext>
            </a:extLst>
          </p:cNvPr>
          <p:cNvSpPr txBox="1"/>
          <p:nvPr/>
        </p:nvSpPr>
        <p:spPr>
          <a:xfrm>
            <a:off x="3307415" y="6169709"/>
            <a:ext cx="5605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Example from egs_brachy manual: breast LDR simulation with voxelized tissue geometry and 64 seeds</a:t>
            </a:r>
          </a:p>
        </p:txBody>
      </p:sp>
    </p:spTree>
    <p:extLst>
      <p:ext uri="{BB962C8B-B14F-4D97-AF65-F5344CB8AC3E}">
        <p14:creationId xmlns:p14="http://schemas.microsoft.com/office/powerpoint/2010/main" val="4087633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Boundary crossing</a:t>
            </a:r>
            <a:endParaRPr lang="en-CA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253331"/>
            <a:ext cx="11608559" cy="3109782"/>
          </a:xfrm>
        </p:spPr>
        <p:txBody>
          <a:bodyPr>
            <a:normAutofit/>
          </a:bodyPr>
          <a:lstStyle/>
          <a:p>
            <a:r>
              <a:rPr lang="en-CA" sz="2400" dirty="0">
                <a:effectLst/>
              </a:rPr>
              <a:t>EGSnrc applications typically do </a:t>
            </a:r>
            <a:r>
              <a:rPr lang="en-CA" sz="2400" b="1" dirty="0">
                <a:effectLst/>
              </a:rPr>
              <a:t>not </a:t>
            </a:r>
            <a:r>
              <a:rPr lang="en-CA" sz="2400" dirty="0">
                <a:effectLst/>
              </a:rPr>
              <a:t>impose “fuzzy" boundaries to ensure that particles cross region boundaries (but </a:t>
            </a:r>
            <a:r>
              <a:rPr lang="en-CA" sz="2400" dirty="0" err="1">
                <a:effectLst/>
              </a:rPr>
              <a:t>BEAMnrc</a:t>
            </a:r>
            <a:r>
              <a:rPr lang="en-CA" sz="2400" dirty="0">
                <a:effectLst/>
              </a:rPr>
              <a:t> does!): </a:t>
            </a:r>
          </a:p>
          <a:p>
            <a:pPr lvl="1"/>
            <a:r>
              <a:rPr lang="en-CA" sz="2000" dirty="0"/>
              <a:t>The particle is placed exactly at the boundary (i.e., </a:t>
            </a:r>
            <a:r>
              <a:rPr lang="en-CA" sz="200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USTEP = DIST</a:t>
            </a:r>
            <a:r>
              <a:rPr lang="en-CA" sz="2000" dirty="0"/>
              <a:t>)</a:t>
            </a:r>
          </a:p>
          <a:p>
            <a:pPr lvl="1"/>
            <a:r>
              <a:rPr lang="en-CA" sz="2000" dirty="0"/>
              <a:t>T</a:t>
            </a:r>
            <a:r>
              <a:rPr lang="en-CA" sz="2000" dirty="0">
                <a:effectLst/>
              </a:rPr>
              <a:t>his can lead to </a:t>
            </a:r>
            <a:r>
              <a:rPr lang="en-CA" sz="2000" b="1" dirty="0">
                <a:solidFill>
                  <a:srgbClr val="D80000"/>
                </a:solidFill>
                <a:effectLst/>
              </a:rPr>
              <a:t>rounding errors </a:t>
            </a:r>
            <a:r>
              <a:rPr lang="en-CA" sz="2000" dirty="0"/>
              <a:t>due to the finite precision of floating point numbers</a:t>
            </a:r>
            <a:r>
              <a:rPr lang="en-CA" sz="1600" b="1" dirty="0">
                <a:solidFill>
                  <a:srgbClr val="D80000"/>
                </a:solidFill>
                <a:effectLst/>
              </a:rPr>
              <a:t> </a:t>
            </a:r>
          </a:p>
          <a:p>
            <a:pPr lvl="2">
              <a:buFont typeface="Wingdings" pitchFamily="2" charset="2"/>
              <a:buChar char="à"/>
            </a:pPr>
            <a:r>
              <a:rPr lang="en-CA" dirty="0">
                <a:effectLst/>
              </a:rPr>
              <a:t>  Position of particle is in conflict with region number</a:t>
            </a:r>
          </a:p>
          <a:p>
            <a:pPr lvl="2">
              <a:buFont typeface="Wingdings" pitchFamily="2" charset="2"/>
              <a:buChar char="à"/>
            </a:pPr>
            <a:endParaRPr lang="en-CA" sz="2400" dirty="0">
              <a:effectLst/>
            </a:endParaRPr>
          </a:p>
          <a:p>
            <a:r>
              <a:rPr lang="en-CA" sz="2400" b="1" dirty="0">
                <a:effectLst/>
              </a:rPr>
              <a:t>Errors </a:t>
            </a:r>
            <a:r>
              <a:rPr lang="en-CA" sz="2400" dirty="0">
                <a:effectLst/>
              </a:rPr>
              <a:t>in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typically show up as </a:t>
            </a:r>
            <a:r>
              <a:rPr lang="en-CA" sz="2400" dirty="0">
                <a:solidFill>
                  <a:srgbClr val="0000FF"/>
                </a:solidFill>
                <a:effectLst/>
              </a:rPr>
              <a:t>negative </a:t>
            </a:r>
            <a:r>
              <a:rPr lang="en-CA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  <a:r>
              <a:rPr lang="en-CA" sz="2400" dirty="0">
                <a:solidFill>
                  <a:srgbClr val="0000FF"/>
                </a:solidFill>
                <a:effectLst/>
              </a:rPr>
              <a:t> </a:t>
            </a:r>
            <a:r>
              <a:rPr lang="en-CA" sz="2400" dirty="0">
                <a:effectLst/>
              </a:rPr>
              <a:t>errors.</a:t>
            </a:r>
            <a:endParaRPr lang="en-CA" sz="360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AFFCF-1B2A-AE43-939A-E423B84C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985520"/>
            <a:ext cx="3632201" cy="28145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461C3-A654-4D4E-914E-EBD20B12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9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441E8-2D9D-D244-A1A2-AC5A9D07EC61}"/>
              </a:ext>
            </a:extLst>
          </p:cNvPr>
          <p:cNvSpPr txBox="1"/>
          <p:nvPr/>
        </p:nvSpPr>
        <p:spPr>
          <a:xfrm>
            <a:off x="6680201" y="4981433"/>
            <a:ext cx="3252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Fuzzy boundaries in </a:t>
            </a:r>
            <a:r>
              <a:rPr lang="en-CA" b="1" dirty="0" err="1"/>
              <a:t>BEAMnrc</a:t>
            </a:r>
            <a:r>
              <a:rPr lang="en-CA" dirty="0"/>
              <a:t>: particle is “pushed” an additional small distance to avoid rounding errors</a:t>
            </a:r>
          </a:p>
        </p:txBody>
      </p:sp>
    </p:spTree>
    <p:extLst>
      <p:ext uri="{BB962C8B-B14F-4D97-AF65-F5344CB8AC3E}">
        <p14:creationId xmlns:p14="http://schemas.microsoft.com/office/powerpoint/2010/main" val="257478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Floating point rounding errors</a:t>
            </a:r>
            <a:endParaRPr lang="en-CA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253331"/>
            <a:ext cx="11608559" cy="3313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3200" b="1" dirty="0"/>
              <a:t>Example:</a:t>
            </a:r>
          </a:p>
          <a:p>
            <a:pPr lvl="1"/>
            <a:r>
              <a:rPr lang="en-CA" dirty="0"/>
              <a:t>Particle is in region 1 and is directed toward region 2</a:t>
            </a:r>
          </a:p>
          <a:p>
            <a:pPr lvl="1"/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dirty="0"/>
              <a:t> is called with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  <a:r>
              <a:rPr lang="en-CA" dirty="0"/>
              <a:t> large enough to escape region 1</a:t>
            </a:r>
          </a:p>
          <a:p>
            <a:pPr lvl="2"/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USTEP = DIST </a:t>
            </a:r>
            <a:r>
              <a:rPr lang="en-CA" dirty="0"/>
              <a:t>and the particle is at the interface between regions 1 and 2</a:t>
            </a:r>
          </a:p>
          <a:p>
            <a:pPr lvl="2"/>
            <a:r>
              <a:rPr lang="en-CA" dirty="0"/>
              <a:t>The current region is updated: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IRNEW = 2</a:t>
            </a:r>
            <a:endParaRPr lang="en-CA" dirty="0"/>
          </a:p>
          <a:p>
            <a:pPr lvl="1"/>
            <a:r>
              <a:rPr lang="en-CA" dirty="0"/>
              <a:t>Consider the case where rounding errors result in an </a:t>
            </a:r>
            <a:r>
              <a:rPr lang="en-CA" b="1" dirty="0"/>
              <a:t>undershoot</a:t>
            </a:r>
            <a:r>
              <a:rPr lang="en-CA" dirty="0"/>
              <a:t> </a:t>
            </a:r>
          </a:p>
          <a:p>
            <a:pPr lvl="2"/>
            <a:r>
              <a:rPr lang="en-CA" dirty="0"/>
              <a:t>The particle’s region number is 2 but its position corresponds to region 1!</a:t>
            </a:r>
          </a:p>
          <a:p>
            <a:pPr lvl="1"/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3E944-3B2D-7245-BFC4-8F98930E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10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F8D6CF-E221-5649-8A42-CB20C8E420FA}"/>
              </a:ext>
            </a:extLst>
          </p:cNvPr>
          <p:cNvCxnSpPr/>
          <p:nvPr/>
        </p:nvCxnSpPr>
        <p:spPr>
          <a:xfrm>
            <a:off x="6273800" y="4613203"/>
            <a:ext cx="0" cy="17546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BD6B41-91F3-694A-A4E1-3E32C5945446}"/>
              </a:ext>
            </a:extLst>
          </p:cNvPr>
          <p:cNvSpPr txBox="1"/>
          <p:nvPr/>
        </p:nvSpPr>
        <p:spPr>
          <a:xfrm>
            <a:off x="4883052" y="4613203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E34EA-09C1-6542-8BB7-C46F1C0A28A6}"/>
              </a:ext>
            </a:extLst>
          </p:cNvPr>
          <p:cNvSpPr txBox="1"/>
          <p:nvPr/>
        </p:nvSpPr>
        <p:spPr>
          <a:xfrm>
            <a:off x="6753830" y="4613203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A892B1-D5DC-6048-BD89-7102752E8EBA}"/>
              </a:ext>
            </a:extLst>
          </p:cNvPr>
          <p:cNvSpPr>
            <a:spLocks noChangeAspect="1"/>
          </p:cNvSpPr>
          <p:nvPr/>
        </p:nvSpPr>
        <p:spPr>
          <a:xfrm>
            <a:off x="4911628" y="5632163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6771EE-A8CD-954A-9402-CEFDAEF36378}"/>
              </a:ext>
            </a:extLst>
          </p:cNvPr>
          <p:cNvCxnSpPr>
            <a:cxnSpLocks/>
          </p:cNvCxnSpPr>
          <p:nvPr/>
        </p:nvCxnSpPr>
        <p:spPr>
          <a:xfrm flipV="1">
            <a:off x="4984262" y="5264532"/>
            <a:ext cx="1178169" cy="4343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F95BE51-F724-9E45-9ADB-188D763C1C98}"/>
              </a:ext>
            </a:extLst>
          </p:cNvPr>
          <p:cNvSpPr>
            <a:spLocks noChangeAspect="1"/>
          </p:cNvSpPr>
          <p:nvPr/>
        </p:nvSpPr>
        <p:spPr>
          <a:xfrm>
            <a:off x="6097056" y="519328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5D561-C0B1-B54D-8A3C-0B058E7134ED}"/>
              </a:ext>
            </a:extLst>
          </p:cNvPr>
          <p:cNvSpPr txBox="1"/>
          <p:nvPr/>
        </p:nvSpPr>
        <p:spPr>
          <a:xfrm>
            <a:off x="4705101" y="5447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815E8C-11B0-1442-A342-A69DFD16ABD8}"/>
              </a:ext>
            </a:extLst>
          </p:cNvPr>
          <p:cNvSpPr txBox="1"/>
          <p:nvPr/>
        </p:nvSpPr>
        <p:spPr>
          <a:xfrm>
            <a:off x="5944102" y="4920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773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Floating point rounding errors</a:t>
            </a:r>
            <a:endParaRPr lang="en-CA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253331"/>
            <a:ext cx="11608559" cy="2027744"/>
          </a:xfrm>
        </p:spPr>
        <p:txBody>
          <a:bodyPr>
            <a:noAutofit/>
          </a:bodyPr>
          <a:lstStyle/>
          <a:p>
            <a:r>
              <a:rPr lang="en-CA" dirty="0"/>
              <a:t>In general, i</a:t>
            </a:r>
            <a:r>
              <a:rPr lang="en-CA" dirty="0">
                <a:effectLst/>
              </a:rPr>
              <a:t>f there is a contradiction between the particle’s region number and (x, y, z) position: </a:t>
            </a:r>
          </a:p>
          <a:p>
            <a:endParaRPr lang="en-CA" dirty="0">
              <a:effectLst/>
            </a:endParaRPr>
          </a:p>
          <a:p>
            <a:pPr lvl="1"/>
            <a:r>
              <a:rPr lang="en-CA" b="1" dirty="0">
                <a:effectLst/>
              </a:rPr>
              <a:t>Case </a:t>
            </a:r>
            <a:r>
              <a:rPr lang="en-CA" b="1" dirty="0"/>
              <a:t>#1</a:t>
            </a:r>
            <a:r>
              <a:rPr lang="en-CA" dirty="0"/>
              <a:t>: </a:t>
            </a:r>
            <a:r>
              <a:rPr lang="en-CA" dirty="0">
                <a:effectLst/>
              </a:rPr>
              <a:t>If the particle is still headed in the direction of the surface, then this surface is ignored, as if the particle had already crossed. </a:t>
            </a:r>
            <a:endParaRPr lang="en-CA" dirty="0"/>
          </a:p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3E944-3B2D-7245-BFC4-8F98930E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11</a:t>
            </a:fld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DFB481-1CCC-BE42-AFFC-C14B7230AFAD}"/>
              </a:ext>
            </a:extLst>
          </p:cNvPr>
          <p:cNvCxnSpPr/>
          <p:nvPr/>
        </p:nvCxnSpPr>
        <p:spPr>
          <a:xfrm>
            <a:off x="5933273" y="4076844"/>
            <a:ext cx="0" cy="175462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D76DEA-1E39-1B4D-976B-711E25F759B3}"/>
              </a:ext>
            </a:extLst>
          </p:cNvPr>
          <p:cNvSpPr txBox="1"/>
          <p:nvPr/>
        </p:nvSpPr>
        <p:spPr>
          <a:xfrm>
            <a:off x="4542525" y="4076844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3FD43-3317-3748-A85E-37B3D2E89DA5}"/>
              </a:ext>
            </a:extLst>
          </p:cNvPr>
          <p:cNvSpPr txBox="1"/>
          <p:nvPr/>
        </p:nvSpPr>
        <p:spPr>
          <a:xfrm>
            <a:off x="6413303" y="4076844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24585D-B148-0148-B561-39D8D06E26CD}"/>
              </a:ext>
            </a:extLst>
          </p:cNvPr>
          <p:cNvCxnSpPr>
            <a:cxnSpLocks/>
          </p:cNvCxnSpPr>
          <p:nvPr/>
        </p:nvCxnSpPr>
        <p:spPr>
          <a:xfrm flipV="1">
            <a:off x="4643735" y="4728173"/>
            <a:ext cx="1178169" cy="4343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9841B2-D1C7-544C-AE2A-00A9D1FA73C6}"/>
              </a:ext>
            </a:extLst>
          </p:cNvPr>
          <p:cNvCxnSpPr>
            <a:cxnSpLocks/>
          </p:cNvCxnSpPr>
          <p:nvPr/>
        </p:nvCxnSpPr>
        <p:spPr>
          <a:xfrm>
            <a:off x="5796996" y="4739316"/>
            <a:ext cx="747228" cy="1757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ABF3C50A-7757-1E44-9B4B-58B1A72C154C}"/>
              </a:ext>
            </a:extLst>
          </p:cNvPr>
          <p:cNvSpPr>
            <a:spLocks noChangeAspect="1"/>
          </p:cNvSpPr>
          <p:nvPr/>
        </p:nvSpPr>
        <p:spPr>
          <a:xfrm>
            <a:off x="4571735" y="509794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ED3E7B3-9DD0-1042-8D9C-7DD9B3F4BE7D}"/>
              </a:ext>
            </a:extLst>
          </p:cNvPr>
          <p:cNvSpPr>
            <a:spLocks noChangeAspect="1"/>
          </p:cNvSpPr>
          <p:nvPr/>
        </p:nvSpPr>
        <p:spPr>
          <a:xfrm>
            <a:off x="5749904" y="466572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76A898-7DA3-9A4A-A524-0701B44A9AE3}"/>
              </a:ext>
            </a:extLst>
          </p:cNvPr>
          <p:cNvSpPr>
            <a:spLocks noChangeAspect="1"/>
          </p:cNvSpPr>
          <p:nvPr/>
        </p:nvSpPr>
        <p:spPr>
          <a:xfrm>
            <a:off x="6472224" y="4844673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EA603-0B3F-504B-959F-8B7892421D74}"/>
              </a:ext>
            </a:extLst>
          </p:cNvPr>
          <p:cNvSpPr txBox="1"/>
          <p:nvPr/>
        </p:nvSpPr>
        <p:spPr>
          <a:xfrm>
            <a:off x="4353217" y="49264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BC611-4E27-3B45-862B-3E4B4677A43A}"/>
              </a:ext>
            </a:extLst>
          </p:cNvPr>
          <p:cNvSpPr txBox="1"/>
          <p:nvPr/>
        </p:nvSpPr>
        <p:spPr>
          <a:xfrm>
            <a:off x="5592218" y="4398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BFD71F-9E3C-2C4D-B1BE-25655ABD6687}"/>
              </a:ext>
            </a:extLst>
          </p:cNvPr>
          <p:cNvSpPr txBox="1"/>
          <p:nvPr/>
        </p:nvSpPr>
        <p:spPr>
          <a:xfrm>
            <a:off x="6497383" y="46012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7816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6895-0D66-3396-1340-697A0A0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Floating point rounding errors</a:t>
            </a:r>
            <a:endParaRPr lang="en-CA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963FE0-0B27-704A-9EA9-6F2920C3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36" y="1253331"/>
            <a:ext cx="11608559" cy="3241540"/>
          </a:xfrm>
        </p:spPr>
        <p:txBody>
          <a:bodyPr>
            <a:noAutofit/>
          </a:bodyPr>
          <a:lstStyle/>
          <a:p>
            <a:r>
              <a:rPr lang="en-CA" dirty="0"/>
              <a:t>In general, i</a:t>
            </a:r>
            <a:r>
              <a:rPr lang="en-CA" dirty="0">
                <a:effectLst/>
              </a:rPr>
              <a:t>f there is a contradiction between the particle’s region number and (x, y, z) position: </a:t>
            </a:r>
          </a:p>
          <a:p>
            <a:endParaRPr lang="en-CA" dirty="0">
              <a:effectLst/>
            </a:endParaRPr>
          </a:p>
          <a:p>
            <a:pPr lvl="1"/>
            <a:r>
              <a:rPr lang="en-CA" b="1" dirty="0">
                <a:effectLst/>
              </a:rPr>
              <a:t>Case #2</a:t>
            </a:r>
            <a:r>
              <a:rPr lang="en-CA" dirty="0">
                <a:effectLst/>
              </a:rPr>
              <a:t>: If the particle is headed away from the surface, then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howfar()</a:t>
            </a:r>
            <a:r>
              <a:rPr lang="en-CA" dirty="0"/>
              <a:t> will return a small </a:t>
            </a:r>
            <a:r>
              <a:rPr lang="en-CA" b="1" dirty="0"/>
              <a:t>negative</a:t>
            </a:r>
            <a:r>
              <a:rPr lang="en-CA" dirty="0"/>
              <a:t> number for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  <a:endParaRPr lang="en-CA" dirty="0"/>
          </a:p>
          <a:p>
            <a:pPr lvl="2"/>
            <a:r>
              <a:rPr lang="en-CA" dirty="0">
                <a:effectLst/>
              </a:rPr>
              <a:t>To resolve this,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USTEP</a:t>
            </a:r>
            <a:r>
              <a:rPr lang="en-CA" dirty="0">
                <a:effectLst/>
              </a:rPr>
              <a:t> is set to zero, and the surface is assumed to be</a:t>
            </a:r>
            <a:r>
              <a:rPr lang="en-CA" dirty="0"/>
              <a:t> </a:t>
            </a:r>
            <a:r>
              <a:rPr lang="en-CA" dirty="0">
                <a:effectLst/>
              </a:rPr>
              <a:t>crossed again: </a:t>
            </a:r>
          </a:p>
          <a:p>
            <a:pPr marL="1371600" lvl="3" indent="0">
              <a:buNone/>
            </a:pP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IRNEW = 2 </a:t>
            </a:r>
            <a:r>
              <a:rPr lang="en-CA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1</a:t>
            </a:r>
          </a:p>
          <a:p>
            <a:pPr lvl="2"/>
            <a:r>
              <a:rPr lang="en-CA" dirty="0">
                <a:effectLst/>
              </a:rPr>
              <a:t>On the next step, the particle may continue its backscatter trajectory in region 1</a:t>
            </a:r>
          </a:p>
          <a:p>
            <a:pPr lvl="3"/>
            <a:r>
              <a:rPr lang="en-CA" dirty="0"/>
              <a:t>Position and region number are no longer in conflict</a:t>
            </a:r>
            <a:endParaRPr lang="en-CA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3E944-3B2D-7245-BFC4-8F98930E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12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1C72CD-49E1-B94E-8463-EC140008D4A5}"/>
              </a:ext>
            </a:extLst>
          </p:cNvPr>
          <p:cNvCxnSpPr/>
          <p:nvPr/>
        </p:nvCxnSpPr>
        <p:spPr>
          <a:xfrm>
            <a:off x="5813344" y="4840996"/>
            <a:ext cx="0" cy="17546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9657B2E-DB17-0040-AECC-A7CED1A1B78D}"/>
              </a:ext>
            </a:extLst>
          </p:cNvPr>
          <p:cNvSpPr txBox="1"/>
          <p:nvPr/>
        </p:nvSpPr>
        <p:spPr>
          <a:xfrm>
            <a:off x="4422596" y="4840996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FDD79A-9B79-DB49-B921-0E4A13058720}"/>
              </a:ext>
            </a:extLst>
          </p:cNvPr>
          <p:cNvSpPr txBox="1"/>
          <p:nvPr/>
        </p:nvSpPr>
        <p:spPr>
          <a:xfrm>
            <a:off x="6293374" y="4840996"/>
            <a:ext cx="95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region 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E9A9A7-D268-B640-8A48-0405F8A1715E}"/>
              </a:ext>
            </a:extLst>
          </p:cNvPr>
          <p:cNvCxnSpPr>
            <a:cxnSpLocks/>
          </p:cNvCxnSpPr>
          <p:nvPr/>
        </p:nvCxnSpPr>
        <p:spPr>
          <a:xfrm flipV="1">
            <a:off x="4523806" y="5492325"/>
            <a:ext cx="1178169" cy="4343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88A9A2-0D82-BC47-9E94-DE70D8D7D863}"/>
              </a:ext>
            </a:extLst>
          </p:cNvPr>
          <p:cNvCxnSpPr>
            <a:cxnSpLocks/>
          </p:cNvCxnSpPr>
          <p:nvPr/>
        </p:nvCxnSpPr>
        <p:spPr>
          <a:xfrm flipH="1">
            <a:off x="5304988" y="5489238"/>
            <a:ext cx="406275" cy="114012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6C0E2BE-B637-BB49-8480-8DAA2CA52D7E}"/>
              </a:ext>
            </a:extLst>
          </p:cNvPr>
          <p:cNvSpPr>
            <a:spLocks noChangeAspect="1"/>
          </p:cNvSpPr>
          <p:nvPr/>
        </p:nvSpPr>
        <p:spPr>
          <a:xfrm>
            <a:off x="4452945" y="5863313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3A7823-17A4-A44A-A67E-994A3BB8DB47}"/>
              </a:ext>
            </a:extLst>
          </p:cNvPr>
          <p:cNvSpPr>
            <a:spLocks noChangeAspect="1"/>
          </p:cNvSpPr>
          <p:nvPr/>
        </p:nvSpPr>
        <p:spPr>
          <a:xfrm>
            <a:off x="5637024" y="542193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9B5A68-9758-6B41-9F19-0B1876BCD3AF}"/>
              </a:ext>
            </a:extLst>
          </p:cNvPr>
          <p:cNvSpPr txBox="1"/>
          <p:nvPr/>
        </p:nvSpPr>
        <p:spPr>
          <a:xfrm>
            <a:off x="4257684" y="5627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B84273-1E6F-E54D-875E-90A02FED5D4E}"/>
              </a:ext>
            </a:extLst>
          </p:cNvPr>
          <p:cNvSpPr txBox="1"/>
          <p:nvPr/>
        </p:nvSpPr>
        <p:spPr>
          <a:xfrm>
            <a:off x="5423597" y="513037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2,3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014579-0206-A64F-B7E5-476059795FDF}"/>
              </a:ext>
            </a:extLst>
          </p:cNvPr>
          <p:cNvSpPr txBox="1"/>
          <p:nvPr/>
        </p:nvSpPr>
        <p:spPr>
          <a:xfrm>
            <a:off x="5011028" y="64296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943E43B-D60E-E147-B020-59EF3BAC1F8D}"/>
              </a:ext>
            </a:extLst>
          </p:cNvPr>
          <p:cNvSpPr>
            <a:spLocks noChangeAspect="1"/>
          </p:cNvSpPr>
          <p:nvPr/>
        </p:nvSpPr>
        <p:spPr>
          <a:xfrm>
            <a:off x="5227058" y="657019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6989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4E527BDC-EC4F-8C43-BB78-E85F384D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41" t="14187" r="19130" b="6774"/>
          <a:stretch/>
        </p:blipFill>
        <p:spPr>
          <a:xfrm>
            <a:off x="3345976" y="1136176"/>
            <a:ext cx="5500047" cy="5566314"/>
          </a:xfrm>
          <a:ln w="28575">
            <a:solidFill>
              <a:srgbClr val="0432FF"/>
            </a:solidFill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85027D1-7926-6A40-B099-88954B9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  <a:solidFill>
            <a:srgbClr val="DCC5ED"/>
          </a:solidFill>
        </p:spPr>
        <p:txBody>
          <a:bodyPr>
            <a:normAutofit/>
          </a:bodyPr>
          <a:lstStyle/>
          <a:p>
            <a:r>
              <a:rPr lang="en-CA" dirty="0">
                <a:latin typeface="+mn-lt"/>
              </a:rPr>
              <a:t>Where to learn more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EEB86-574A-9D40-B65E-32B4210D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9633-0E30-A649-A98E-4EAD3EAE289B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11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996</Words>
  <Application>Microsoft Macintosh PowerPoint</Application>
  <PresentationFormat>Widescreen</PresentationFormat>
  <Paragraphs>121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CMTT12</vt:lpstr>
      <vt:lpstr>Consolas</vt:lpstr>
      <vt:lpstr>Courier New</vt:lpstr>
      <vt:lpstr>Wingdings</vt:lpstr>
      <vt:lpstr>Office Theme</vt:lpstr>
      <vt:lpstr>PowerPoint Presentation</vt:lpstr>
      <vt:lpstr>howfar()and hownear()are part of the geometry </vt:lpstr>
      <vt:lpstr>howfar()defines your geometry </vt:lpstr>
      <vt:lpstr>howfar()calculates distance</vt:lpstr>
      <vt:lpstr>Example: sphere howfar()</vt:lpstr>
      <vt:lpstr>hownear() is needed for electron transport </vt:lpstr>
      <vt:lpstr>Example: sphere hownear() </vt:lpstr>
      <vt:lpstr>What about complex geometries? </vt:lpstr>
      <vt:lpstr>Boundary crossing</vt:lpstr>
      <vt:lpstr>Floating point rounding errors</vt:lpstr>
      <vt:lpstr>Floating point rounding errors</vt:lpstr>
      <vt:lpstr>Floating point rounding errors</vt:lpstr>
      <vt:lpstr>Where to learn 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 Oliver</dc:creator>
  <cp:lastModifiedBy>Patricia Oliver</cp:lastModifiedBy>
  <cp:revision>29</cp:revision>
  <dcterms:created xsi:type="dcterms:W3CDTF">2024-10-22T13:40:15Z</dcterms:created>
  <dcterms:modified xsi:type="dcterms:W3CDTF">2024-10-29T18:36:51Z</dcterms:modified>
</cp:coreProperties>
</file>